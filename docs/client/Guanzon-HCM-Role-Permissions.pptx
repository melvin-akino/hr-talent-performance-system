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Companion to the system demo. Open by saying the cannot column is generated from the same table as the can column — nobody wrote it as a promise.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 this off before it causes confusion. Access comes from ROLE. Rank drives peer-review routing. The supervisor role is derived from the org chart — whoever has people reporting to them gets it — so it follows a transfer automatically, and HCM never maintains a second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 in as josefina.gonzaga. Show that Team and the org-wide screens are simply not there — not greyed out, not empty: absent. Then show her own goals and her own history, which are complete.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demo that lands. Sign in as crisanto.rivera and show his eight people. Then sign in as dalisay.zamora — same rank, different section — and show that Crisanto’s eight have vanished. Nothing was configured to make that happen.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STRAIGHT HERE: the role and its approval step are built and tested, but nobody is assigned to it in the demo tenant, so there is no login to show. Say that plainly and offer to assign it before the next session rather than clicking around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to make: even the most powerful role in the system does not get the scoring parameters. Their own spec asked for that separation and it is built as its own capability.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this out. It is generated from the grant table, so it is worth saying that it cannot drift from the running system without someone changing the grants.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ones that protect the process rather than the data. Each is enforced underneath the screens, so it holds on a report and an export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these three in order and the point makes itself. Step 3 is the one to slow down for: same rank, same screens, different people — and nothing was configured to produce it. Do not skip saying the people are invented.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3D36"/>
        </a:solidFill>
      </p:bgPr>
    </p:bg>
    <p:spTree>
      <p:nvGrpSpPr>
        <p:cNvPr id="1" name=""/>
        <p:cNvGrpSpPr/>
        <p:nvPr/>
      </p:nvGrpSpPr>
      <p:grpSpPr>
        <a:xfrm>
          <a:off x="0" y="0"/>
          <a:ext cx="0" cy="0"/>
          <a:chOff x="0" y="0"/>
          <a:chExt cx="0" cy="0"/>
        </a:xfrm>
      </p:grpSpPr>
      <p:sp>
        <p:nvSpPr>
          <p:cNvPr id="2" name="Shape 0"/>
          <p:cNvSpPr/>
          <p:nvPr/>
        </p:nvSpPr>
        <p:spPr>
          <a:xfrm>
            <a:off x="9052560" y="-1280160"/>
            <a:ext cx="5303520" cy="5303520"/>
          </a:xfrm>
          <a:prstGeom prst="ellipse">
            <a:avLst/>
          </a:prstGeom>
          <a:solidFill>
            <a:srgbClr val="0E5248"/>
          </a:solidFill>
          <a:ln w="12700">
            <a:solidFill>
              <a:srgbClr val="0E5248"/>
            </a:solidFill>
            <a:prstDash val="solid"/>
          </a:ln>
        </p:spPr>
      </p:sp>
      <p:sp>
        <p:nvSpPr>
          <p:cNvPr id="3" name="Text 1"/>
          <p:cNvSpPr txBox="1"/>
          <p:nvPr/>
        </p:nvSpPr>
        <p:spPr>
          <a:xfrm>
            <a:off x="640080" y="1783080"/>
            <a:ext cx="8229600" cy="320040"/>
          </a:xfrm>
          <a:prstGeom prst="rect">
            <a:avLst/>
          </a:prstGeom>
          <a:noFill/>
          <a:ln/>
        </p:spPr>
        <p:txBody>
          <a:bodyPr wrap="square" lIns="0" tIns="0" rIns="0" bIns="0" rtlCol="0" anchor="ctr"/>
          <a:lstStyle/>
          <a:p>
            <a:pPr indent="0" marL="0">
              <a:buNone/>
            </a:pPr>
            <a:r>
              <a:rPr lang="en-US" sz="1200" b="1" spc="300" kern="0" dirty="0">
                <a:solidFill>
                  <a:srgbClr val="8FBDB2"/>
                </a:solidFill>
                <a:latin typeface="Calibri" pitchFamily="34" charset="0"/>
                <a:ea typeface="Calibri" pitchFamily="34" charset="-122"/>
                <a:cs typeface="Calibri" pitchFamily="34" charset="-120"/>
              </a:rPr>
              <a:t>GUANZON  ·  HUMAN CAPITAL MANAGEMENT</a:t>
            </a:r>
            <a:endParaRPr lang="en-US" sz="1200" dirty="0"/>
          </a:p>
        </p:txBody>
      </p:sp>
      <p:sp>
        <p:nvSpPr>
          <p:cNvPr id="4" name="Text 2"/>
          <p:cNvSpPr txBox="1"/>
          <p:nvPr/>
        </p:nvSpPr>
        <p:spPr>
          <a:xfrm>
            <a:off x="640080" y="2194560"/>
            <a:ext cx="7863840" cy="1645920"/>
          </a:xfrm>
          <a:prstGeom prst="rect">
            <a:avLst/>
          </a:prstGeom>
          <a:noFill/>
          <a:ln/>
        </p:spPr>
        <p:txBody>
          <a:bodyPr wrap="square" lIns="0" tIns="0" rIns="0" bIns="0" rtlCol="0" anchor="t"/>
          <a:lstStyle/>
          <a:p>
            <a:pPr indent="0" marL="0">
              <a:lnSpc>
                <a:spcPts val="4400"/>
              </a:lnSpc>
              <a:buNone/>
            </a:pPr>
            <a:r>
              <a:rPr lang="en-US" sz="3800" b="1" dirty="0">
                <a:solidFill>
                  <a:srgbClr val="FFFFFF"/>
                </a:solidFill>
                <a:latin typeface="Cambria" pitchFamily="34" charset="0"/>
                <a:ea typeface="Cambria" pitchFamily="34" charset="-122"/>
                <a:cs typeface="Cambria" pitchFamily="34" charset="-120"/>
              </a:rPr>
              <a:t>What each role can do —</a:t>
            </a:r>
            <a:endParaRPr lang="en-US" sz="3800" dirty="0"/>
          </a:p>
          <a:p>
            <a:pPr indent="0" marL="0">
              <a:lnSpc>
                <a:spcPts val="4400"/>
              </a:lnSpc>
              <a:buNone/>
            </a:pPr>
            <a:r>
              <a:rPr lang="en-US" sz="3800" b="1" dirty="0">
                <a:solidFill>
                  <a:srgbClr val="FFFFFF"/>
                </a:solidFill>
                <a:latin typeface="Cambria" pitchFamily="34" charset="0"/>
                <a:ea typeface="Cambria" pitchFamily="34" charset="-122"/>
                <a:cs typeface="Cambria" pitchFamily="34" charset="-120"/>
              </a:rPr>
              <a:t>and what it cannot</a:t>
            </a:r>
            <a:endParaRPr lang="en-US" sz="3800" dirty="0"/>
          </a:p>
        </p:txBody>
      </p:sp>
      <p:sp>
        <p:nvSpPr>
          <p:cNvPr id="5" name="Text 3"/>
          <p:cNvSpPr txBox="1"/>
          <p:nvPr/>
        </p:nvSpPr>
        <p:spPr>
          <a:xfrm>
            <a:off x="640080" y="4069080"/>
            <a:ext cx="7680960" cy="1005840"/>
          </a:xfrm>
          <a:prstGeom prst="rect">
            <a:avLst/>
          </a:prstGeom>
          <a:noFill/>
          <a:ln/>
        </p:spPr>
        <p:txBody>
          <a:bodyPr wrap="square" lIns="0" tIns="0" rIns="0" bIns="0" rtlCol="0" anchor="t"/>
          <a:lstStyle/>
          <a:p>
            <a:pPr indent="0" marL="0">
              <a:lnSpc>
                <a:spcPts val="2200"/>
              </a:lnSpc>
              <a:buNone/>
            </a:pPr>
            <a:r>
              <a:rPr lang="en-US" sz="1500" dirty="0">
                <a:solidFill>
                  <a:srgbClr val="BFD6D0"/>
                </a:solidFill>
                <a:latin typeface="Calibri" pitchFamily="34" charset="0"/>
                <a:ea typeface="Calibri" pitchFamily="34" charset="-122"/>
                <a:cs typeface="Calibri" pitchFamily="34" charset="-120"/>
              </a:rPr>
              <a:t>Every line in this pack is taken from the permission table the system actually enforces. The “cannot” column is not policy — it is the absence of a grant, and the database refuses it.</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6F5"/>
        </a:solidFill>
      </p:bgPr>
    </p:bg>
    <p:spTree>
      <p:nvGrpSpPr>
        <p:cNvPr id="1" name=""/>
        <p:cNvGrpSpPr/>
        <p:nvPr/>
      </p:nvGrpSpPr>
      <p:grpSpPr>
        <a:xfrm>
          <a:off x="0" y="0"/>
          <a:ext cx="0" cy="0"/>
          <a:chOff x="0" y="0"/>
          <a:chExt cx="0" cy="0"/>
        </a:xfrm>
      </p:grpSpPr>
      <p:sp>
        <p:nvSpPr>
          <p:cNvPr id="2" name="Text 0"/>
          <p:cNvSpPr txBox="1"/>
          <p:nvPr/>
        </p:nvSpPr>
        <p:spPr>
          <a:xfrm>
            <a:off x="640080" y="411480"/>
            <a:ext cx="9144000" cy="274320"/>
          </a:xfrm>
          <a:prstGeom prst="rect">
            <a:avLst/>
          </a:prstGeom>
          <a:noFill/>
          <a:ln/>
        </p:spPr>
        <p:txBody>
          <a:bodyPr wrap="square" lIns="0" tIns="0" rIns="0" bIns="0" rtlCol="0" anchor="ctr"/>
          <a:lstStyle/>
          <a:p>
            <a:pPr indent="0" marL="0">
              <a:buNone/>
            </a:pPr>
            <a:r>
              <a:rPr lang="en-US" sz="1100" b="1" spc="200" kern="0" dirty="0">
                <a:solidFill>
                  <a:srgbClr val="0B6E5F"/>
                </a:solidFill>
                <a:latin typeface="Calibri" pitchFamily="34" charset="0"/>
                <a:ea typeface="Calibri" pitchFamily="34" charset="-122"/>
                <a:cs typeface="Calibri" pitchFamily="34" charset="-120"/>
              </a:rPr>
              <a:t>HOW TO READ THIS</a:t>
            </a:r>
            <a:endParaRPr lang="en-US" sz="11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200" b="1" dirty="0">
                <a:solidFill>
                  <a:srgbClr val="10201C"/>
                </a:solidFill>
                <a:latin typeface="Cambria" pitchFamily="34" charset="0"/>
                <a:ea typeface="Cambria" pitchFamily="34" charset="-122"/>
                <a:cs typeface="Cambria" pitchFamily="34" charset="-120"/>
              </a:rPr>
              <a:t>Rank and access are two different things</a:t>
            </a:r>
            <a:endParaRPr lang="en-US" sz="3200" dirty="0"/>
          </a:p>
        </p:txBody>
      </p:sp>
      <p:sp>
        <p:nvSpPr>
          <p:cNvPr id="5" name="Shape 2"/>
          <p:cNvSpPr/>
          <p:nvPr/>
        </p:nvSpPr>
        <p:spPr>
          <a:xfrm>
            <a:off x="640080" y="1783080"/>
            <a:ext cx="5349240" cy="1965960"/>
          </a:xfrm>
          <a:prstGeom prst="roundRect">
            <a:avLst>
              <a:gd name="adj" fmla="val 2791"/>
            </a:avLst>
          </a:prstGeom>
          <a:solidFill>
            <a:srgbClr val="FFFFFF"/>
          </a:solidFill>
          <a:ln w="9525">
            <a:solidFill>
              <a:srgbClr val="E1E8E6"/>
            </a:solidFill>
            <a:prstDash val="solid"/>
          </a:ln>
          <a:effectLst>
            <a:outerShdw sx="100000" sy="100000" kx="0" ky="0" algn="bl" rotWithShape="0" blurRad="177800" dist="38100" dir="5400000">
              <a:srgbClr val="0A3D36">
                <a:alpha val="10000"/>
              </a:srgbClr>
            </a:outerShdw>
          </a:effectLst>
        </p:spPr>
      </p:sp>
      <p:sp>
        <p:nvSpPr>
          <p:cNvPr id="6" name="Shape 3"/>
          <p:cNvSpPr/>
          <p:nvPr/>
        </p:nvSpPr>
        <p:spPr>
          <a:xfrm>
            <a:off x="1005840" y="2029968"/>
            <a:ext cx="347472" cy="347472"/>
          </a:xfrm>
          <a:prstGeom prst="ellipse">
            <a:avLst/>
          </a:prstGeom>
          <a:solidFill>
            <a:srgbClr val="0B6E5F"/>
          </a:solidFill>
          <a:ln w="12700">
            <a:solidFill>
              <a:srgbClr val="0B6E5F"/>
            </a:solidFill>
            <a:prstDash val="solid"/>
          </a:ln>
        </p:spPr>
      </p:sp>
      <p:sp>
        <p:nvSpPr>
          <p:cNvPr id="7" name="Text 4"/>
          <p:cNvSpPr txBox="1"/>
          <p:nvPr/>
        </p:nvSpPr>
        <p:spPr>
          <a:xfrm>
            <a:off x="1481328" y="2011680"/>
            <a:ext cx="4206240" cy="384048"/>
          </a:xfrm>
          <a:prstGeom prst="rect">
            <a:avLst/>
          </a:prstGeom>
          <a:noFill/>
          <a:ln/>
        </p:spPr>
        <p:txBody>
          <a:bodyPr wrap="square" lIns="0" tIns="0" rIns="0" bIns="0" rtlCol="0" anchor="ctr"/>
          <a:lstStyle/>
          <a:p>
            <a:pPr indent="0" marL="0">
              <a:buNone/>
            </a:pPr>
            <a:r>
              <a:rPr lang="en-US" sz="1700" b="1" dirty="0">
                <a:solidFill>
                  <a:srgbClr val="10201C"/>
                </a:solidFill>
                <a:latin typeface="Cambria" pitchFamily="34" charset="0"/>
                <a:ea typeface="Cambria" pitchFamily="34" charset="-122"/>
                <a:cs typeface="Cambria" pitchFamily="34" charset="-120"/>
              </a:rPr>
              <a:t>Rank decides who reviews whom</a:t>
            </a:r>
            <a:endParaRPr lang="en-US" sz="1700" dirty="0"/>
          </a:p>
        </p:txBody>
      </p:sp>
      <p:sp>
        <p:nvSpPr>
          <p:cNvPr id="8" name="Text 5"/>
          <p:cNvSpPr txBox="1"/>
          <p:nvPr/>
        </p:nvSpPr>
        <p:spPr>
          <a:xfrm>
            <a:off x="1005840" y="2542032"/>
            <a:ext cx="4617720" cy="1051560"/>
          </a:xfrm>
          <a:prstGeom prst="rect">
            <a:avLst/>
          </a:prstGeom>
          <a:noFill/>
          <a:ln/>
        </p:spPr>
        <p:txBody>
          <a:bodyPr wrap="square" lIns="0" tIns="0" rIns="0" bIns="0" rtlCol="0" anchor="t"/>
          <a:lstStyle/>
          <a:p>
            <a:pPr indent="0" marL="0">
              <a:lnSpc>
                <a:spcPts val="1800"/>
              </a:lnSpc>
              <a:buNone/>
            </a:pPr>
            <a:r>
              <a:rPr lang="en-US" sz="1300" dirty="0">
                <a:solidFill>
                  <a:srgbClr val="5C6E68"/>
                </a:solidFill>
                <a:latin typeface="Calibri" pitchFamily="34" charset="0"/>
                <a:ea typeface="Calibri" pitchFamily="34" charset="-122"/>
                <a:cs typeface="Calibri" pitchFamily="34" charset="-120"/>
              </a:rPr>
              <a:t>R6 to R11, your own numbering, lower being more senior. The peer-review rules read it directly: same rank, one up, two up. It does not by itself grant access to anything.</a:t>
            </a:r>
            <a:endParaRPr lang="en-US" sz="1300" dirty="0"/>
          </a:p>
        </p:txBody>
      </p:sp>
      <p:sp>
        <p:nvSpPr>
          <p:cNvPr id="9" name="Shape 6"/>
          <p:cNvSpPr/>
          <p:nvPr/>
        </p:nvSpPr>
        <p:spPr>
          <a:xfrm>
            <a:off x="6355080" y="1783080"/>
            <a:ext cx="5349240" cy="1965960"/>
          </a:xfrm>
          <a:prstGeom prst="roundRect">
            <a:avLst>
              <a:gd name="adj" fmla="val 2791"/>
            </a:avLst>
          </a:prstGeom>
          <a:solidFill>
            <a:srgbClr val="FFFFFF"/>
          </a:solidFill>
          <a:ln w="9525">
            <a:solidFill>
              <a:srgbClr val="E1E8E6"/>
            </a:solidFill>
            <a:prstDash val="solid"/>
          </a:ln>
          <a:effectLst>
            <a:outerShdw sx="100000" sy="100000" kx="0" ky="0" algn="bl" rotWithShape="0" blurRad="177800" dist="38100" dir="5400000">
              <a:srgbClr val="0A3D36">
                <a:alpha val="10000"/>
              </a:srgbClr>
            </a:outerShdw>
          </a:effectLst>
        </p:spPr>
      </p:sp>
      <p:sp>
        <p:nvSpPr>
          <p:cNvPr id="10" name="Shape 7"/>
          <p:cNvSpPr/>
          <p:nvPr/>
        </p:nvSpPr>
        <p:spPr>
          <a:xfrm>
            <a:off x="6720840" y="2029968"/>
            <a:ext cx="347472" cy="347472"/>
          </a:xfrm>
          <a:prstGeom prst="ellipse">
            <a:avLst/>
          </a:prstGeom>
          <a:solidFill>
            <a:srgbClr val="B3761B"/>
          </a:solidFill>
          <a:ln w="12700">
            <a:solidFill>
              <a:srgbClr val="B3761B"/>
            </a:solidFill>
            <a:prstDash val="solid"/>
          </a:ln>
        </p:spPr>
      </p:sp>
      <p:sp>
        <p:nvSpPr>
          <p:cNvPr id="11" name="Text 8"/>
          <p:cNvSpPr txBox="1"/>
          <p:nvPr/>
        </p:nvSpPr>
        <p:spPr>
          <a:xfrm>
            <a:off x="7196328" y="2011680"/>
            <a:ext cx="4206240" cy="384048"/>
          </a:xfrm>
          <a:prstGeom prst="rect">
            <a:avLst/>
          </a:prstGeom>
          <a:noFill/>
          <a:ln/>
        </p:spPr>
        <p:txBody>
          <a:bodyPr wrap="square" lIns="0" tIns="0" rIns="0" bIns="0" rtlCol="0" anchor="ctr"/>
          <a:lstStyle/>
          <a:p>
            <a:pPr indent="0" marL="0">
              <a:buNone/>
            </a:pPr>
            <a:r>
              <a:rPr lang="en-US" sz="1700" b="1" dirty="0">
                <a:solidFill>
                  <a:srgbClr val="10201C"/>
                </a:solidFill>
                <a:latin typeface="Cambria" pitchFamily="34" charset="0"/>
                <a:ea typeface="Cambria" pitchFamily="34" charset="-122"/>
                <a:cs typeface="Cambria" pitchFamily="34" charset="-120"/>
              </a:rPr>
              <a:t>Role decides what you can open</a:t>
            </a:r>
            <a:endParaRPr lang="en-US" sz="1700" dirty="0"/>
          </a:p>
        </p:txBody>
      </p:sp>
      <p:sp>
        <p:nvSpPr>
          <p:cNvPr id="12" name="Text 9"/>
          <p:cNvSpPr txBox="1"/>
          <p:nvPr/>
        </p:nvSpPr>
        <p:spPr>
          <a:xfrm>
            <a:off x="6720840" y="2542032"/>
            <a:ext cx="4617720" cy="1051560"/>
          </a:xfrm>
          <a:prstGeom prst="rect">
            <a:avLst/>
          </a:prstGeom>
          <a:noFill/>
          <a:ln/>
        </p:spPr>
        <p:txBody>
          <a:bodyPr wrap="square" lIns="0" tIns="0" rIns="0" bIns="0" rtlCol="0" anchor="t"/>
          <a:lstStyle/>
          <a:p>
            <a:pPr indent="0" marL="0">
              <a:lnSpc>
                <a:spcPts val="1800"/>
              </a:lnSpc>
              <a:buNone/>
            </a:pPr>
            <a:r>
              <a:rPr lang="en-US" sz="1300" dirty="0">
                <a:solidFill>
                  <a:srgbClr val="5C6E68"/>
                </a:solidFill>
                <a:latin typeface="Calibri" pitchFamily="34" charset="0"/>
                <a:ea typeface="Calibri" pitchFamily="34" charset="-122"/>
                <a:cs typeface="Calibri" pitchFamily="34" charset="-120"/>
              </a:rPr>
              <a:t>Employee, Supervisor, Department Head, HCM. This is what the database checks on every single row, on every screen, every report and every export.</a:t>
            </a:r>
            <a:endParaRPr lang="en-US" sz="1300" dirty="0"/>
          </a:p>
        </p:txBody>
      </p:sp>
      <p:sp>
        <p:nvSpPr>
          <p:cNvPr id="13" name="Shape 10"/>
          <p:cNvSpPr/>
          <p:nvPr/>
        </p:nvSpPr>
        <p:spPr>
          <a:xfrm>
            <a:off x="640080" y="3977640"/>
            <a:ext cx="10881360" cy="1920240"/>
          </a:xfrm>
          <a:prstGeom prst="roundRect">
            <a:avLst>
              <a:gd name="adj" fmla="val 2857"/>
            </a:avLst>
          </a:prstGeom>
          <a:solidFill>
            <a:srgbClr val="FFFFFF"/>
          </a:solidFill>
          <a:ln w="9525">
            <a:solidFill>
              <a:srgbClr val="E1E8E6"/>
            </a:solidFill>
            <a:prstDash val="solid"/>
          </a:ln>
          <a:effectLst>
            <a:outerShdw sx="100000" sy="100000" kx="0" ky="0" algn="bl" rotWithShape="0" blurRad="177800" dist="38100" dir="5400000">
              <a:srgbClr val="0A3D36">
                <a:alpha val="10000"/>
              </a:srgbClr>
            </a:outerShdw>
          </a:effectLst>
        </p:spPr>
      </p:sp>
      <p:sp>
        <p:nvSpPr>
          <p:cNvPr id="14" name="Text 11"/>
          <p:cNvSpPr txBox="1"/>
          <p:nvPr/>
        </p:nvSpPr>
        <p:spPr>
          <a:xfrm>
            <a:off x="1051560" y="4206240"/>
            <a:ext cx="7315200" cy="347472"/>
          </a:xfrm>
          <a:prstGeom prst="rect">
            <a:avLst/>
          </a:prstGeom>
          <a:noFill/>
          <a:ln/>
        </p:spPr>
        <p:txBody>
          <a:bodyPr wrap="square" lIns="0" tIns="0" rIns="0" bIns="0" rtlCol="0" anchor="ctr"/>
          <a:lstStyle/>
          <a:p>
            <a:pPr indent="0" marL="0">
              <a:buNone/>
            </a:pPr>
            <a:r>
              <a:rPr lang="en-US" sz="1800" b="1" dirty="0">
                <a:solidFill>
                  <a:srgbClr val="10201C"/>
                </a:solidFill>
                <a:latin typeface="Cambria" pitchFamily="34" charset="0"/>
                <a:ea typeface="Cambria" pitchFamily="34" charset="-122"/>
                <a:cs typeface="Cambria" pitchFamily="34" charset="-120"/>
              </a:rPr>
              <a:t>The supervisor role maintains itself</a:t>
            </a:r>
            <a:endParaRPr lang="en-US" sz="1800" dirty="0"/>
          </a:p>
        </p:txBody>
      </p:sp>
      <p:sp>
        <p:nvSpPr>
          <p:cNvPr id="15" name="Text 12"/>
          <p:cNvSpPr txBox="1"/>
          <p:nvPr/>
        </p:nvSpPr>
        <p:spPr>
          <a:xfrm>
            <a:off x="1051560" y="4617720"/>
            <a:ext cx="10058400" cy="1097280"/>
          </a:xfrm>
          <a:prstGeom prst="rect">
            <a:avLst/>
          </a:prstGeom>
          <a:noFill/>
          <a:ln/>
        </p:spPr>
        <p:txBody>
          <a:bodyPr wrap="square" lIns="0" tIns="0" rIns="0" bIns="0" rtlCol="0" anchor="t"/>
          <a:lstStyle/>
          <a:p>
            <a:pPr indent="0" marL="0">
              <a:lnSpc>
                <a:spcPts val="2000"/>
              </a:lnSpc>
              <a:buNone/>
            </a:pPr>
            <a:r>
              <a:rPr lang="en-US" sz="1400" dirty="0">
                <a:solidFill>
                  <a:srgbClr val="5C6E68"/>
                </a:solidFill>
                <a:latin typeface="Calibri" pitchFamily="34" charset="0"/>
                <a:ea typeface="Calibri" pitchFamily="34" charset="-122"/>
                <a:cs typeface="Calibri" pitchFamily="34" charset="-120"/>
              </a:rPr>
              <a:t>Nobody is marked a supervisor by hand. The system reads the reporting lines and grants it to whoever has people under them — so when somebody transfers, is promoted, or takes on a team, their access follows on its own. There is no second list for HCM to keep in step, and no leftover access when a team moves away from someone.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6F5"/>
        </a:solidFill>
      </p:bgPr>
    </p:bg>
    <p:spTree>
      <p:nvGrpSpPr>
        <p:cNvPr id="1" name=""/>
        <p:cNvGrpSpPr/>
        <p:nvPr/>
      </p:nvGrpSpPr>
      <p:grpSpPr>
        <a:xfrm>
          <a:off x="0" y="0"/>
          <a:ext cx="0" cy="0"/>
          <a:chOff x="0" y="0"/>
          <a:chExt cx="0" cy="0"/>
        </a:xfrm>
      </p:grpSpPr>
      <p:sp>
        <p:nvSpPr>
          <p:cNvPr id="2" name="Text 0"/>
          <p:cNvSpPr txBox="1"/>
          <p:nvPr/>
        </p:nvSpPr>
        <p:spPr>
          <a:xfrm>
            <a:off x="640080" y="411480"/>
            <a:ext cx="9144000" cy="274320"/>
          </a:xfrm>
          <a:prstGeom prst="rect">
            <a:avLst/>
          </a:prstGeom>
          <a:noFill/>
          <a:ln/>
        </p:spPr>
        <p:txBody>
          <a:bodyPr wrap="square" lIns="0" tIns="0" rIns="0" bIns="0" rtlCol="0" anchor="ctr"/>
          <a:lstStyle/>
          <a:p>
            <a:pPr indent="0" marL="0">
              <a:buNone/>
            </a:pPr>
            <a:r>
              <a:rPr lang="en-US" sz="1100" b="1" spc="200" kern="0" dirty="0">
                <a:solidFill>
                  <a:srgbClr val="0B6E5F"/>
                </a:solidFill>
                <a:latin typeface="Calibri" pitchFamily="34" charset="0"/>
                <a:ea typeface="Calibri" pitchFamily="34" charset="-122"/>
                <a:cs typeface="Calibri" pitchFamily="34" charset="-120"/>
              </a:rPr>
              <a:t>ROLE 1 OF 4</a:t>
            </a:r>
            <a:endParaRPr lang="en-US" sz="11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200" b="1" dirty="0">
                <a:solidFill>
                  <a:srgbClr val="10201C"/>
                </a:solidFill>
                <a:latin typeface="Cambria" pitchFamily="34" charset="0"/>
                <a:ea typeface="Cambria" pitchFamily="34" charset="-122"/>
                <a:cs typeface="Cambria" pitchFamily="34" charset="-120"/>
              </a:rPr>
              <a:t>Employee</a:t>
            </a:r>
            <a:endParaRPr lang="en-US" sz="3200" dirty="0"/>
          </a:p>
        </p:txBody>
      </p:sp>
      <p:sp>
        <p:nvSpPr>
          <p:cNvPr id="5" name="Shape 2"/>
          <p:cNvSpPr/>
          <p:nvPr/>
        </p:nvSpPr>
        <p:spPr>
          <a:xfrm>
            <a:off x="640080" y="1737360"/>
            <a:ext cx="10881360" cy="868680"/>
          </a:xfrm>
          <a:prstGeom prst="roundRect">
            <a:avLst>
              <a:gd name="adj" fmla="val 6316"/>
            </a:avLst>
          </a:prstGeom>
          <a:solidFill>
            <a:srgbClr val="FFFFFF"/>
          </a:solidFill>
          <a:ln w="9525">
            <a:solidFill>
              <a:srgbClr val="E1E8E6"/>
            </a:solidFill>
            <a:prstDash val="solid"/>
          </a:ln>
          <a:effectLst>
            <a:outerShdw sx="100000" sy="100000" kx="0" ky="0" algn="bl" rotWithShape="0" blurRad="177800" dist="38100" dir="5400000">
              <a:srgbClr val="0A3D36">
                <a:alpha val="10000"/>
              </a:srgbClr>
            </a:outerShdw>
          </a:effectLst>
        </p:spPr>
      </p:sp>
      <p:sp>
        <p:nvSpPr>
          <p:cNvPr id="6" name="Shape 3"/>
          <p:cNvSpPr/>
          <p:nvPr/>
        </p:nvSpPr>
        <p:spPr>
          <a:xfrm>
            <a:off x="960120" y="1920240"/>
            <a:ext cx="1417320" cy="502920"/>
          </a:xfrm>
          <a:prstGeom prst="roundRect">
            <a:avLst>
              <a:gd name="adj" fmla="val 9091"/>
            </a:avLst>
          </a:prstGeom>
          <a:solidFill>
            <a:srgbClr val="E3EDEA"/>
          </a:solidFill>
          <a:ln w="12700">
            <a:solidFill>
              <a:srgbClr val="E3EDEA"/>
            </a:solidFill>
            <a:prstDash val="solid"/>
          </a:ln>
        </p:spPr>
      </p:sp>
      <p:sp>
        <p:nvSpPr>
          <p:cNvPr id="7" name="Text 4"/>
          <p:cNvSpPr txBox="1"/>
          <p:nvPr/>
        </p:nvSpPr>
        <p:spPr>
          <a:xfrm>
            <a:off x="960120" y="1920240"/>
            <a:ext cx="1417320" cy="502920"/>
          </a:xfrm>
          <a:prstGeom prst="rect">
            <a:avLst/>
          </a:prstGeom>
          <a:noFill/>
          <a:ln/>
        </p:spPr>
        <p:txBody>
          <a:bodyPr wrap="square" lIns="0" tIns="0" rIns="0" bIns="0" rtlCol="0" anchor="ctr"/>
          <a:lstStyle/>
          <a:p>
            <a:pPr algn="ctr" indent="0" marL="0">
              <a:buNone/>
            </a:pPr>
            <a:r>
              <a:rPr lang="en-US" sz="1250" b="1" dirty="0">
                <a:solidFill>
                  <a:srgbClr val="10201C"/>
                </a:solidFill>
                <a:latin typeface="Calibri" pitchFamily="34" charset="0"/>
                <a:ea typeface="Calibri" pitchFamily="34" charset="-122"/>
                <a:cs typeface="Calibri" pitchFamily="34" charset="-120"/>
              </a:rPr>
              <a:t>EMPLOYEE</a:t>
            </a:r>
            <a:endParaRPr lang="en-US" sz="1250" dirty="0"/>
          </a:p>
        </p:txBody>
      </p:sp>
      <p:sp>
        <p:nvSpPr>
          <p:cNvPr id="8" name="Text 5"/>
          <p:cNvSpPr txBox="1"/>
          <p:nvPr/>
        </p:nvSpPr>
        <p:spPr>
          <a:xfrm>
            <a:off x="2606040" y="1920240"/>
            <a:ext cx="8503920" cy="502920"/>
          </a:xfrm>
          <a:prstGeom prst="rect">
            <a:avLst/>
          </a:prstGeom>
          <a:noFill/>
          <a:ln/>
        </p:spPr>
        <p:txBody>
          <a:bodyPr wrap="square" lIns="0" tIns="0" rIns="0" bIns="0" rtlCol="0" anchor="ctr"/>
          <a:lstStyle/>
          <a:p>
            <a:pPr indent="0" marL="0">
              <a:buNone/>
            </a:pPr>
            <a:r>
              <a:rPr lang="en-US" sz="1350" dirty="0">
                <a:solidFill>
                  <a:srgbClr val="5C6E68"/>
                </a:solidFill>
                <a:latin typeface="Calibri" pitchFamily="34" charset="0"/>
                <a:ea typeface="Calibri" pitchFamily="34" charset="-122"/>
                <a:cs typeface="Calibri" pitchFamily="34" charset="-120"/>
              </a:rPr>
              <a:t>Everyone has it — 28 of 28. Example: Josefina Gonzaga, Associate (R11), Hiring &amp; Selection.</a:t>
            </a:r>
            <a:endParaRPr lang="en-US" sz="1350" dirty="0"/>
          </a:p>
        </p:txBody>
      </p:sp>
      <p:sp>
        <p:nvSpPr>
          <p:cNvPr id="9" name="Shape 6"/>
          <p:cNvSpPr/>
          <p:nvPr/>
        </p:nvSpPr>
        <p:spPr>
          <a:xfrm>
            <a:off x="640080" y="2788920"/>
            <a:ext cx="5257800" cy="3200400"/>
          </a:xfrm>
          <a:prstGeom prst="roundRect">
            <a:avLst>
              <a:gd name="adj" fmla="val 1714"/>
            </a:avLst>
          </a:prstGeom>
          <a:solidFill>
            <a:srgbClr val="FFFFFF"/>
          </a:solidFill>
          <a:ln w="9525">
            <a:solidFill>
              <a:srgbClr val="E1E8E6"/>
            </a:solidFill>
            <a:prstDash val="solid"/>
          </a:ln>
          <a:effectLst>
            <a:outerShdw sx="100000" sy="100000" kx="0" ky="0" algn="bl" rotWithShape="0" blurRad="177800" dist="38100" dir="5400000">
              <a:srgbClr val="0A3D36">
                <a:alpha val="10000"/>
              </a:srgbClr>
            </a:outerShdw>
          </a:effectLst>
        </p:spPr>
      </p:sp>
      <p:sp>
        <p:nvSpPr>
          <p:cNvPr id="10" name="Text 7"/>
          <p:cNvSpPr txBox="1"/>
          <p:nvPr/>
        </p:nvSpPr>
        <p:spPr>
          <a:xfrm>
            <a:off x="1005840" y="2999232"/>
            <a:ext cx="2743200" cy="292608"/>
          </a:xfrm>
          <a:prstGeom prst="rect">
            <a:avLst/>
          </a:prstGeom>
          <a:noFill/>
          <a:ln/>
        </p:spPr>
        <p:txBody>
          <a:bodyPr wrap="square" lIns="0" tIns="0" rIns="0" bIns="0" rtlCol="0" anchor="ctr"/>
          <a:lstStyle/>
          <a:p>
            <a:pPr indent="0" marL="0">
              <a:buNone/>
            </a:pPr>
            <a:r>
              <a:rPr lang="en-US" sz="1100" b="1" spc="200" kern="0" dirty="0">
                <a:solidFill>
                  <a:srgbClr val="0B6E5F"/>
                </a:solidFill>
                <a:latin typeface="Calibri" pitchFamily="34" charset="0"/>
                <a:ea typeface="Calibri" pitchFamily="34" charset="-122"/>
                <a:cs typeface="Calibri" pitchFamily="34" charset="-120"/>
              </a:rPr>
              <a:t>CAN</a:t>
            </a:r>
            <a:endParaRPr lang="en-US" sz="1100" dirty="0"/>
          </a:p>
        </p:txBody>
      </p:sp>
      <p:sp>
        <p:nvSpPr>
          <p:cNvPr id="11" name="Shape 8"/>
          <p:cNvSpPr/>
          <p:nvPr/>
        </p:nvSpPr>
        <p:spPr>
          <a:xfrm>
            <a:off x="1005840" y="3502152"/>
            <a:ext cx="137160" cy="137160"/>
          </a:xfrm>
          <a:prstGeom prst="ellipse">
            <a:avLst/>
          </a:prstGeom>
          <a:solidFill>
            <a:srgbClr val="0B6E5F"/>
          </a:solidFill>
          <a:ln w="12700">
            <a:solidFill>
              <a:srgbClr val="0B6E5F"/>
            </a:solidFill>
            <a:prstDash val="solid"/>
          </a:ln>
        </p:spPr>
      </p:sp>
      <p:sp>
        <p:nvSpPr>
          <p:cNvPr id="12" name="Text 9"/>
          <p:cNvSpPr txBox="1"/>
          <p:nvPr/>
        </p:nvSpPr>
        <p:spPr>
          <a:xfrm>
            <a:off x="1298448" y="3401568"/>
            <a:ext cx="4251960" cy="438912"/>
          </a:xfrm>
          <a:prstGeom prst="rect">
            <a:avLst/>
          </a:prstGeom>
          <a:noFill/>
          <a:ln/>
        </p:spPr>
        <p:txBody>
          <a:bodyPr wrap="square" lIns="0" tIns="0" rIns="0" bIns="0" rtlCol="0" anchor="t"/>
          <a:lstStyle/>
          <a:p>
            <a:pPr indent="0" marL="0">
              <a:lnSpc>
                <a:spcPts val="1600"/>
              </a:lnSpc>
              <a:buNone/>
            </a:pPr>
            <a:r>
              <a:rPr lang="en-US" sz="1250" dirty="0">
                <a:solidFill>
                  <a:srgbClr val="5C6E68"/>
                </a:solidFill>
                <a:latin typeface="Calibri" pitchFamily="34" charset="0"/>
                <a:ea typeface="Calibri" pitchFamily="34" charset="-122"/>
                <a:cs typeface="Calibri" pitchFamily="34" charset="-120"/>
              </a:rPr>
              <a:t>Open their own record, and only their own</a:t>
            </a:r>
            <a:endParaRPr lang="en-US" sz="1250" dirty="0"/>
          </a:p>
        </p:txBody>
      </p:sp>
      <p:sp>
        <p:nvSpPr>
          <p:cNvPr id="13" name="Shape 10"/>
          <p:cNvSpPr/>
          <p:nvPr/>
        </p:nvSpPr>
        <p:spPr>
          <a:xfrm>
            <a:off x="1005840" y="3977640"/>
            <a:ext cx="137160" cy="137160"/>
          </a:xfrm>
          <a:prstGeom prst="ellipse">
            <a:avLst/>
          </a:prstGeom>
          <a:solidFill>
            <a:srgbClr val="0B6E5F"/>
          </a:solidFill>
          <a:ln w="12700">
            <a:solidFill>
              <a:srgbClr val="0B6E5F"/>
            </a:solidFill>
            <a:prstDash val="solid"/>
          </a:ln>
        </p:spPr>
      </p:sp>
      <p:sp>
        <p:nvSpPr>
          <p:cNvPr id="14" name="Text 11"/>
          <p:cNvSpPr txBox="1"/>
          <p:nvPr/>
        </p:nvSpPr>
        <p:spPr>
          <a:xfrm>
            <a:off x="1298448" y="3877056"/>
            <a:ext cx="4251960" cy="438912"/>
          </a:xfrm>
          <a:prstGeom prst="rect">
            <a:avLst/>
          </a:prstGeom>
          <a:noFill/>
          <a:ln/>
        </p:spPr>
        <p:txBody>
          <a:bodyPr wrap="square" lIns="0" tIns="0" rIns="0" bIns="0" rtlCol="0" anchor="t"/>
          <a:lstStyle/>
          <a:p>
            <a:pPr indent="0" marL="0">
              <a:lnSpc>
                <a:spcPts val="1600"/>
              </a:lnSpc>
              <a:buNone/>
            </a:pPr>
            <a:r>
              <a:rPr lang="en-US" sz="1250" dirty="0">
                <a:solidFill>
                  <a:srgbClr val="5C6E68"/>
                </a:solidFill>
                <a:latin typeface="Calibri" pitchFamily="34" charset="0"/>
                <a:ea typeface="Calibri" pitchFamily="34" charset="-122"/>
                <a:cs typeface="Calibri" pitchFamily="34" charset="-120"/>
              </a:rPr>
              <a:t>Set and update their own targets, and record progress against them</a:t>
            </a:r>
            <a:endParaRPr lang="en-US" sz="1250" dirty="0"/>
          </a:p>
        </p:txBody>
      </p:sp>
      <p:sp>
        <p:nvSpPr>
          <p:cNvPr id="15" name="Shape 12"/>
          <p:cNvSpPr/>
          <p:nvPr/>
        </p:nvSpPr>
        <p:spPr>
          <a:xfrm>
            <a:off x="1005840" y="4453128"/>
            <a:ext cx="137160" cy="137160"/>
          </a:xfrm>
          <a:prstGeom prst="ellipse">
            <a:avLst/>
          </a:prstGeom>
          <a:solidFill>
            <a:srgbClr val="0B6E5F"/>
          </a:solidFill>
          <a:ln w="12700">
            <a:solidFill>
              <a:srgbClr val="0B6E5F"/>
            </a:solidFill>
            <a:prstDash val="solid"/>
          </a:ln>
        </p:spPr>
      </p:sp>
      <p:sp>
        <p:nvSpPr>
          <p:cNvPr id="16" name="Text 13"/>
          <p:cNvSpPr txBox="1"/>
          <p:nvPr/>
        </p:nvSpPr>
        <p:spPr>
          <a:xfrm>
            <a:off x="1298448" y="4352544"/>
            <a:ext cx="4251960" cy="438912"/>
          </a:xfrm>
          <a:prstGeom prst="rect">
            <a:avLst/>
          </a:prstGeom>
          <a:noFill/>
          <a:ln/>
        </p:spPr>
        <p:txBody>
          <a:bodyPr wrap="square" lIns="0" tIns="0" rIns="0" bIns="0" rtlCol="0" anchor="t"/>
          <a:lstStyle/>
          <a:p>
            <a:pPr indent="0" marL="0">
              <a:lnSpc>
                <a:spcPts val="1600"/>
              </a:lnSpc>
              <a:buNone/>
            </a:pPr>
            <a:r>
              <a:rPr lang="en-US" sz="1250" dirty="0">
                <a:solidFill>
                  <a:srgbClr val="5C6E68"/>
                </a:solidFill>
                <a:latin typeface="Calibri" pitchFamily="34" charset="0"/>
                <a:ea typeface="Calibri" pitchFamily="34" charset="-122"/>
                <a:cs typeface="Calibri" pitchFamily="34" charset="-120"/>
              </a:rPr>
              <a:t>Write and keep their own development plan</a:t>
            </a:r>
            <a:endParaRPr lang="en-US" sz="1250" dirty="0"/>
          </a:p>
        </p:txBody>
      </p:sp>
      <p:sp>
        <p:nvSpPr>
          <p:cNvPr id="17" name="Shape 14"/>
          <p:cNvSpPr/>
          <p:nvPr/>
        </p:nvSpPr>
        <p:spPr>
          <a:xfrm>
            <a:off x="1005840" y="4928616"/>
            <a:ext cx="137160" cy="137160"/>
          </a:xfrm>
          <a:prstGeom prst="ellipse">
            <a:avLst/>
          </a:prstGeom>
          <a:solidFill>
            <a:srgbClr val="0B6E5F"/>
          </a:solidFill>
          <a:ln w="12700">
            <a:solidFill>
              <a:srgbClr val="0B6E5F"/>
            </a:solidFill>
            <a:prstDash val="solid"/>
          </a:ln>
        </p:spPr>
      </p:sp>
      <p:sp>
        <p:nvSpPr>
          <p:cNvPr id="18" name="Text 15"/>
          <p:cNvSpPr txBox="1"/>
          <p:nvPr/>
        </p:nvSpPr>
        <p:spPr>
          <a:xfrm>
            <a:off x="1298448" y="4828032"/>
            <a:ext cx="4251960" cy="438912"/>
          </a:xfrm>
          <a:prstGeom prst="rect">
            <a:avLst/>
          </a:prstGeom>
          <a:noFill/>
          <a:ln/>
        </p:spPr>
        <p:txBody>
          <a:bodyPr wrap="square" lIns="0" tIns="0" rIns="0" bIns="0" rtlCol="0" anchor="t"/>
          <a:lstStyle/>
          <a:p>
            <a:pPr indent="0" marL="0">
              <a:lnSpc>
                <a:spcPts val="1600"/>
              </a:lnSpc>
              <a:buNone/>
            </a:pPr>
            <a:r>
              <a:rPr lang="en-US" sz="1250" dirty="0">
                <a:solidFill>
                  <a:srgbClr val="5C6E68"/>
                </a:solidFill>
                <a:latin typeface="Calibri" pitchFamily="34" charset="0"/>
                <a:ea typeface="Calibri" pitchFamily="34" charset="-122"/>
                <a:cs typeface="Calibri" pitchFamily="34" charset="-120"/>
              </a:rPr>
              <a:t>Read their own PIP, and their own competency assessment</a:t>
            </a:r>
            <a:endParaRPr lang="en-US" sz="1250" dirty="0"/>
          </a:p>
        </p:txBody>
      </p:sp>
      <p:sp>
        <p:nvSpPr>
          <p:cNvPr id="19" name="Shape 16"/>
          <p:cNvSpPr/>
          <p:nvPr/>
        </p:nvSpPr>
        <p:spPr>
          <a:xfrm>
            <a:off x="1005840" y="5404104"/>
            <a:ext cx="137160" cy="137160"/>
          </a:xfrm>
          <a:prstGeom prst="ellipse">
            <a:avLst/>
          </a:prstGeom>
          <a:solidFill>
            <a:srgbClr val="0B6E5F"/>
          </a:solidFill>
          <a:ln w="12700">
            <a:solidFill>
              <a:srgbClr val="0B6E5F"/>
            </a:solidFill>
            <a:prstDash val="solid"/>
          </a:ln>
        </p:spPr>
      </p:sp>
      <p:sp>
        <p:nvSpPr>
          <p:cNvPr id="20" name="Text 17"/>
          <p:cNvSpPr txBox="1"/>
          <p:nvPr/>
        </p:nvSpPr>
        <p:spPr>
          <a:xfrm>
            <a:off x="1298448" y="5303520"/>
            <a:ext cx="4251960" cy="438912"/>
          </a:xfrm>
          <a:prstGeom prst="rect">
            <a:avLst/>
          </a:prstGeom>
          <a:noFill/>
          <a:ln/>
        </p:spPr>
        <p:txBody>
          <a:bodyPr wrap="square" lIns="0" tIns="0" rIns="0" bIns="0" rtlCol="0" anchor="t"/>
          <a:lstStyle/>
          <a:p>
            <a:pPr indent="0" marL="0">
              <a:lnSpc>
                <a:spcPts val="1600"/>
              </a:lnSpc>
              <a:buNone/>
            </a:pPr>
            <a:r>
              <a:rPr lang="en-US" sz="1250" dirty="0">
                <a:solidFill>
                  <a:srgbClr val="5C6E68"/>
                </a:solidFill>
                <a:latin typeface="Calibri" pitchFamily="34" charset="0"/>
                <a:ea typeface="Calibri" pitchFamily="34" charset="-122"/>
                <a:cs typeface="Calibri" pitchFamily="34" charset="-120"/>
              </a:rPr>
              <a:t>Read a result once it has been signed off, and acknowledge it</a:t>
            </a:r>
            <a:endParaRPr lang="en-US" sz="1250" dirty="0"/>
          </a:p>
        </p:txBody>
      </p:sp>
      <p:sp>
        <p:nvSpPr>
          <p:cNvPr id="21" name="Shape 18"/>
          <p:cNvSpPr/>
          <p:nvPr/>
        </p:nvSpPr>
        <p:spPr>
          <a:xfrm>
            <a:off x="6263640" y="2788920"/>
            <a:ext cx="5257800" cy="3200400"/>
          </a:xfrm>
          <a:prstGeom prst="roundRect">
            <a:avLst>
              <a:gd name="adj" fmla="val 1714"/>
            </a:avLst>
          </a:prstGeom>
          <a:solidFill>
            <a:srgbClr val="FFFFFF"/>
          </a:solidFill>
          <a:ln w="9525">
            <a:solidFill>
              <a:srgbClr val="E1E8E6"/>
            </a:solidFill>
            <a:prstDash val="solid"/>
          </a:ln>
          <a:effectLst>
            <a:outerShdw sx="100000" sy="100000" kx="0" ky="0" algn="bl" rotWithShape="0" blurRad="177800" dist="38100" dir="5400000">
              <a:srgbClr val="0A3D36">
                <a:alpha val="10000"/>
              </a:srgbClr>
            </a:outerShdw>
          </a:effectLst>
        </p:spPr>
      </p:sp>
      <p:sp>
        <p:nvSpPr>
          <p:cNvPr id="22" name="Text 19"/>
          <p:cNvSpPr txBox="1"/>
          <p:nvPr/>
        </p:nvSpPr>
        <p:spPr>
          <a:xfrm>
            <a:off x="6629400" y="2999232"/>
            <a:ext cx="2743200" cy="292608"/>
          </a:xfrm>
          <a:prstGeom prst="rect">
            <a:avLst/>
          </a:prstGeom>
          <a:noFill/>
          <a:ln/>
        </p:spPr>
        <p:txBody>
          <a:bodyPr wrap="square" lIns="0" tIns="0" rIns="0" bIns="0" rtlCol="0" anchor="ctr"/>
          <a:lstStyle/>
          <a:p>
            <a:pPr indent="0" marL="0">
              <a:buNone/>
            </a:pPr>
            <a:r>
              <a:rPr lang="en-US" sz="1100" b="1" spc="200" kern="0" dirty="0">
                <a:solidFill>
                  <a:srgbClr val="B3761B"/>
                </a:solidFill>
                <a:latin typeface="Calibri" pitchFamily="34" charset="0"/>
                <a:ea typeface="Calibri" pitchFamily="34" charset="-122"/>
                <a:cs typeface="Calibri" pitchFamily="34" charset="-120"/>
              </a:rPr>
              <a:t>CANNOT</a:t>
            </a:r>
            <a:endParaRPr lang="en-US" sz="1100" dirty="0"/>
          </a:p>
        </p:txBody>
      </p:sp>
      <p:sp>
        <p:nvSpPr>
          <p:cNvPr id="23" name="Shape 20"/>
          <p:cNvSpPr/>
          <p:nvPr/>
        </p:nvSpPr>
        <p:spPr>
          <a:xfrm>
            <a:off x="6629400" y="3502152"/>
            <a:ext cx="137160" cy="137160"/>
          </a:xfrm>
          <a:prstGeom prst="ellipse">
            <a:avLst/>
          </a:prstGeom>
          <a:solidFill>
            <a:srgbClr val="B3761B"/>
          </a:solidFill>
          <a:ln w="12700">
            <a:solidFill>
              <a:srgbClr val="B3761B"/>
            </a:solidFill>
            <a:prstDash val="solid"/>
          </a:ln>
        </p:spPr>
      </p:sp>
      <p:sp>
        <p:nvSpPr>
          <p:cNvPr id="24" name="Text 21"/>
          <p:cNvSpPr txBox="1"/>
          <p:nvPr/>
        </p:nvSpPr>
        <p:spPr>
          <a:xfrm>
            <a:off x="6922008" y="3401568"/>
            <a:ext cx="4251960" cy="438912"/>
          </a:xfrm>
          <a:prstGeom prst="rect">
            <a:avLst/>
          </a:prstGeom>
          <a:noFill/>
          <a:ln/>
        </p:spPr>
        <p:txBody>
          <a:bodyPr wrap="square" lIns="0" tIns="0" rIns="0" bIns="0" rtlCol="0" anchor="t"/>
          <a:lstStyle/>
          <a:p>
            <a:pPr indent="0" marL="0">
              <a:lnSpc>
                <a:spcPts val="1600"/>
              </a:lnSpc>
              <a:buNone/>
            </a:pPr>
            <a:r>
              <a:rPr lang="en-US" sz="1250" dirty="0">
                <a:solidFill>
                  <a:srgbClr val="5C6E68"/>
                </a:solidFill>
                <a:latin typeface="Calibri" pitchFamily="34" charset="0"/>
                <a:ea typeface="Calibri" pitchFamily="34" charset="-122"/>
                <a:cs typeface="Calibri" pitchFamily="34" charset="-120"/>
              </a:rPr>
              <a:t>Open any other person’s record — including a colleague at the same desk</a:t>
            </a:r>
            <a:endParaRPr lang="en-US" sz="1250" dirty="0"/>
          </a:p>
        </p:txBody>
      </p:sp>
      <p:sp>
        <p:nvSpPr>
          <p:cNvPr id="25" name="Shape 22"/>
          <p:cNvSpPr/>
          <p:nvPr/>
        </p:nvSpPr>
        <p:spPr>
          <a:xfrm>
            <a:off x="6629400" y="3977640"/>
            <a:ext cx="137160" cy="137160"/>
          </a:xfrm>
          <a:prstGeom prst="ellipse">
            <a:avLst/>
          </a:prstGeom>
          <a:solidFill>
            <a:srgbClr val="B3761B"/>
          </a:solidFill>
          <a:ln w="12700">
            <a:solidFill>
              <a:srgbClr val="B3761B"/>
            </a:solidFill>
            <a:prstDash val="solid"/>
          </a:ln>
        </p:spPr>
      </p:sp>
      <p:sp>
        <p:nvSpPr>
          <p:cNvPr id="26" name="Text 23"/>
          <p:cNvSpPr txBox="1"/>
          <p:nvPr/>
        </p:nvSpPr>
        <p:spPr>
          <a:xfrm>
            <a:off x="6922008" y="3877056"/>
            <a:ext cx="4251960" cy="438912"/>
          </a:xfrm>
          <a:prstGeom prst="rect">
            <a:avLst/>
          </a:prstGeom>
          <a:noFill/>
          <a:ln/>
        </p:spPr>
        <p:txBody>
          <a:bodyPr wrap="square" lIns="0" tIns="0" rIns="0" bIns="0" rtlCol="0" anchor="t"/>
          <a:lstStyle/>
          <a:p>
            <a:pPr indent="0" marL="0">
              <a:lnSpc>
                <a:spcPts val="1600"/>
              </a:lnSpc>
              <a:buNone/>
            </a:pPr>
            <a:r>
              <a:rPr lang="en-US" sz="1250" dirty="0">
                <a:solidFill>
                  <a:srgbClr val="5C6E68"/>
                </a:solidFill>
                <a:latin typeface="Calibri" pitchFamily="34" charset="0"/>
                <a:ea typeface="Calibri" pitchFamily="34" charset="-122"/>
                <a:cs typeface="Calibri" pitchFamily="34" charset="-120"/>
              </a:rPr>
              <a:t>See their own evaluation before it is signed off</a:t>
            </a:r>
            <a:endParaRPr lang="en-US" sz="1250" dirty="0"/>
          </a:p>
        </p:txBody>
      </p:sp>
      <p:sp>
        <p:nvSpPr>
          <p:cNvPr id="27" name="Shape 24"/>
          <p:cNvSpPr/>
          <p:nvPr/>
        </p:nvSpPr>
        <p:spPr>
          <a:xfrm>
            <a:off x="6629400" y="4453128"/>
            <a:ext cx="137160" cy="137160"/>
          </a:xfrm>
          <a:prstGeom prst="ellipse">
            <a:avLst/>
          </a:prstGeom>
          <a:solidFill>
            <a:srgbClr val="B3761B"/>
          </a:solidFill>
          <a:ln w="12700">
            <a:solidFill>
              <a:srgbClr val="B3761B"/>
            </a:solidFill>
            <a:prstDash val="solid"/>
          </a:ln>
        </p:spPr>
      </p:sp>
      <p:sp>
        <p:nvSpPr>
          <p:cNvPr id="28" name="Text 25"/>
          <p:cNvSpPr txBox="1"/>
          <p:nvPr/>
        </p:nvSpPr>
        <p:spPr>
          <a:xfrm>
            <a:off x="6922008" y="4352544"/>
            <a:ext cx="4251960" cy="438912"/>
          </a:xfrm>
          <a:prstGeom prst="rect">
            <a:avLst/>
          </a:prstGeom>
          <a:noFill/>
          <a:ln/>
        </p:spPr>
        <p:txBody>
          <a:bodyPr wrap="square" lIns="0" tIns="0" rIns="0" bIns="0" rtlCol="0" anchor="t"/>
          <a:lstStyle/>
          <a:p>
            <a:pPr indent="0" marL="0">
              <a:lnSpc>
                <a:spcPts val="1600"/>
              </a:lnSpc>
              <a:buNone/>
            </a:pPr>
            <a:r>
              <a:rPr lang="en-US" sz="1250" dirty="0">
                <a:solidFill>
                  <a:srgbClr val="5C6E68"/>
                </a:solidFill>
                <a:latin typeface="Calibri" pitchFamily="34" charset="0"/>
                <a:ea typeface="Calibri" pitchFamily="34" charset="-122"/>
                <a:cs typeface="Calibri" pitchFamily="34" charset="-120"/>
              </a:rPr>
              <a:t>See who was asked to review them on a peer panel</a:t>
            </a:r>
            <a:endParaRPr lang="en-US" sz="1250" dirty="0"/>
          </a:p>
        </p:txBody>
      </p:sp>
      <p:sp>
        <p:nvSpPr>
          <p:cNvPr id="29" name="Shape 26"/>
          <p:cNvSpPr/>
          <p:nvPr/>
        </p:nvSpPr>
        <p:spPr>
          <a:xfrm>
            <a:off x="6629400" y="4928616"/>
            <a:ext cx="137160" cy="137160"/>
          </a:xfrm>
          <a:prstGeom prst="ellipse">
            <a:avLst/>
          </a:prstGeom>
          <a:solidFill>
            <a:srgbClr val="B3761B"/>
          </a:solidFill>
          <a:ln w="12700">
            <a:solidFill>
              <a:srgbClr val="B3761B"/>
            </a:solidFill>
            <a:prstDash val="solid"/>
          </a:ln>
        </p:spPr>
      </p:sp>
      <p:sp>
        <p:nvSpPr>
          <p:cNvPr id="30" name="Text 27"/>
          <p:cNvSpPr txBox="1"/>
          <p:nvPr/>
        </p:nvSpPr>
        <p:spPr>
          <a:xfrm>
            <a:off x="6922008" y="4828032"/>
            <a:ext cx="4251960" cy="438912"/>
          </a:xfrm>
          <a:prstGeom prst="rect">
            <a:avLst/>
          </a:prstGeom>
          <a:noFill/>
          <a:ln/>
        </p:spPr>
        <p:txBody>
          <a:bodyPr wrap="square" lIns="0" tIns="0" rIns="0" bIns="0" rtlCol="0" anchor="t"/>
          <a:lstStyle/>
          <a:p>
            <a:pPr indent="0" marL="0">
              <a:lnSpc>
                <a:spcPts val="1600"/>
              </a:lnSpc>
              <a:buNone/>
            </a:pPr>
            <a:r>
              <a:rPr lang="en-US" sz="1250" dirty="0">
                <a:solidFill>
                  <a:srgbClr val="5C6E68"/>
                </a:solidFill>
                <a:latin typeface="Calibri" pitchFamily="34" charset="0"/>
                <a:ea typeface="Calibri" pitchFamily="34" charset="-122"/>
                <a:cs typeface="Calibri" pitchFamily="34" charset="-120"/>
              </a:rPr>
              <a:t>Change a target after it has been approved (it goes back through approval)</a:t>
            </a:r>
            <a:endParaRPr lang="en-US" sz="1250" dirty="0"/>
          </a:p>
        </p:txBody>
      </p:sp>
      <p:sp>
        <p:nvSpPr>
          <p:cNvPr id="31" name="Shape 28"/>
          <p:cNvSpPr/>
          <p:nvPr/>
        </p:nvSpPr>
        <p:spPr>
          <a:xfrm>
            <a:off x="6629400" y="5404104"/>
            <a:ext cx="137160" cy="137160"/>
          </a:xfrm>
          <a:prstGeom prst="ellipse">
            <a:avLst/>
          </a:prstGeom>
          <a:solidFill>
            <a:srgbClr val="B3761B"/>
          </a:solidFill>
          <a:ln w="12700">
            <a:solidFill>
              <a:srgbClr val="B3761B"/>
            </a:solidFill>
            <a:prstDash val="solid"/>
          </a:ln>
        </p:spPr>
      </p:sp>
      <p:sp>
        <p:nvSpPr>
          <p:cNvPr id="32" name="Text 29"/>
          <p:cNvSpPr txBox="1"/>
          <p:nvPr/>
        </p:nvSpPr>
        <p:spPr>
          <a:xfrm>
            <a:off x="6922008" y="5303520"/>
            <a:ext cx="4251960" cy="438912"/>
          </a:xfrm>
          <a:prstGeom prst="rect">
            <a:avLst/>
          </a:prstGeom>
          <a:noFill/>
          <a:ln/>
        </p:spPr>
        <p:txBody>
          <a:bodyPr wrap="square" lIns="0" tIns="0" rIns="0" bIns="0" rtlCol="0" anchor="t"/>
          <a:lstStyle/>
          <a:p>
            <a:pPr indent="0" marL="0">
              <a:lnSpc>
                <a:spcPts val="1600"/>
              </a:lnSpc>
              <a:buNone/>
            </a:pPr>
            <a:r>
              <a:rPr lang="en-US" sz="1250" dirty="0">
                <a:solidFill>
                  <a:srgbClr val="5C6E68"/>
                </a:solidFill>
                <a:latin typeface="Calibri" pitchFamily="34" charset="0"/>
                <a:ea typeface="Calibri" pitchFamily="34" charset="-122"/>
                <a:cs typeface="Calibri" pitchFamily="34" charset="-120"/>
              </a:rPr>
              <a:t>Reach any setup screen</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6F5"/>
        </a:solidFill>
      </p:bgPr>
    </p:bg>
    <p:spTree>
      <p:nvGrpSpPr>
        <p:cNvPr id="1" name=""/>
        <p:cNvGrpSpPr/>
        <p:nvPr/>
      </p:nvGrpSpPr>
      <p:grpSpPr>
        <a:xfrm>
          <a:off x="0" y="0"/>
          <a:ext cx="0" cy="0"/>
          <a:chOff x="0" y="0"/>
          <a:chExt cx="0" cy="0"/>
        </a:xfrm>
      </p:grpSpPr>
      <p:sp>
        <p:nvSpPr>
          <p:cNvPr id="2" name="Text 0"/>
          <p:cNvSpPr txBox="1"/>
          <p:nvPr/>
        </p:nvSpPr>
        <p:spPr>
          <a:xfrm>
            <a:off x="640080" y="411480"/>
            <a:ext cx="9144000" cy="274320"/>
          </a:xfrm>
          <a:prstGeom prst="rect">
            <a:avLst/>
          </a:prstGeom>
          <a:noFill/>
          <a:ln/>
        </p:spPr>
        <p:txBody>
          <a:bodyPr wrap="square" lIns="0" tIns="0" rIns="0" bIns="0" rtlCol="0" anchor="ctr"/>
          <a:lstStyle/>
          <a:p>
            <a:pPr indent="0" marL="0">
              <a:buNone/>
            </a:pPr>
            <a:r>
              <a:rPr lang="en-US" sz="1100" b="1" spc="200" kern="0" dirty="0">
                <a:solidFill>
                  <a:srgbClr val="0B6E5F"/>
                </a:solidFill>
                <a:latin typeface="Calibri" pitchFamily="34" charset="0"/>
                <a:ea typeface="Calibri" pitchFamily="34" charset="-122"/>
                <a:cs typeface="Calibri" pitchFamily="34" charset="-120"/>
              </a:rPr>
              <a:t>ROLE 2 OF 4</a:t>
            </a:r>
            <a:endParaRPr lang="en-US" sz="11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200" b="1" dirty="0">
                <a:solidFill>
                  <a:srgbClr val="10201C"/>
                </a:solidFill>
                <a:latin typeface="Cambria" pitchFamily="34" charset="0"/>
                <a:ea typeface="Cambria" pitchFamily="34" charset="-122"/>
                <a:cs typeface="Cambria" pitchFamily="34" charset="-120"/>
              </a:rPr>
              <a:t>Supervisor</a:t>
            </a:r>
            <a:endParaRPr lang="en-US" sz="3200" dirty="0"/>
          </a:p>
        </p:txBody>
      </p:sp>
      <p:sp>
        <p:nvSpPr>
          <p:cNvPr id="5" name="Shape 2"/>
          <p:cNvSpPr/>
          <p:nvPr/>
        </p:nvSpPr>
        <p:spPr>
          <a:xfrm>
            <a:off x="640080" y="1737360"/>
            <a:ext cx="10881360" cy="868680"/>
          </a:xfrm>
          <a:prstGeom prst="roundRect">
            <a:avLst>
              <a:gd name="adj" fmla="val 6316"/>
            </a:avLst>
          </a:prstGeom>
          <a:solidFill>
            <a:srgbClr val="FFFFFF"/>
          </a:solidFill>
          <a:ln w="9525">
            <a:solidFill>
              <a:srgbClr val="E1E8E6"/>
            </a:solidFill>
            <a:prstDash val="solid"/>
          </a:ln>
          <a:effectLst>
            <a:outerShdw sx="100000" sy="100000" kx="0" ky="0" algn="bl" rotWithShape="0" blurRad="177800" dist="38100" dir="5400000">
              <a:srgbClr val="0A3D36">
                <a:alpha val="10000"/>
              </a:srgbClr>
            </a:outerShdw>
          </a:effectLst>
        </p:spPr>
      </p:sp>
      <p:sp>
        <p:nvSpPr>
          <p:cNvPr id="6" name="Shape 3"/>
          <p:cNvSpPr/>
          <p:nvPr/>
        </p:nvSpPr>
        <p:spPr>
          <a:xfrm>
            <a:off x="960120" y="1920240"/>
            <a:ext cx="1417320" cy="502920"/>
          </a:xfrm>
          <a:prstGeom prst="roundRect">
            <a:avLst>
              <a:gd name="adj" fmla="val 9091"/>
            </a:avLst>
          </a:prstGeom>
          <a:solidFill>
            <a:srgbClr val="0B6E5F"/>
          </a:solidFill>
          <a:ln w="12700">
            <a:solidFill>
              <a:srgbClr val="0B6E5F"/>
            </a:solidFill>
            <a:prstDash val="solid"/>
          </a:ln>
        </p:spPr>
      </p:sp>
      <p:sp>
        <p:nvSpPr>
          <p:cNvPr id="7" name="Text 4"/>
          <p:cNvSpPr txBox="1"/>
          <p:nvPr/>
        </p:nvSpPr>
        <p:spPr>
          <a:xfrm>
            <a:off x="960120" y="1920240"/>
            <a:ext cx="1417320" cy="5029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SUPERVISOR</a:t>
            </a:r>
            <a:endParaRPr lang="en-US" sz="1250" dirty="0"/>
          </a:p>
        </p:txBody>
      </p:sp>
      <p:sp>
        <p:nvSpPr>
          <p:cNvPr id="8" name="Text 5"/>
          <p:cNvSpPr txBox="1"/>
          <p:nvPr/>
        </p:nvSpPr>
        <p:spPr>
          <a:xfrm>
            <a:off x="2606040" y="1920240"/>
            <a:ext cx="8503920" cy="502920"/>
          </a:xfrm>
          <a:prstGeom prst="rect">
            <a:avLst/>
          </a:prstGeom>
          <a:noFill/>
          <a:ln/>
        </p:spPr>
        <p:txBody>
          <a:bodyPr wrap="square" lIns="0" tIns="0" rIns="0" bIns="0" rtlCol="0" anchor="ctr"/>
          <a:lstStyle/>
          <a:p>
            <a:pPr indent="0" marL="0">
              <a:buNone/>
            </a:pPr>
            <a:r>
              <a:rPr lang="en-US" sz="1350" dirty="0">
                <a:solidFill>
                  <a:srgbClr val="5C6E68"/>
                </a:solidFill>
                <a:latin typeface="Calibri" pitchFamily="34" charset="0"/>
                <a:ea typeface="Calibri" pitchFamily="34" charset="-122"/>
                <a:cs typeface="Calibri" pitchFamily="34" charset="-120"/>
              </a:rPr>
              <a:t>Derived from the org chart — 5 of 28 today. Example: Crisanto Rivera, Section Head (R7), Employee Relations, 8 reports.</a:t>
            </a:r>
            <a:endParaRPr lang="en-US" sz="1350" dirty="0"/>
          </a:p>
        </p:txBody>
      </p:sp>
      <p:sp>
        <p:nvSpPr>
          <p:cNvPr id="9" name="Shape 6"/>
          <p:cNvSpPr/>
          <p:nvPr/>
        </p:nvSpPr>
        <p:spPr>
          <a:xfrm>
            <a:off x="640080" y="2788920"/>
            <a:ext cx="5257800" cy="3200400"/>
          </a:xfrm>
          <a:prstGeom prst="roundRect">
            <a:avLst>
              <a:gd name="adj" fmla="val 1714"/>
            </a:avLst>
          </a:prstGeom>
          <a:solidFill>
            <a:srgbClr val="FFFFFF"/>
          </a:solidFill>
          <a:ln w="9525">
            <a:solidFill>
              <a:srgbClr val="E1E8E6"/>
            </a:solidFill>
            <a:prstDash val="solid"/>
          </a:ln>
          <a:effectLst>
            <a:outerShdw sx="100000" sy="100000" kx="0" ky="0" algn="bl" rotWithShape="0" blurRad="177800" dist="38100" dir="5400000">
              <a:srgbClr val="0A3D36">
                <a:alpha val="10000"/>
              </a:srgbClr>
            </a:outerShdw>
          </a:effectLst>
        </p:spPr>
      </p:sp>
      <p:sp>
        <p:nvSpPr>
          <p:cNvPr id="10" name="Text 7"/>
          <p:cNvSpPr txBox="1"/>
          <p:nvPr/>
        </p:nvSpPr>
        <p:spPr>
          <a:xfrm>
            <a:off x="1005840" y="2999232"/>
            <a:ext cx="2743200" cy="292608"/>
          </a:xfrm>
          <a:prstGeom prst="rect">
            <a:avLst/>
          </a:prstGeom>
          <a:noFill/>
          <a:ln/>
        </p:spPr>
        <p:txBody>
          <a:bodyPr wrap="square" lIns="0" tIns="0" rIns="0" bIns="0" rtlCol="0" anchor="ctr"/>
          <a:lstStyle/>
          <a:p>
            <a:pPr indent="0" marL="0">
              <a:buNone/>
            </a:pPr>
            <a:r>
              <a:rPr lang="en-US" sz="1100" b="1" spc="200" kern="0" dirty="0">
                <a:solidFill>
                  <a:srgbClr val="0B6E5F"/>
                </a:solidFill>
                <a:latin typeface="Calibri" pitchFamily="34" charset="0"/>
                <a:ea typeface="Calibri" pitchFamily="34" charset="-122"/>
                <a:cs typeface="Calibri" pitchFamily="34" charset="-120"/>
              </a:rPr>
              <a:t>CAN</a:t>
            </a:r>
            <a:endParaRPr lang="en-US" sz="1100" dirty="0"/>
          </a:p>
        </p:txBody>
      </p:sp>
      <p:sp>
        <p:nvSpPr>
          <p:cNvPr id="11" name="Shape 8"/>
          <p:cNvSpPr/>
          <p:nvPr/>
        </p:nvSpPr>
        <p:spPr>
          <a:xfrm>
            <a:off x="1005840" y="3502152"/>
            <a:ext cx="137160" cy="137160"/>
          </a:xfrm>
          <a:prstGeom prst="ellipse">
            <a:avLst/>
          </a:prstGeom>
          <a:solidFill>
            <a:srgbClr val="0B6E5F"/>
          </a:solidFill>
          <a:ln w="12700">
            <a:solidFill>
              <a:srgbClr val="0B6E5F"/>
            </a:solidFill>
            <a:prstDash val="solid"/>
          </a:ln>
        </p:spPr>
      </p:sp>
      <p:sp>
        <p:nvSpPr>
          <p:cNvPr id="12" name="Text 9"/>
          <p:cNvSpPr txBox="1"/>
          <p:nvPr/>
        </p:nvSpPr>
        <p:spPr>
          <a:xfrm>
            <a:off x="1298448" y="3401568"/>
            <a:ext cx="4251960" cy="438912"/>
          </a:xfrm>
          <a:prstGeom prst="rect">
            <a:avLst/>
          </a:prstGeom>
          <a:noFill/>
          <a:ln/>
        </p:spPr>
        <p:txBody>
          <a:bodyPr wrap="square" lIns="0" tIns="0" rIns="0" bIns="0" rtlCol="0" anchor="t"/>
          <a:lstStyle/>
          <a:p>
            <a:pPr indent="0" marL="0">
              <a:lnSpc>
                <a:spcPts val="1600"/>
              </a:lnSpc>
              <a:buNone/>
            </a:pPr>
            <a:r>
              <a:rPr lang="en-US" sz="1250" dirty="0">
                <a:solidFill>
                  <a:srgbClr val="5C6E68"/>
                </a:solidFill>
                <a:latin typeface="Calibri" pitchFamily="34" charset="0"/>
                <a:ea typeface="Calibri" pitchFamily="34" charset="-122"/>
                <a:cs typeface="Calibri" pitchFamily="34" charset="-120"/>
              </a:rPr>
              <a:t>Everything an employee can, on their own record</a:t>
            </a:r>
            <a:endParaRPr lang="en-US" sz="1250" dirty="0"/>
          </a:p>
        </p:txBody>
      </p:sp>
      <p:sp>
        <p:nvSpPr>
          <p:cNvPr id="13" name="Shape 10"/>
          <p:cNvSpPr/>
          <p:nvPr/>
        </p:nvSpPr>
        <p:spPr>
          <a:xfrm>
            <a:off x="1005840" y="3977640"/>
            <a:ext cx="137160" cy="137160"/>
          </a:xfrm>
          <a:prstGeom prst="ellipse">
            <a:avLst/>
          </a:prstGeom>
          <a:solidFill>
            <a:srgbClr val="0B6E5F"/>
          </a:solidFill>
          <a:ln w="12700">
            <a:solidFill>
              <a:srgbClr val="0B6E5F"/>
            </a:solidFill>
            <a:prstDash val="solid"/>
          </a:ln>
        </p:spPr>
      </p:sp>
      <p:sp>
        <p:nvSpPr>
          <p:cNvPr id="14" name="Text 11"/>
          <p:cNvSpPr txBox="1"/>
          <p:nvPr/>
        </p:nvSpPr>
        <p:spPr>
          <a:xfrm>
            <a:off x="1298448" y="3877056"/>
            <a:ext cx="4251960" cy="438912"/>
          </a:xfrm>
          <a:prstGeom prst="rect">
            <a:avLst/>
          </a:prstGeom>
          <a:noFill/>
          <a:ln/>
        </p:spPr>
        <p:txBody>
          <a:bodyPr wrap="square" lIns="0" tIns="0" rIns="0" bIns="0" rtlCol="0" anchor="t"/>
          <a:lstStyle/>
          <a:p>
            <a:pPr indent="0" marL="0">
              <a:lnSpc>
                <a:spcPts val="1600"/>
              </a:lnSpc>
              <a:buNone/>
            </a:pPr>
            <a:r>
              <a:rPr lang="en-US" sz="1250" dirty="0">
                <a:solidFill>
                  <a:srgbClr val="5C6E68"/>
                </a:solidFill>
                <a:latin typeface="Calibri" pitchFamily="34" charset="0"/>
                <a:ea typeface="Calibri" pitchFamily="34" charset="-122"/>
                <a:cs typeface="Calibri" pitchFamily="34" charset="-120"/>
              </a:rPr>
              <a:t>See everyone beneath them in the chart, however many levels down</a:t>
            </a:r>
            <a:endParaRPr lang="en-US" sz="1250" dirty="0"/>
          </a:p>
        </p:txBody>
      </p:sp>
      <p:sp>
        <p:nvSpPr>
          <p:cNvPr id="15" name="Shape 12"/>
          <p:cNvSpPr/>
          <p:nvPr/>
        </p:nvSpPr>
        <p:spPr>
          <a:xfrm>
            <a:off x="1005840" y="4453128"/>
            <a:ext cx="137160" cy="137160"/>
          </a:xfrm>
          <a:prstGeom prst="ellipse">
            <a:avLst/>
          </a:prstGeom>
          <a:solidFill>
            <a:srgbClr val="0B6E5F"/>
          </a:solidFill>
          <a:ln w="12700">
            <a:solidFill>
              <a:srgbClr val="0B6E5F"/>
            </a:solidFill>
            <a:prstDash val="solid"/>
          </a:ln>
        </p:spPr>
      </p:sp>
      <p:sp>
        <p:nvSpPr>
          <p:cNvPr id="16" name="Text 13"/>
          <p:cNvSpPr txBox="1"/>
          <p:nvPr/>
        </p:nvSpPr>
        <p:spPr>
          <a:xfrm>
            <a:off x="1298448" y="4352544"/>
            <a:ext cx="4251960" cy="438912"/>
          </a:xfrm>
          <a:prstGeom prst="rect">
            <a:avLst/>
          </a:prstGeom>
          <a:noFill/>
          <a:ln/>
        </p:spPr>
        <p:txBody>
          <a:bodyPr wrap="square" lIns="0" tIns="0" rIns="0" bIns="0" rtlCol="0" anchor="t"/>
          <a:lstStyle/>
          <a:p>
            <a:pPr indent="0" marL="0">
              <a:lnSpc>
                <a:spcPts val="1600"/>
              </a:lnSpc>
              <a:buNone/>
            </a:pPr>
            <a:r>
              <a:rPr lang="en-US" sz="1250" dirty="0">
                <a:solidFill>
                  <a:srgbClr val="5C6E68"/>
                </a:solidFill>
                <a:latin typeface="Calibri" pitchFamily="34" charset="0"/>
                <a:ea typeface="Calibri" pitchFamily="34" charset="-122"/>
                <a:cs typeface="Calibri" pitchFamily="34" charset="-120"/>
              </a:rPr>
              <a:t>Approve the targets of their people — the first of the two gates</a:t>
            </a:r>
            <a:endParaRPr lang="en-US" sz="1250" dirty="0"/>
          </a:p>
        </p:txBody>
      </p:sp>
      <p:sp>
        <p:nvSpPr>
          <p:cNvPr id="17" name="Shape 14"/>
          <p:cNvSpPr/>
          <p:nvPr/>
        </p:nvSpPr>
        <p:spPr>
          <a:xfrm>
            <a:off x="1005840" y="4928616"/>
            <a:ext cx="137160" cy="137160"/>
          </a:xfrm>
          <a:prstGeom prst="ellipse">
            <a:avLst/>
          </a:prstGeom>
          <a:solidFill>
            <a:srgbClr val="0B6E5F"/>
          </a:solidFill>
          <a:ln w="12700">
            <a:solidFill>
              <a:srgbClr val="0B6E5F"/>
            </a:solidFill>
            <a:prstDash val="solid"/>
          </a:ln>
        </p:spPr>
      </p:sp>
      <p:sp>
        <p:nvSpPr>
          <p:cNvPr id="18" name="Text 15"/>
          <p:cNvSpPr txBox="1"/>
          <p:nvPr/>
        </p:nvSpPr>
        <p:spPr>
          <a:xfrm>
            <a:off x="1298448" y="4828032"/>
            <a:ext cx="4251960" cy="438912"/>
          </a:xfrm>
          <a:prstGeom prst="rect">
            <a:avLst/>
          </a:prstGeom>
          <a:noFill/>
          <a:ln/>
        </p:spPr>
        <p:txBody>
          <a:bodyPr wrap="square" lIns="0" tIns="0" rIns="0" bIns="0" rtlCol="0" anchor="t"/>
          <a:lstStyle/>
          <a:p>
            <a:pPr indent="0" marL="0">
              <a:lnSpc>
                <a:spcPts val="1600"/>
              </a:lnSpc>
              <a:buNone/>
            </a:pPr>
            <a:r>
              <a:rPr lang="en-US" sz="1250" dirty="0">
                <a:solidFill>
                  <a:srgbClr val="5C6E68"/>
                </a:solidFill>
                <a:latin typeface="Calibri" pitchFamily="34" charset="0"/>
                <a:ea typeface="Calibri" pitchFamily="34" charset="-122"/>
                <a:cs typeface="Calibri" pitchFamily="34" charset="-120"/>
              </a:rPr>
              <a:t>Write the evaluation of anyone reporting directly to them</a:t>
            </a:r>
            <a:endParaRPr lang="en-US" sz="1250" dirty="0"/>
          </a:p>
        </p:txBody>
      </p:sp>
      <p:sp>
        <p:nvSpPr>
          <p:cNvPr id="19" name="Shape 16"/>
          <p:cNvSpPr/>
          <p:nvPr/>
        </p:nvSpPr>
        <p:spPr>
          <a:xfrm>
            <a:off x="1005840" y="5404104"/>
            <a:ext cx="137160" cy="137160"/>
          </a:xfrm>
          <a:prstGeom prst="ellipse">
            <a:avLst/>
          </a:prstGeom>
          <a:solidFill>
            <a:srgbClr val="0B6E5F"/>
          </a:solidFill>
          <a:ln w="12700">
            <a:solidFill>
              <a:srgbClr val="0B6E5F"/>
            </a:solidFill>
            <a:prstDash val="solid"/>
          </a:ln>
        </p:spPr>
      </p:sp>
      <p:sp>
        <p:nvSpPr>
          <p:cNvPr id="20" name="Text 17"/>
          <p:cNvSpPr txBox="1"/>
          <p:nvPr/>
        </p:nvSpPr>
        <p:spPr>
          <a:xfrm>
            <a:off x="1298448" y="5303520"/>
            <a:ext cx="4251960" cy="438912"/>
          </a:xfrm>
          <a:prstGeom prst="rect">
            <a:avLst/>
          </a:prstGeom>
          <a:noFill/>
          <a:ln/>
        </p:spPr>
        <p:txBody>
          <a:bodyPr wrap="square" lIns="0" tIns="0" rIns="0" bIns="0" rtlCol="0" anchor="t"/>
          <a:lstStyle/>
          <a:p>
            <a:pPr indent="0" marL="0">
              <a:lnSpc>
                <a:spcPts val="1600"/>
              </a:lnSpc>
              <a:buNone/>
            </a:pPr>
            <a:r>
              <a:rPr lang="en-US" sz="1250" dirty="0">
                <a:solidFill>
                  <a:srgbClr val="5C6E68"/>
                </a:solidFill>
                <a:latin typeface="Calibri" pitchFamily="34" charset="0"/>
                <a:ea typeface="Calibri" pitchFamily="34" charset="-122"/>
                <a:cs typeface="Calibri" pitchFamily="34" charset="-120"/>
              </a:rPr>
              <a:t>Open a PIP, and assess competencies, for their direct reports</a:t>
            </a:r>
            <a:endParaRPr lang="en-US" sz="1250" dirty="0"/>
          </a:p>
        </p:txBody>
      </p:sp>
      <p:sp>
        <p:nvSpPr>
          <p:cNvPr id="21" name="Shape 18"/>
          <p:cNvSpPr/>
          <p:nvPr/>
        </p:nvSpPr>
        <p:spPr>
          <a:xfrm>
            <a:off x="6263640" y="2788920"/>
            <a:ext cx="5257800" cy="3200400"/>
          </a:xfrm>
          <a:prstGeom prst="roundRect">
            <a:avLst>
              <a:gd name="adj" fmla="val 1714"/>
            </a:avLst>
          </a:prstGeom>
          <a:solidFill>
            <a:srgbClr val="FFFFFF"/>
          </a:solidFill>
          <a:ln w="9525">
            <a:solidFill>
              <a:srgbClr val="E1E8E6"/>
            </a:solidFill>
            <a:prstDash val="solid"/>
          </a:ln>
          <a:effectLst>
            <a:outerShdw sx="100000" sy="100000" kx="0" ky="0" algn="bl" rotWithShape="0" blurRad="177800" dist="38100" dir="5400000">
              <a:srgbClr val="0A3D36">
                <a:alpha val="10000"/>
              </a:srgbClr>
            </a:outerShdw>
          </a:effectLst>
        </p:spPr>
      </p:sp>
      <p:sp>
        <p:nvSpPr>
          <p:cNvPr id="22" name="Text 19"/>
          <p:cNvSpPr txBox="1"/>
          <p:nvPr/>
        </p:nvSpPr>
        <p:spPr>
          <a:xfrm>
            <a:off x="6629400" y="2999232"/>
            <a:ext cx="2743200" cy="292608"/>
          </a:xfrm>
          <a:prstGeom prst="rect">
            <a:avLst/>
          </a:prstGeom>
          <a:noFill/>
          <a:ln/>
        </p:spPr>
        <p:txBody>
          <a:bodyPr wrap="square" lIns="0" tIns="0" rIns="0" bIns="0" rtlCol="0" anchor="ctr"/>
          <a:lstStyle/>
          <a:p>
            <a:pPr indent="0" marL="0">
              <a:buNone/>
            </a:pPr>
            <a:r>
              <a:rPr lang="en-US" sz="1100" b="1" spc="200" kern="0" dirty="0">
                <a:solidFill>
                  <a:srgbClr val="B3761B"/>
                </a:solidFill>
                <a:latin typeface="Calibri" pitchFamily="34" charset="0"/>
                <a:ea typeface="Calibri" pitchFamily="34" charset="-122"/>
                <a:cs typeface="Calibri" pitchFamily="34" charset="-120"/>
              </a:rPr>
              <a:t>CANNOT</a:t>
            </a:r>
            <a:endParaRPr lang="en-US" sz="1100" dirty="0"/>
          </a:p>
        </p:txBody>
      </p:sp>
      <p:sp>
        <p:nvSpPr>
          <p:cNvPr id="23" name="Shape 20"/>
          <p:cNvSpPr/>
          <p:nvPr/>
        </p:nvSpPr>
        <p:spPr>
          <a:xfrm>
            <a:off x="6629400" y="3502152"/>
            <a:ext cx="137160" cy="137160"/>
          </a:xfrm>
          <a:prstGeom prst="ellipse">
            <a:avLst/>
          </a:prstGeom>
          <a:solidFill>
            <a:srgbClr val="B3761B"/>
          </a:solidFill>
          <a:ln w="12700">
            <a:solidFill>
              <a:srgbClr val="B3761B"/>
            </a:solidFill>
            <a:prstDash val="solid"/>
          </a:ln>
        </p:spPr>
      </p:sp>
      <p:sp>
        <p:nvSpPr>
          <p:cNvPr id="24" name="Text 21"/>
          <p:cNvSpPr txBox="1"/>
          <p:nvPr/>
        </p:nvSpPr>
        <p:spPr>
          <a:xfrm>
            <a:off x="6922008" y="3401568"/>
            <a:ext cx="4251960" cy="438912"/>
          </a:xfrm>
          <a:prstGeom prst="rect">
            <a:avLst/>
          </a:prstGeom>
          <a:noFill/>
          <a:ln/>
        </p:spPr>
        <p:txBody>
          <a:bodyPr wrap="square" lIns="0" tIns="0" rIns="0" bIns="0" rtlCol="0" anchor="t"/>
          <a:lstStyle/>
          <a:p>
            <a:pPr indent="0" marL="0">
              <a:lnSpc>
                <a:spcPts val="1600"/>
              </a:lnSpc>
              <a:buNone/>
            </a:pPr>
            <a:r>
              <a:rPr lang="en-US" sz="1250" dirty="0">
                <a:solidFill>
                  <a:srgbClr val="5C6E68"/>
                </a:solidFill>
                <a:latin typeface="Calibri" pitchFamily="34" charset="0"/>
                <a:ea typeface="Calibri" pitchFamily="34" charset="-122"/>
                <a:cs typeface="Calibri" pitchFamily="34" charset="-120"/>
              </a:rPr>
              <a:t>See a colleague’s team — another Section Head’s people are invisible</a:t>
            </a:r>
            <a:endParaRPr lang="en-US" sz="1250" dirty="0"/>
          </a:p>
        </p:txBody>
      </p:sp>
      <p:sp>
        <p:nvSpPr>
          <p:cNvPr id="25" name="Shape 22"/>
          <p:cNvSpPr/>
          <p:nvPr/>
        </p:nvSpPr>
        <p:spPr>
          <a:xfrm>
            <a:off x="6629400" y="3977640"/>
            <a:ext cx="137160" cy="137160"/>
          </a:xfrm>
          <a:prstGeom prst="ellipse">
            <a:avLst/>
          </a:prstGeom>
          <a:solidFill>
            <a:srgbClr val="B3761B"/>
          </a:solidFill>
          <a:ln w="12700">
            <a:solidFill>
              <a:srgbClr val="B3761B"/>
            </a:solidFill>
            <a:prstDash val="solid"/>
          </a:ln>
        </p:spPr>
      </p:sp>
      <p:sp>
        <p:nvSpPr>
          <p:cNvPr id="26" name="Text 23"/>
          <p:cNvSpPr txBox="1"/>
          <p:nvPr/>
        </p:nvSpPr>
        <p:spPr>
          <a:xfrm>
            <a:off x="6922008" y="3877056"/>
            <a:ext cx="4251960" cy="438912"/>
          </a:xfrm>
          <a:prstGeom prst="rect">
            <a:avLst/>
          </a:prstGeom>
          <a:noFill/>
          <a:ln/>
        </p:spPr>
        <p:txBody>
          <a:bodyPr wrap="square" lIns="0" tIns="0" rIns="0" bIns="0" rtlCol="0" anchor="t"/>
          <a:lstStyle/>
          <a:p>
            <a:pPr indent="0" marL="0">
              <a:lnSpc>
                <a:spcPts val="1600"/>
              </a:lnSpc>
              <a:buNone/>
            </a:pPr>
            <a:r>
              <a:rPr lang="en-US" sz="1250" dirty="0">
                <a:solidFill>
                  <a:srgbClr val="5C6E68"/>
                </a:solidFill>
                <a:latin typeface="Calibri" pitchFamily="34" charset="0"/>
                <a:ea typeface="Calibri" pitchFamily="34" charset="-122"/>
                <a:cs typeface="Calibri" pitchFamily="34" charset="-120"/>
              </a:rPr>
              <a:t>Approve or release an evaluation; that needs the Department Head</a:t>
            </a:r>
            <a:endParaRPr lang="en-US" sz="1250" dirty="0"/>
          </a:p>
        </p:txBody>
      </p:sp>
      <p:sp>
        <p:nvSpPr>
          <p:cNvPr id="27" name="Shape 24"/>
          <p:cNvSpPr/>
          <p:nvPr/>
        </p:nvSpPr>
        <p:spPr>
          <a:xfrm>
            <a:off x="6629400" y="4453128"/>
            <a:ext cx="137160" cy="137160"/>
          </a:xfrm>
          <a:prstGeom prst="ellipse">
            <a:avLst/>
          </a:prstGeom>
          <a:solidFill>
            <a:srgbClr val="B3761B"/>
          </a:solidFill>
          <a:ln w="12700">
            <a:solidFill>
              <a:srgbClr val="B3761B"/>
            </a:solidFill>
            <a:prstDash val="solid"/>
          </a:ln>
        </p:spPr>
      </p:sp>
      <p:sp>
        <p:nvSpPr>
          <p:cNvPr id="28" name="Text 25"/>
          <p:cNvSpPr txBox="1"/>
          <p:nvPr/>
        </p:nvSpPr>
        <p:spPr>
          <a:xfrm>
            <a:off x="6922008" y="4352544"/>
            <a:ext cx="4251960" cy="438912"/>
          </a:xfrm>
          <a:prstGeom prst="rect">
            <a:avLst/>
          </a:prstGeom>
          <a:noFill/>
          <a:ln/>
        </p:spPr>
        <p:txBody>
          <a:bodyPr wrap="square" lIns="0" tIns="0" rIns="0" bIns="0" rtlCol="0" anchor="t"/>
          <a:lstStyle/>
          <a:p>
            <a:pPr indent="0" marL="0">
              <a:lnSpc>
                <a:spcPts val="1600"/>
              </a:lnSpc>
              <a:buNone/>
            </a:pPr>
            <a:r>
              <a:rPr lang="en-US" sz="1250" dirty="0">
                <a:solidFill>
                  <a:srgbClr val="5C6E68"/>
                </a:solidFill>
                <a:latin typeface="Calibri" pitchFamily="34" charset="0"/>
                <a:ea typeface="Calibri" pitchFamily="34" charset="-122"/>
                <a:cs typeface="Calibri" pitchFamily="34" charset="-120"/>
              </a:rPr>
              <a:t>Change the org chart, ranks, positions or forms</a:t>
            </a:r>
            <a:endParaRPr lang="en-US" sz="1250" dirty="0"/>
          </a:p>
        </p:txBody>
      </p:sp>
      <p:sp>
        <p:nvSpPr>
          <p:cNvPr id="29" name="Shape 26"/>
          <p:cNvSpPr/>
          <p:nvPr/>
        </p:nvSpPr>
        <p:spPr>
          <a:xfrm>
            <a:off x="6629400" y="4928616"/>
            <a:ext cx="137160" cy="137160"/>
          </a:xfrm>
          <a:prstGeom prst="ellipse">
            <a:avLst/>
          </a:prstGeom>
          <a:solidFill>
            <a:srgbClr val="B3761B"/>
          </a:solidFill>
          <a:ln w="12700">
            <a:solidFill>
              <a:srgbClr val="B3761B"/>
            </a:solidFill>
            <a:prstDash val="solid"/>
          </a:ln>
        </p:spPr>
      </p:sp>
      <p:sp>
        <p:nvSpPr>
          <p:cNvPr id="30" name="Text 27"/>
          <p:cNvSpPr txBox="1"/>
          <p:nvPr/>
        </p:nvSpPr>
        <p:spPr>
          <a:xfrm>
            <a:off x="6922008" y="4828032"/>
            <a:ext cx="4251960" cy="438912"/>
          </a:xfrm>
          <a:prstGeom prst="rect">
            <a:avLst/>
          </a:prstGeom>
          <a:noFill/>
          <a:ln/>
        </p:spPr>
        <p:txBody>
          <a:bodyPr wrap="square" lIns="0" tIns="0" rIns="0" bIns="0" rtlCol="0" anchor="t"/>
          <a:lstStyle/>
          <a:p>
            <a:pPr indent="0" marL="0">
              <a:lnSpc>
                <a:spcPts val="1600"/>
              </a:lnSpc>
              <a:buNone/>
            </a:pPr>
            <a:r>
              <a:rPr lang="en-US" sz="1250" dirty="0">
                <a:solidFill>
                  <a:srgbClr val="5C6E68"/>
                </a:solidFill>
                <a:latin typeface="Calibri" pitchFamily="34" charset="0"/>
                <a:ea typeface="Calibri" pitchFamily="34" charset="-122"/>
                <a:cs typeface="Calibri" pitchFamily="34" charset="-120"/>
              </a:rPr>
              <a:t>Set or reset any scoring parameter</a:t>
            </a:r>
            <a:endParaRPr lang="en-US" sz="1250" dirty="0"/>
          </a:p>
        </p:txBody>
      </p:sp>
      <p:sp>
        <p:nvSpPr>
          <p:cNvPr id="31" name="Shape 28"/>
          <p:cNvSpPr/>
          <p:nvPr/>
        </p:nvSpPr>
        <p:spPr>
          <a:xfrm>
            <a:off x="6629400" y="5404104"/>
            <a:ext cx="137160" cy="137160"/>
          </a:xfrm>
          <a:prstGeom prst="ellipse">
            <a:avLst/>
          </a:prstGeom>
          <a:solidFill>
            <a:srgbClr val="B3761B"/>
          </a:solidFill>
          <a:ln w="12700">
            <a:solidFill>
              <a:srgbClr val="B3761B"/>
            </a:solidFill>
            <a:prstDash val="solid"/>
          </a:ln>
        </p:spPr>
      </p:sp>
      <p:sp>
        <p:nvSpPr>
          <p:cNvPr id="32" name="Text 29"/>
          <p:cNvSpPr txBox="1"/>
          <p:nvPr/>
        </p:nvSpPr>
        <p:spPr>
          <a:xfrm>
            <a:off x="6922008" y="5303520"/>
            <a:ext cx="4251960" cy="438912"/>
          </a:xfrm>
          <a:prstGeom prst="rect">
            <a:avLst/>
          </a:prstGeom>
          <a:noFill/>
          <a:ln/>
        </p:spPr>
        <p:txBody>
          <a:bodyPr wrap="square" lIns="0" tIns="0" rIns="0" bIns="0" rtlCol="0" anchor="t"/>
          <a:lstStyle/>
          <a:p>
            <a:pPr indent="0" marL="0">
              <a:lnSpc>
                <a:spcPts val="1600"/>
              </a:lnSpc>
              <a:buNone/>
            </a:pPr>
            <a:r>
              <a:rPr lang="en-US" sz="1250" dirty="0">
                <a:solidFill>
                  <a:srgbClr val="5C6E68"/>
                </a:solidFill>
                <a:latin typeface="Calibri" pitchFamily="34" charset="0"/>
                <a:ea typeface="Calibri" pitchFamily="34" charset="-122"/>
                <a:cs typeface="Calibri" pitchFamily="34" charset="-120"/>
              </a:rPr>
              <a:t>Read the audit trail</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6F5"/>
        </a:solidFill>
      </p:bgPr>
    </p:bg>
    <p:spTree>
      <p:nvGrpSpPr>
        <p:cNvPr id="1" name=""/>
        <p:cNvGrpSpPr/>
        <p:nvPr/>
      </p:nvGrpSpPr>
      <p:grpSpPr>
        <a:xfrm>
          <a:off x="0" y="0"/>
          <a:ext cx="0" cy="0"/>
          <a:chOff x="0" y="0"/>
          <a:chExt cx="0" cy="0"/>
        </a:xfrm>
      </p:grpSpPr>
      <p:sp>
        <p:nvSpPr>
          <p:cNvPr id="2" name="Text 0"/>
          <p:cNvSpPr txBox="1"/>
          <p:nvPr/>
        </p:nvSpPr>
        <p:spPr>
          <a:xfrm>
            <a:off x="640080" y="411480"/>
            <a:ext cx="9144000" cy="274320"/>
          </a:xfrm>
          <a:prstGeom prst="rect">
            <a:avLst/>
          </a:prstGeom>
          <a:noFill/>
          <a:ln/>
        </p:spPr>
        <p:txBody>
          <a:bodyPr wrap="square" lIns="0" tIns="0" rIns="0" bIns="0" rtlCol="0" anchor="ctr"/>
          <a:lstStyle/>
          <a:p>
            <a:pPr indent="0" marL="0">
              <a:buNone/>
            </a:pPr>
            <a:r>
              <a:rPr lang="en-US" sz="1100" b="1" spc="200" kern="0" dirty="0">
                <a:solidFill>
                  <a:srgbClr val="0B6E5F"/>
                </a:solidFill>
                <a:latin typeface="Calibri" pitchFamily="34" charset="0"/>
                <a:ea typeface="Calibri" pitchFamily="34" charset="-122"/>
                <a:cs typeface="Calibri" pitchFamily="34" charset="-120"/>
              </a:rPr>
              <a:t>ROLE 3 OF 4</a:t>
            </a:r>
            <a:endParaRPr lang="en-US" sz="11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200" b="1" dirty="0">
                <a:solidFill>
                  <a:srgbClr val="10201C"/>
                </a:solidFill>
                <a:latin typeface="Cambria" pitchFamily="34" charset="0"/>
                <a:ea typeface="Cambria" pitchFamily="34" charset="-122"/>
                <a:cs typeface="Cambria" pitchFamily="34" charset="-120"/>
              </a:rPr>
              <a:t>Department Head</a:t>
            </a:r>
            <a:endParaRPr lang="en-US" sz="3200" dirty="0"/>
          </a:p>
        </p:txBody>
      </p:sp>
      <p:sp>
        <p:nvSpPr>
          <p:cNvPr id="5" name="Shape 2"/>
          <p:cNvSpPr/>
          <p:nvPr/>
        </p:nvSpPr>
        <p:spPr>
          <a:xfrm>
            <a:off x="640080" y="1737360"/>
            <a:ext cx="10881360" cy="868680"/>
          </a:xfrm>
          <a:prstGeom prst="roundRect">
            <a:avLst>
              <a:gd name="adj" fmla="val 6316"/>
            </a:avLst>
          </a:prstGeom>
          <a:solidFill>
            <a:srgbClr val="FFFFFF"/>
          </a:solidFill>
          <a:ln w="9525">
            <a:solidFill>
              <a:srgbClr val="E1E8E6"/>
            </a:solidFill>
            <a:prstDash val="solid"/>
          </a:ln>
          <a:effectLst>
            <a:outerShdw sx="100000" sy="100000" kx="0" ky="0" algn="bl" rotWithShape="0" blurRad="177800" dist="38100" dir="5400000">
              <a:srgbClr val="0A3D36">
                <a:alpha val="10000"/>
              </a:srgbClr>
            </a:outerShdw>
          </a:effectLst>
        </p:spPr>
      </p:sp>
      <p:sp>
        <p:nvSpPr>
          <p:cNvPr id="6" name="Shape 3"/>
          <p:cNvSpPr/>
          <p:nvPr/>
        </p:nvSpPr>
        <p:spPr>
          <a:xfrm>
            <a:off x="960120" y="1920240"/>
            <a:ext cx="1417320" cy="502920"/>
          </a:xfrm>
          <a:prstGeom prst="roundRect">
            <a:avLst>
              <a:gd name="adj" fmla="val 9091"/>
            </a:avLst>
          </a:prstGeom>
          <a:solidFill>
            <a:srgbClr val="0B6E5F"/>
          </a:solidFill>
          <a:ln w="12700">
            <a:solidFill>
              <a:srgbClr val="0B6E5F"/>
            </a:solidFill>
            <a:prstDash val="solid"/>
          </a:ln>
        </p:spPr>
      </p:sp>
      <p:sp>
        <p:nvSpPr>
          <p:cNvPr id="7" name="Text 4"/>
          <p:cNvSpPr txBox="1"/>
          <p:nvPr/>
        </p:nvSpPr>
        <p:spPr>
          <a:xfrm>
            <a:off x="960120" y="1920240"/>
            <a:ext cx="1417320" cy="5029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DEPT HEAD</a:t>
            </a:r>
            <a:endParaRPr lang="en-US" sz="1250" dirty="0"/>
          </a:p>
        </p:txBody>
      </p:sp>
      <p:sp>
        <p:nvSpPr>
          <p:cNvPr id="8" name="Text 5"/>
          <p:cNvSpPr txBox="1"/>
          <p:nvPr/>
        </p:nvSpPr>
        <p:spPr>
          <a:xfrm>
            <a:off x="2606040" y="1920240"/>
            <a:ext cx="8503920" cy="502920"/>
          </a:xfrm>
          <a:prstGeom prst="rect">
            <a:avLst/>
          </a:prstGeom>
          <a:noFill/>
          <a:ln/>
        </p:spPr>
        <p:txBody>
          <a:bodyPr wrap="square" lIns="0" tIns="0" rIns="0" bIns="0" rtlCol="0" anchor="ctr"/>
          <a:lstStyle/>
          <a:p>
            <a:pPr indent="0" marL="0">
              <a:buNone/>
            </a:pPr>
            <a:r>
              <a:rPr lang="en-US" sz="1350" dirty="0">
                <a:solidFill>
                  <a:srgbClr val="5C6E68"/>
                </a:solidFill>
                <a:latin typeface="Calibri" pitchFamily="34" charset="0"/>
                <a:ea typeface="Calibri" pitchFamily="34" charset="-122"/>
                <a:cs typeface="Calibri" pitchFamily="34" charset="-120"/>
              </a:rPr>
              <a:t>Configured, not yet assigned to anyone in the demo. Intended for Alonzo Dimalanta, Department Manager (R6).</a:t>
            </a:r>
            <a:endParaRPr lang="en-US" sz="1350" dirty="0"/>
          </a:p>
        </p:txBody>
      </p:sp>
      <p:sp>
        <p:nvSpPr>
          <p:cNvPr id="9" name="Shape 6"/>
          <p:cNvSpPr/>
          <p:nvPr/>
        </p:nvSpPr>
        <p:spPr>
          <a:xfrm>
            <a:off x="640080" y="2788920"/>
            <a:ext cx="5257800" cy="3200400"/>
          </a:xfrm>
          <a:prstGeom prst="roundRect">
            <a:avLst>
              <a:gd name="adj" fmla="val 1714"/>
            </a:avLst>
          </a:prstGeom>
          <a:solidFill>
            <a:srgbClr val="FFFFFF"/>
          </a:solidFill>
          <a:ln w="9525">
            <a:solidFill>
              <a:srgbClr val="E1E8E6"/>
            </a:solidFill>
            <a:prstDash val="solid"/>
          </a:ln>
          <a:effectLst>
            <a:outerShdw sx="100000" sy="100000" kx="0" ky="0" algn="bl" rotWithShape="0" blurRad="177800" dist="38100" dir="5400000">
              <a:srgbClr val="0A3D36">
                <a:alpha val="10000"/>
              </a:srgbClr>
            </a:outerShdw>
          </a:effectLst>
        </p:spPr>
      </p:sp>
      <p:sp>
        <p:nvSpPr>
          <p:cNvPr id="10" name="Text 7"/>
          <p:cNvSpPr txBox="1"/>
          <p:nvPr/>
        </p:nvSpPr>
        <p:spPr>
          <a:xfrm>
            <a:off x="1005840" y="2999232"/>
            <a:ext cx="2743200" cy="292608"/>
          </a:xfrm>
          <a:prstGeom prst="rect">
            <a:avLst/>
          </a:prstGeom>
          <a:noFill/>
          <a:ln/>
        </p:spPr>
        <p:txBody>
          <a:bodyPr wrap="square" lIns="0" tIns="0" rIns="0" bIns="0" rtlCol="0" anchor="ctr"/>
          <a:lstStyle/>
          <a:p>
            <a:pPr indent="0" marL="0">
              <a:buNone/>
            </a:pPr>
            <a:r>
              <a:rPr lang="en-US" sz="1100" b="1" spc="200" kern="0" dirty="0">
                <a:solidFill>
                  <a:srgbClr val="0B6E5F"/>
                </a:solidFill>
                <a:latin typeface="Calibri" pitchFamily="34" charset="0"/>
                <a:ea typeface="Calibri" pitchFamily="34" charset="-122"/>
                <a:cs typeface="Calibri" pitchFamily="34" charset="-120"/>
              </a:rPr>
              <a:t>CAN</a:t>
            </a:r>
            <a:endParaRPr lang="en-US" sz="1100" dirty="0"/>
          </a:p>
        </p:txBody>
      </p:sp>
      <p:sp>
        <p:nvSpPr>
          <p:cNvPr id="11" name="Shape 8"/>
          <p:cNvSpPr/>
          <p:nvPr/>
        </p:nvSpPr>
        <p:spPr>
          <a:xfrm>
            <a:off x="1005840" y="3502152"/>
            <a:ext cx="137160" cy="137160"/>
          </a:xfrm>
          <a:prstGeom prst="ellipse">
            <a:avLst/>
          </a:prstGeom>
          <a:solidFill>
            <a:srgbClr val="0B6E5F"/>
          </a:solidFill>
          <a:ln w="12700">
            <a:solidFill>
              <a:srgbClr val="0B6E5F"/>
            </a:solidFill>
            <a:prstDash val="solid"/>
          </a:ln>
        </p:spPr>
      </p:sp>
      <p:sp>
        <p:nvSpPr>
          <p:cNvPr id="12" name="Text 9"/>
          <p:cNvSpPr txBox="1"/>
          <p:nvPr/>
        </p:nvSpPr>
        <p:spPr>
          <a:xfrm>
            <a:off x="1298448" y="3401568"/>
            <a:ext cx="4251960" cy="438912"/>
          </a:xfrm>
          <a:prstGeom prst="rect">
            <a:avLst/>
          </a:prstGeom>
          <a:noFill/>
          <a:ln/>
        </p:spPr>
        <p:txBody>
          <a:bodyPr wrap="square" lIns="0" tIns="0" rIns="0" bIns="0" rtlCol="0" anchor="t"/>
          <a:lstStyle/>
          <a:p>
            <a:pPr indent="0" marL="0">
              <a:lnSpc>
                <a:spcPts val="1600"/>
              </a:lnSpc>
              <a:buNone/>
            </a:pPr>
            <a:r>
              <a:rPr lang="en-US" sz="1250" dirty="0">
                <a:solidFill>
                  <a:srgbClr val="5C6E68"/>
                </a:solidFill>
                <a:latin typeface="Calibri" pitchFamily="34" charset="0"/>
                <a:ea typeface="Calibri" pitchFamily="34" charset="-122"/>
                <a:cs typeface="Calibri" pitchFamily="34" charset="-120"/>
              </a:rPr>
              <a:t>See the whole department, across every section</a:t>
            </a:r>
            <a:endParaRPr lang="en-US" sz="1250" dirty="0"/>
          </a:p>
        </p:txBody>
      </p:sp>
      <p:sp>
        <p:nvSpPr>
          <p:cNvPr id="13" name="Shape 10"/>
          <p:cNvSpPr/>
          <p:nvPr/>
        </p:nvSpPr>
        <p:spPr>
          <a:xfrm>
            <a:off x="1005840" y="3977640"/>
            <a:ext cx="137160" cy="137160"/>
          </a:xfrm>
          <a:prstGeom prst="ellipse">
            <a:avLst/>
          </a:prstGeom>
          <a:solidFill>
            <a:srgbClr val="0B6E5F"/>
          </a:solidFill>
          <a:ln w="12700">
            <a:solidFill>
              <a:srgbClr val="0B6E5F"/>
            </a:solidFill>
            <a:prstDash val="solid"/>
          </a:ln>
        </p:spPr>
      </p:sp>
      <p:sp>
        <p:nvSpPr>
          <p:cNvPr id="14" name="Text 11"/>
          <p:cNvSpPr txBox="1"/>
          <p:nvPr/>
        </p:nvSpPr>
        <p:spPr>
          <a:xfrm>
            <a:off x="1298448" y="3877056"/>
            <a:ext cx="4251960" cy="438912"/>
          </a:xfrm>
          <a:prstGeom prst="rect">
            <a:avLst/>
          </a:prstGeom>
          <a:noFill/>
          <a:ln/>
        </p:spPr>
        <p:txBody>
          <a:bodyPr wrap="square" lIns="0" tIns="0" rIns="0" bIns="0" rtlCol="0" anchor="t"/>
          <a:lstStyle/>
          <a:p>
            <a:pPr indent="0" marL="0">
              <a:lnSpc>
                <a:spcPts val="1600"/>
              </a:lnSpc>
              <a:buNone/>
            </a:pPr>
            <a:r>
              <a:rPr lang="en-US" sz="1250" dirty="0">
                <a:solidFill>
                  <a:srgbClr val="5C6E68"/>
                </a:solidFill>
                <a:latin typeface="Calibri" pitchFamily="34" charset="0"/>
                <a:ea typeface="Calibri" pitchFamily="34" charset="-122"/>
                <a:cs typeface="Calibri" pitchFamily="34" charset="-120"/>
              </a:rPr>
              <a:t>Revise, approve or send back an evaluation — your §4.5b</a:t>
            </a:r>
            <a:endParaRPr lang="en-US" sz="1250" dirty="0"/>
          </a:p>
        </p:txBody>
      </p:sp>
      <p:sp>
        <p:nvSpPr>
          <p:cNvPr id="15" name="Shape 12"/>
          <p:cNvSpPr/>
          <p:nvPr/>
        </p:nvSpPr>
        <p:spPr>
          <a:xfrm>
            <a:off x="1005840" y="4453128"/>
            <a:ext cx="137160" cy="137160"/>
          </a:xfrm>
          <a:prstGeom prst="ellipse">
            <a:avLst/>
          </a:prstGeom>
          <a:solidFill>
            <a:srgbClr val="0B6E5F"/>
          </a:solidFill>
          <a:ln w="12700">
            <a:solidFill>
              <a:srgbClr val="0B6E5F"/>
            </a:solidFill>
            <a:prstDash val="solid"/>
          </a:ln>
        </p:spPr>
      </p:sp>
      <p:sp>
        <p:nvSpPr>
          <p:cNvPr id="16" name="Text 13"/>
          <p:cNvSpPr txBox="1"/>
          <p:nvPr/>
        </p:nvSpPr>
        <p:spPr>
          <a:xfrm>
            <a:off x="1298448" y="4352544"/>
            <a:ext cx="4251960" cy="438912"/>
          </a:xfrm>
          <a:prstGeom prst="rect">
            <a:avLst/>
          </a:prstGeom>
          <a:noFill/>
          <a:ln/>
        </p:spPr>
        <p:txBody>
          <a:bodyPr wrap="square" lIns="0" tIns="0" rIns="0" bIns="0" rtlCol="0" anchor="t"/>
          <a:lstStyle/>
          <a:p>
            <a:pPr indent="0" marL="0">
              <a:lnSpc>
                <a:spcPts val="1600"/>
              </a:lnSpc>
              <a:buNone/>
            </a:pPr>
            <a:r>
              <a:rPr lang="en-US" sz="1250" dirty="0">
                <a:solidFill>
                  <a:srgbClr val="5C6E68"/>
                </a:solidFill>
                <a:latin typeface="Calibri" pitchFamily="34" charset="0"/>
                <a:ea typeface="Calibri" pitchFamily="34" charset="-122"/>
                <a:cs typeface="Calibri" pitchFamily="34" charset="-120"/>
              </a:rPr>
              <a:t>Write and approve targets anywhere in the department</a:t>
            </a:r>
            <a:endParaRPr lang="en-US" sz="1250" dirty="0"/>
          </a:p>
        </p:txBody>
      </p:sp>
      <p:sp>
        <p:nvSpPr>
          <p:cNvPr id="17" name="Shape 14"/>
          <p:cNvSpPr/>
          <p:nvPr/>
        </p:nvSpPr>
        <p:spPr>
          <a:xfrm>
            <a:off x="1005840" y="4928616"/>
            <a:ext cx="137160" cy="137160"/>
          </a:xfrm>
          <a:prstGeom prst="ellipse">
            <a:avLst/>
          </a:prstGeom>
          <a:solidFill>
            <a:srgbClr val="0B6E5F"/>
          </a:solidFill>
          <a:ln w="12700">
            <a:solidFill>
              <a:srgbClr val="0B6E5F"/>
            </a:solidFill>
            <a:prstDash val="solid"/>
          </a:ln>
        </p:spPr>
      </p:sp>
      <p:sp>
        <p:nvSpPr>
          <p:cNvPr id="18" name="Text 15"/>
          <p:cNvSpPr txBox="1"/>
          <p:nvPr/>
        </p:nvSpPr>
        <p:spPr>
          <a:xfrm>
            <a:off x="1298448" y="4828032"/>
            <a:ext cx="4251960" cy="438912"/>
          </a:xfrm>
          <a:prstGeom prst="rect">
            <a:avLst/>
          </a:prstGeom>
          <a:noFill/>
          <a:ln/>
        </p:spPr>
        <p:txBody>
          <a:bodyPr wrap="square" lIns="0" tIns="0" rIns="0" bIns="0" rtlCol="0" anchor="t"/>
          <a:lstStyle/>
          <a:p>
            <a:pPr indent="0" marL="0">
              <a:lnSpc>
                <a:spcPts val="1600"/>
              </a:lnSpc>
              <a:buNone/>
            </a:pPr>
            <a:r>
              <a:rPr lang="en-US" sz="1250" dirty="0">
                <a:solidFill>
                  <a:srgbClr val="5C6E68"/>
                </a:solidFill>
                <a:latin typeface="Calibri" pitchFamily="34" charset="0"/>
                <a:ea typeface="Calibri" pitchFamily="34" charset="-122"/>
                <a:cs typeface="Calibri" pitchFamily="34" charset="-120"/>
              </a:rPr>
              <a:t>Read PIPs and feedback across the department</a:t>
            </a:r>
            <a:endParaRPr lang="en-US" sz="1250" dirty="0"/>
          </a:p>
        </p:txBody>
      </p:sp>
      <p:sp>
        <p:nvSpPr>
          <p:cNvPr id="19" name="Shape 16"/>
          <p:cNvSpPr/>
          <p:nvPr/>
        </p:nvSpPr>
        <p:spPr>
          <a:xfrm>
            <a:off x="6263640" y="2788920"/>
            <a:ext cx="5257800" cy="3200400"/>
          </a:xfrm>
          <a:prstGeom prst="roundRect">
            <a:avLst>
              <a:gd name="adj" fmla="val 1714"/>
            </a:avLst>
          </a:prstGeom>
          <a:solidFill>
            <a:srgbClr val="FFFFFF"/>
          </a:solidFill>
          <a:ln w="9525">
            <a:solidFill>
              <a:srgbClr val="E1E8E6"/>
            </a:solidFill>
            <a:prstDash val="solid"/>
          </a:ln>
          <a:effectLst>
            <a:outerShdw sx="100000" sy="100000" kx="0" ky="0" algn="bl" rotWithShape="0" blurRad="177800" dist="38100" dir="5400000">
              <a:srgbClr val="0A3D36">
                <a:alpha val="10000"/>
              </a:srgbClr>
            </a:outerShdw>
          </a:effectLst>
        </p:spPr>
      </p:sp>
      <p:sp>
        <p:nvSpPr>
          <p:cNvPr id="20" name="Text 17"/>
          <p:cNvSpPr txBox="1"/>
          <p:nvPr/>
        </p:nvSpPr>
        <p:spPr>
          <a:xfrm>
            <a:off x="6629400" y="2999232"/>
            <a:ext cx="2743200" cy="292608"/>
          </a:xfrm>
          <a:prstGeom prst="rect">
            <a:avLst/>
          </a:prstGeom>
          <a:noFill/>
          <a:ln/>
        </p:spPr>
        <p:txBody>
          <a:bodyPr wrap="square" lIns="0" tIns="0" rIns="0" bIns="0" rtlCol="0" anchor="ctr"/>
          <a:lstStyle/>
          <a:p>
            <a:pPr indent="0" marL="0">
              <a:buNone/>
            </a:pPr>
            <a:r>
              <a:rPr lang="en-US" sz="1100" b="1" spc="200" kern="0" dirty="0">
                <a:solidFill>
                  <a:srgbClr val="B3761B"/>
                </a:solidFill>
                <a:latin typeface="Calibri" pitchFamily="34" charset="0"/>
                <a:ea typeface="Calibri" pitchFamily="34" charset="-122"/>
                <a:cs typeface="Calibri" pitchFamily="34" charset="-120"/>
              </a:rPr>
              <a:t>CANNOT</a:t>
            </a:r>
            <a:endParaRPr lang="en-US" sz="1100" dirty="0"/>
          </a:p>
        </p:txBody>
      </p:sp>
      <p:sp>
        <p:nvSpPr>
          <p:cNvPr id="21" name="Shape 18"/>
          <p:cNvSpPr/>
          <p:nvPr/>
        </p:nvSpPr>
        <p:spPr>
          <a:xfrm>
            <a:off x="6629400" y="3502152"/>
            <a:ext cx="137160" cy="137160"/>
          </a:xfrm>
          <a:prstGeom prst="ellipse">
            <a:avLst/>
          </a:prstGeom>
          <a:solidFill>
            <a:srgbClr val="B3761B"/>
          </a:solidFill>
          <a:ln w="12700">
            <a:solidFill>
              <a:srgbClr val="B3761B"/>
            </a:solidFill>
            <a:prstDash val="solid"/>
          </a:ln>
        </p:spPr>
      </p:sp>
      <p:sp>
        <p:nvSpPr>
          <p:cNvPr id="22" name="Text 19"/>
          <p:cNvSpPr txBox="1"/>
          <p:nvPr/>
        </p:nvSpPr>
        <p:spPr>
          <a:xfrm>
            <a:off x="6922008" y="3401568"/>
            <a:ext cx="4251960" cy="438912"/>
          </a:xfrm>
          <a:prstGeom prst="rect">
            <a:avLst/>
          </a:prstGeom>
          <a:noFill/>
          <a:ln/>
        </p:spPr>
        <p:txBody>
          <a:bodyPr wrap="square" lIns="0" tIns="0" rIns="0" bIns="0" rtlCol="0" anchor="t"/>
          <a:lstStyle/>
          <a:p>
            <a:pPr indent="0" marL="0">
              <a:lnSpc>
                <a:spcPts val="1600"/>
              </a:lnSpc>
              <a:buNone/>
            </a:pPr>
            <a:r>
              <a:rPr lang="en-US" sz="1250" dirty="0">
                <a:solidFill>
                  <a:srgbClr val="5C6E68"/>
                </a:solidFill>
                <a:latin typeface="Calibri" pitchFamily="34" charset="0"/>
                <a:ea typeface="Calibri" pitchFamily="34" charset="-122"/>
                <a:cs typeface="Calibri" pitchFamily="34" charset="-120"/>
              </a:rPr>
              <a:t>Reach organisation-wide setup — forms, cycles, roles</a:t>
            </a:r>
            <a:endParaRPr lang="en-US" sz="1250" dirty="0"/>
          </a:p>
        </p:txBody>
      </p:sp>
      <p:sp>
        <p:nvSpPr>
          <p:cNvPr id="23" name="Shape 20"/>
          <p:cNvSpPr/>
          <p:nvPr/>
        </p:nvSpPr>
        <p:spPr>
          <a:xfrm>
            <a:off x="6629400" y="3977640"/>
            <a:ext cx="137160" cy="137160"/>
          </a:xfrm>
          <a:prstGeom prst="ellipse">
            <a:avLst/>
          </a:prstGeom>
          <a:solidFill>
            <a:srgbClr val="B3761B"/>
          </a:solidFill>
          <a:ln w="12700">
            <a:solidFill>
              <a:srgbClr val="B3761B"/>
            </a:solidFill>
            <a:prstDash val="solid"/>
          </a:ln>
        </p:spPr>
      </p:sp>
      <p:sp>
        <p:nvSpPr>
          <p:cNvPr id="24" name="Text 21"/>
          <p:cNvSpPr txBox="1"/>
          <p:nvPr/>
        </p:nvSpPr>
        <p:spPr>
          <a:xfrm>
            <a:off x="6922008" y="3877056"/>
            <a:ext cx="4251960" cy="438912"/>
          </a:xfrm>
          <a:prstGeom prst="rect">
            <a:avLst/>
          </a:prstGeom>
          <a:noFill/>
          <a:ln/>
        </p:spPr>
        <p:txBody>
          <a:bodyPr wrap="square" lIns="0" tIns="0" rIns="0" bIns="0" rtlCol="0" anchor="t"/>
          <a:lstStyle/>
          <a:p>
            <a:pPr indent="0" marL="0">
              <a:lnSpc>
                <a:spcPts val="1600"/>
              </a:lnSpc>
              <a:buNone/>
            </a:pPr>
            <a:r>
              <a:rPr lang="en-US" sz="1250" dirty="0">
                <a:solidFill>
                  <a:srgbClr val="5C6E68"/>
                </a:solidFill>
                <a:latin typeface="Calibri" pitchFamily="34" charset="0"/>
                <a:ea typeface="Calibri" pitchFamily="34" charset="-122"/>
                <a:cs typeface="Calibri" pitchFamily="34" charset="-120"/>
              </a:rPr>
              <a:t>Set or reset scoring parameters</a:t>
            </a:r>
            <a:endParaRPr lang="en-US" sz="1250" dirty="0"/>
          </a:p>
        </p:txBody>
      </p:sp>
      <p:sp>
        <p:nvSpPr>
          <p:cNvPr id="25" name="Shape 22"/>
          <p:cNvSpPr/>
          <p:nvPr/>
        </p:nvSpPr>
        <p:spPr>
          <a:xfrm>
            <a:off x="6629400" y="4453128"/>
            <a:ext cx="137160" cy="137160"/>
          </a:xfrm>
          <a:prstGeom prst="ellipse">
            <a:avLst/>
          </a:prstGeom>
          <a:solidFill>
            <a:srgbClr val="B3761B"/>
          </a:solidFill>
          <a:ln w="12700">
            <a:solidFill>
              <a:srgbClr val="B3761B"/>
            </a:solidFill>
            <a:prstDash val="solid"/>
          </a:ln>
        </p:spPr>
      </p:sp>
      <p:sp>
        <p:nvSpPr>
          <p:cNvPr id="26" name="Text 23"/>
          <p:cNvSpPr txBox="1"/>
          <p:nvPr/>
        </p:nvSpPr>
        <p:spPr>
          <a:xfrm>
            <a:off x="6922008" y="4352544"/>
            <a:ext cx="4251960" cy="438912"/>
          </a:xfrm>
          <a:prstGeom prst="rect">
            <a:avLst/>
          </a:prstGeom>
          <a:noFill/>
          <a:ln/>
        </p:spPr>
        <p:txBody>
          <a:bodyPr wrap="square" lIns="0" tIns="0" rIns="0" bIns="0" rtlCol="0" anchor="t"/>
          <a:lstStyle/>
          <a:p>
            <a:pPr indent="0" marL="0">
              <a:lnSpc>
                <a:spcPts val="1600"/>
              </a:lnSpc>
              <a:buNone/>
            </a:pPr>
            <a:r>
              <a:rPr lang="en-US" sz="1250" dirty="0">
                <a:solidFill>
                  <a:srgbClr val="5C6E68"/>
                </a:solidFill>
                <a:latin typeface="Calibri" pitchFamily="34" charset="0"/>
                <a:ea typeface="Calibri" pitchFamily="34" charset="-122"/>
                <a:cs typeface="Calibri" pitchFamily="34" charset="-120"/>
              </a:rPr>
              <a:t>Assign roles to people</a:t>
            </a:r>
            <a:endParaRPr lang="en-US" sz="1250" dirty="0"/>
          </a:p>
        </p:txBody>
      </p:sp>
      <p:sp>
        <p:nvSpPr>
          <p:cNvPr id="27" name="Shape 24"/>
          <p:cNvSpPr/>
          <p:nvPr/>
        </p:nvSpPr>
        <p:spPr>
          <a:xfrm>
            <a:off x="6629400" y="4928616"/>
            <a:ext cx="137160" cy="137160"/>
          </a:xfrm>
          <a:prstGeom prst="ellipse">
            <a:avLst/>
          </a:prstGeom>
          <a:solidFill>
            <a:srgbClr val="B3761B"/>
          </a:solidFill>
          <a:ln w="12700">
            <a:solidFill>
              <a:srgbClr val="B3761B"/>
            </a:solidFill>
            <a:prstDash val="solid"/>
          </a:ln>
        </p:spPr>
      </p:sp>
      <p:sp>
        <p:nvSpPr>
          <p:cNvPr id="28" name="Text 25"/>
          <p:cNvSpPr txBox="1"/>
          <p:nvPr/>
        </p:nvSpPr>
        <p:spPr>
          <a:xfrm>
            <a:off x="6922008" y="4828032"/>
            <a:ext cx="4251960" cy="438912"/>
          </a:xfrm>
          <a:prstGeom prst="rect">
            <a:avLst/>
          </a:prstGeom>
          <a:noFill/>
          <a:ln/>
        </p:spPr>
        <p:txBody>
          <a:bodyPr wrap="square" lIns="0" tIns="0" rIns="0" bIns="0" rtlCol="0" anchor="t"/>
          <a:lstStyle/>
          <a:p>
            <a:pPr indent="0" marL="0">
              <a:lnSpc>
                <a:spcPts val="1600"/>
              </a:lnSpc>
              <a:buNone/>
            </a:pPr>
            <a:r>
              <a:rPr lang="en-US" sz="1250" dirty="0">
                <a:solidFill>
                  <a:srgbClr val="5C6E68"/>
                </a:solidFill>
                <a:latin typeface="Calibri" pitchFamily="34" charset="0"/>
                <a:ea typeface="Calibri" pitchFamily="34" charset="-122"/>
                <a:cs typeface="Calibri" pitchFamily="34" charset="-120"/>
              </a:rPr>
              <a:t>See another department</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6F5"/>
        </a:solidFill>
      </p:bgPr>
    </p:bg>
    <p:spTree>
      <p:nvGrpSpPr>
        <p:cNvPr id="1" name=""/>
        <p:cNvGrpSpPr/>
        <p:nvPr/>
      </p:nvGrpSpPr>
      <p:grpSpPr>
        <a:xfrm>
          <a:off x="0" y="0"/>
          <a:ext cx="0" cy="0"/>
          <a:chOff x="0" y="0"/>
          <a:chExt cx="0" cy="0"/>
        </a:xfrm>
      </p:grpSpPr>
      <p:sp>
        <p:nvSpPr>
          <p:cNvPr id="2" name="Text 0"/>
          <p:cNvSpPr txBox="1"/>
          <p:nvPr/>
        </p:nvSpPr>
        <p:spPr>
          <a:xfrm>
            <a:off x="640080" y="411480"/>
            <a:ext cx="9144000" cy="274320"/>
          </a:xfrm>
          <a:prstGeom prst="rect">
            <a:avLst/>
          </a:prstGeom>
          <a:noFill/>
          <a:ln/>
        </p:spPr>
        <p:txBody>
          <a:bodyPr wrap="square" lIns="0" tIns="0" rIns="0" bIns="0" rtlCol="0" anchor="ctr"/>
          <a:lstStyle/>
          <a:p>
            <a:pPr indent="0" marL="0">
              <a:buNone/>
            </a:pPr>
            <a:r>
              <a:rPr lang="en-US" sz="1100" b="1" spc="200" kern="0" dirty="0">
                <a:solidFill>
                  <a:srgbClr val="0B6E5F"/>
                </a:solidFill>
                <a:latin typeface="Calibri" pitchFamily="34" charset="0"/>
                <a:ea typeface="Calibri" pitchFamily="34" charset="-122"/>
                <a:cs typeface="Calibri" pitchFamily="34" charset="-120"/>
              </a:rPr>
              <a:t>ROLE 4 OF 4</a:t>
            </a:r>
            <a:endParaRPr lang="en-US" sz="11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200" b="1" dirty="0">
                <a:solidFill>
                  <a:srgbClr val="10201C"/>
                </a:solidFill>
                <a:latin typeface="Cambria" pitchFamily="34" charset="0"/>
                <a:ea typeface="Cambria" pitchFamily="34" charset="-122"/>
                <a:cs typeface="Cambria" pitchFamily="34" charset="-120"/>
              </a:rPr>
              <a:t>HCM Administrator</a:t>
            </a:r>
            <a:endParaRPr lang="en-US" sz="3200" dirty="0"/>
          </a:p>
        </p:txBody>
      </p:sp>
      <p:sp>
        <p:nvSpPr>
          <p:cNvPr id="5" name="Shape 2"/>
          <p:cNvSpPr/>
          <p:nvPr/>
        </p:nvSpPr>
        <p:spPr>
          <a:xfrm>
            <a:off x="640080" y="1737360"/>
            <a:ext cx="10881360" cy="868680"/>
          </a:xfrm>
          <a:prstGeom prst="roundRect">
            <a:avLst>
              <a:gd name="adj" fmla="val 6316"/>
            </a:avLst>
          </a:prstGeom>
          <a:solidFill>
            <a:srgbClr val="FFFFFF"/>
          </a:solidFill>
          <a:ln w="9525">
            <a:solidFill>
              <a:srgbClr val="E1E8E6"/>
            </a:solidFill>
            <a:prstDash val="solid"/>
          </a:ln>
          <a:effectLst>
            <a:outerShdw sx="100000" sy="100000" kx="0" ky="0" algn="bl" rotWithShape="0" blurRad="177800" dist="38100" dir="5400000">
              <a:srgbClr val="0A3D36">
                <a:alpha val="10000"/>
              </a:srgbClr>
            </a:outerShdw>
          </a:effectLst>
        </p:spPr>
      </p:sp>
      <p:sp>
        <p:nvSpPr>
          <p:cNvPr id="6" name="Shape 3"/>
          <p:cNvSpPr/>
          <p:nvPr/>
        </p:nvSpPr>
        <p:spPr>
          <a:xfrm>
            <a:off x="960120" y="1920240"/>
            <a:ext cx="1417320" cy="502920"/>
          </a:xfrm>
          <a:prstGeom prst="roundRect">
            <a:avLst>
              <a:gd name="adj" fmla="val 9091"/>
            </a:avLst>
          </a:prstGeom>
          <a:solidFill>
            <a:srgbClr val="B3761B"/>
          </a:solidFill>
          <a:ln w="12700">
            <a:solidFill>
              <a:srgbClr val="B3761B"/>
            </a:solidFill>
            <a:prstDash val="solid"/>
          </a:ln>
        </p:spPr>
      </p:sp>
      <p:sp>
        <p:nvSpPr>
          <p:cNvPr id="7" name="Text 4"/>
          <p:cNvSpPr txBox="1"/>
          <p:nvPr/>
        </p:nvSpPr>
        <p:spPr>
          <a:xfrm>
            <a:off x="960120" y="1920240"/>
            <a:ext cx="1417320" cy="5029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HCM</a:t>
            </a:r>
            <a:endParaRPr lang="en-US" sz="1250" dirty="0"/>
          </a:p>
        </p:txBody>
      </p:sp>
      <p:sp>
        <p:nvSpPr>
          <p:cNvPr id="8" name="Text 5"/>
          <p:cNvSpPr txBox="1"/>
          <p:nvPr/>
        </p:nvSpPr>
        <p:spPr>
          <a:xfrm>
            <a:off x="2606040" y="1920240"/>
            <a:ext cx="8503920" cy="502920"/>
          </a:xfrm>
          <a:prstGeom prst="rect">
            <a:avLst/>
          </a:prstGeom>
          <a:noFill/>
          <a:ln/>
        </p:spPr>
        <p:txBody>
          <a:bodyPr wrap="square" lIns="0" tIns="0" rIns="0" bIns="0" rtlCol="0" anchor="ctr"/>
          <a:lstStyle/>
          <a:p>
            <a:pPr indent="0" marL="0">
              <a:buNone/>
            </a:pPr>
            <a:r>
              <a:rPr lang="en-US" sz="1350" dirty="0">
                <a:solidFill>
                  <a:srgbClr val="5C6E68"/>
                </a:solidFill>
                <a:latin typeface="Calibri" pitchFamily="34" charset="0"/>
                <a:ea typeface="Calibri" pitchFamily="34" charset="-122"/>
                <a:cs typeface="Calibri" pitchFamily="34" charset="-120"/>
              </a:rPr>
              <a:t>One person — Alonzo Dimalanta. Deliberately: this is the role that can change how everyone else is evaluated.</a:t>
            </a:r>
            <a:endParaRPr lang="en-US" sz="1350" dirty="0"/>
          </a:p>
        </p:txBody>
      </p:sp>
      <p:sp>
        <p:nvSpPr>
          <p:cNvPr id="9" name="Shape 6"/>
          <p:cNvSpPr/>
          <p:nvPr/>
        </p:nvSpPr>
        <p:spPr>
          <a:xfrm>
            <a:off x="640080" y="2788920"/>
            <a:ext cx="5257800" cy="3200400"/>
          </a:xfrm>
          <a:prstGeom prst="roundRect">
            <a:avLst>
              <a:gd name="adj" fmla="val 1714"/>
            </a:avLst>
          </a:prstGeom>
          <a:solidFill>
            <a:srgbClr val="FFFFFF"/>
          </a:solidFill>
          <a:ln w="9525">
            <a:solidFill>
              <a:srgbClr val="E1E8E6"/>
            </a:solidFill>
            <a:prstDash val="solid"/>
          </a:ln>
          <a:effectLst>
            <a:outerShdw sx="100000" sy="100000" kx="0" ky="0" algn="bl" rotWithShape="0" blurRad="177800" dist="38100" dir="5400000">
              <a:srgbClr val="0A3D36">
                <a:alpha val="10000"/>
              </a:srgbClr>
            </a:outerShdw>
          </a:effectLst>
        </p:spPr>
      </p:sp>
      <p:sp>
        <p:nvSpPr>
          <p:cNvPr id="10" name="Text 7"/>
          <p:cNvSpPr txBox="1"/>
          <p:nvPr/>
        </p:nvSpPr>
        <p:spPr>
          <a:xfrm>
            <a:off x="1005840" y="2999232"/>
            <a:ext cx="2743200" cy="292608"/>
          </a:xfrm>
          <a:prstGeom prst="rect">
            <a:avLst/>
          </a:prstGeom>
          <a:noFill/>
          <a:ln/>
        </p:spPr>
        <p:txBody>
          <a:bodyPr wrap="square" lIns="0" tIns="0" rIns="0" bIns="0" rtlCol="0" anchor="ctr"/>
          <a:lstStyle/>
          <a:p>
            <a:pPr indent="0" marL="0">
              <a:buNone/>
            </a:pPr>
            <a:r>
              <a:rPr lang="en-US" sz="1100" b="1" spc="200" kern="0" dirty="0">
                <a:solidFill>
                  <a:srgbClr val="0B6E5F"/>
                </a:solidFill>
                <a:latin typeface="Calibri" pitchFamily="34" charset="0"/>
                <a:ea typeface="Calibri" pitchFamily="34" charset="-122"/>
                <a:cs typeface="Calibri" pitchFamily="34" charset="-120"/>
              </a:rPr>
              <a:t>CAN</a:t>
            </a:r>
            <a:endParaRPr lang="en-US" sz="1100" dirty="0"/>
          </a:p>
        </p:txBody>
      </p:sp>
      <p:sp>
        <p:nvSpPr>
          <p:cNvPr id="11" name="Shape 8"/>
          <p:cNvSpPr/>
          <p:nvPr/>
        </p:nvSpPr>
        <p:spPr>
          <a:xfrm>
            <a:off x="1005840" y="3502152"/>
            <a:ext cx="137160" cy="137160"/>
          </a:xfrm>
          <a:prstGeom prst="ellipse">
            <a:avLst/>
          </a:prstGeom>
          <a:solidFill>
            <a:srgbClr val="0B6E5F"/>
          </a:solidFill>
          <a:ln w="12700">
            <a:solidFill>
              <a:srgbClr val="0B6E5F"/>
            </a:solidFill>
            <a:prstDash val="solid"/>
          </a:ln>
        </p:spPr>
      </p:sp>
      <p:sp>
        <p:nvSpPr>
          <p:cNvPr id="12" name="Text 9"/>
          <p:cNvSpPr txBox="1"/>
          <p:nvPr/>
        </p:nvSpPr>
        <p:spPr>
          <a:xfrm>
            <a:off x="1298448" y="3401568"/>
            <a:ext cx="4251960" cy="438912"/>
          </a:xfrm>
          <a:prstGeom prst="rect">
            <a:avLst/>
          </a:prstGeom>
          <a:noFill/>
          <a:ln/>
        </p:spPr>
        <p:txBody>
          <a:bodyPr wrap="square" lIns="0" tIns="0" rIns="0" bIns="0" rtlCol="0" anchor="t"/>
          <a:lstStyle/>
          <a:p>
            <a:pPr indent="0" marL="0">
              <a:lnSpc>
                <a:spcPts val="1600"/>
              </a:lnSpc>
              <a:buNone/>
            </a:pPr>
            <a:r>
              <a:rPr lang="en-US" sz="1250" dirty="0">
                <a:solidFill>
                  <a:srgbClr val="5C6E68"/>
                </a:solidFill>
                <a:latin typeface="Calibri" pitchFamily="34" charset="0"/>
                <a:ea typeface="Calibri" pitchFamily="34" charset="-122"/>
                <a:cs typeface="Calibri" pitchFamily="34" charset="-120"/>
              </a:rPr>
              <a:t>See every employee and every result in the organisation</a:t>
            </a:r>
            <a:endParaRPr lang="en-US" sz="1250" dirty="0"/>
          </a:p>
        </p:txBody>
      </p:sp>
      <p:sp>
        <p:nvSpPr>
          <p:cNvPr id="13" name="Shape 10"/>
          <p:cNvSpPr/>
          <p:nvPr/>
        </p:nvSpPr>
        <p:spPr>
          <a:xfrm>
            <a:off x="1005840" y="3977640"/>
            <a:ext cx="137160" cy="137160"/>
          </a:xfrm>
          <a:prstGeom prst="ellipse">
            <a:avLst/>
          </a:prstGeom>
          <a:solidFill>
            <a:srgbClr val="0B6E5F"/>
          </a:solidFill>
          <a:ln w="12700">
            <a:solidFill>
              <a:srgbClr val="0B6E5F"/>
            </a:solidFill>
            <a:prstDash val="solid"/>
          </a:ln>
        </p:spPr>
      </p:sp>
      <p:sp>
        <p:nvSpPr>
          <p:cNvPr id="14" name="Text 11"/>
          <p:cNvSpPr txBox="1"/>
          <p:nvPr/>
        </p:nvSpPr>
        <p:spPr>
          <a:xfrm>
            <a:off x="1298448" y="3877056"/>
            <a:ext cx="4251960" cy="438912"/>
          </a:xfrm>
          <a:prstGeom prst="rect">
            <a:avLst/>
          </a:prstGeom>
          <a:noFill/>
          <a:ln/>
        </p:spPr>
        <p:txBody>
          <a:bodyPr wrap="square" lIns="0" tIns="0" rIns="0" bIns="0" rtlCol="0" anchor="t"/>
          <a:lstStyle/>
          <a:p>
            <a:pPr indent="0" marL="0">
              <a:lnSpc>
                <a:spcPts val="1600"/>
              </a:lnSpc>
              <a:buNone/>
            </a:pPr>
            <a:r>
              <a:rPr lang="en-US" sz="1250" dirty="0">
                <a:solidFill>
                  <a:srgbClr val="5C6E68"/>
                </a:solidFill>
                <a:latin typeface="Calibri" pitchFamily="34" charset="0"/>
                <a:ea typeface="Calibri" pitchFamily="34" charset="-122"/>
                <a:cs typeface="Calibri" pitchFamily="34" charset="-120"/>
              </a:rPr>
              <a:t>Approve targets as the second gate, and send them back with a note</a:t>
            </a:r>
            <a:endParaRPr lang="en-US" sz="1250" dirty="0"/>
          </a:p>
        </p:txBody>
      </p:sp>
      <p:sp>
        <p:nvSpPr>
          <p:cNvPr id="15" name="Shape 12"/>
          <p:cNvSpPr/>
          <p:nvPr/>
        </p:nvSpPr>
        <p:spPr>
          <a:xfrm>
            <a:off x="1005840" y="4453128"/>
            <a:ext cx="137160" cy="137160"/>
          </a:xfrm>
          <a:prstGeom prst="ellipse">
            <a:avLst/>
          </a:prstGeom>
          <a:solidFill>
            <a:srgbClr val="0B6E5F"/>
          </a:solidFill>
          <a:ln w="12700">
            <a:solidFill>
              <a:srgbClr val="0B6E5F"/>
            </a:solidFill>
            <a:prstDash val="solid"/>
          </a:ln>
        </p:spPr>
      </p:sp>
      <p:sp>
        <p:nvSpPr>
          <p:cNvPr id="16" name="Text 13"/>
          <p:cNvSpPr txBox="1"/>
          <p:nvPr/>
        </p:nvSpPr>
        <p:spPr>
          <a:xfrm>
            <a:off x="1298448" y="4352544"/>
            <a:ext cx="4251960" cy="438912"/>
          </a:xfrm>
          <a:prstGeom prst="rect">
            <a:avLst/>
          </a:prstGeom>
          <a:noFill/>
          <a:ln/>
        </p:spPr>
        <p:txBody>
          <a:bodyPr wrap="square" lIns="0" tIns="0" rIns="0" bIns="0" rtlCol="0" anchor="t"/>
          <a:lstStyle/>
          <a:p>
            <a:pPr indent="0" marL="0">
              <a:lnSpc>
                <a:spcPts val="1600"/>
              </a:lnSpc>
              <a:buNone/>
            </a:pPr>
            <a:r>
              <a:rPr lang="en-US" sz="1250" dirty="0">
                <a:solidFill>
                  <a:srgbClr val="5C6E68"/>
                </a:solidFill>
                <a:latin typeface="Calibri" pitchFamily="34" charset="0"/>
                <a:ea typeface="Calibri" pitchFamily="34" charset="-122"/>
                <a:cs typeface="Calibri" pitchFamily="34" charset="-120"/>
              </a:rPr>
              <a:t>Approve and release evaluations</a:t>
            </a:r>
            <a:endParaRPr lang="en-US" sz="1250" dirty="0"/>
          </a:p>
        </p:txBody>
      </p:sp>
      <p:sp>
        <p:nvSpPr>
          <p:cNvPr id="17" name="Shape 14"/>
          <p:cNvSpPr/>
          <p:nvPr/>
        </p:nvSpPr>
        <p:spPr>
          <a:xfrm>
            <a:off x="1005840" y="4928616"/>
            <a:ext cx="137160" cy="137160"/>
          </a:xfrm>
          <a:prstGeom prst="ellipse">
            <a:avLst/>
          </a:prstGeom>
          <a:solidFill>
            <a:srgbClr val="0B6E5F"/>
          </a:solidFill>
          <a:ln w="12700">
            <a:solidFill>
              <a:srgbClr val="0B6E5F"/>
            </a:solidFill>
            <a:prstDash val="solid"/>
          </a:ln>
        </p:spPr>
      </p:sp>
      <p:sp>
        <p:nvSpPr>
          <p:cNvPr id="18" name="Text 15"/>
          <p:cNvSpPr txBox="1"/>
          <p:nvPr/>
        </p:nvSpPr>
        <p:spPr>
          <a:xfrm>
            <a:off x="1298448" y="4828032"/>
            <a:ext cx="4251960" cy="438912"/>
          </a:xfrm>
          <a:prstGeom prst="rect">
            <a:avLst/>
          </a:prstGeom>
          <a:noFill/>
          <a:ln/>
        </p:spPr>
        <p:txBody>
          <a:bodyPr wrap="square" lIns="0" tIns="0" rIns="0" bIns="0" rtlCol="0" anchor="t"/>
          <a:lstStyle/>
          <a:p>
            <a:pPr indent="0" marL="0">
              <a:lnSpc>
                <a:spcPts val="1600"/>
              </a:lnSpc>
              <a:buNone/>
            </a:pPr>
            <a:r>
              <a:rPr lang="en-US" sz="1250" dirty="0">
                <a:solidFill>
                  <a:srgbClr val="5C6E68"/>
                </a:solidFill>
                <a:latin typeface="Calibri" pitchFamily="34" charset="0"/>
                <a:ea typeface="Calibri" pitchFamily="34" charset="-122"/>
                <a:cs typeface="Calibri" pitchFamily="34" charset="-120"/>
              </a:rPr>
              <a:t>Build forms and rating scales, open cycles and goal periods</a:t>
            </a:r>
            <a:endParaRPr lang="en-US" sz="1250" dirty="0"/>
          </a:p>
        </p:txBody>
      </p:sp>
      <p:sp>
        <p:nvSpPr>
          <p:cNvPr id="19" name="Shape 16"/>
          <p:cNvSpPr/>
          <p:nvPr/>
        </p:nvSpPr>
        <p:spPr>
          <a:xfrm>
            <a:off x="1005840" y="5404104"/>
            <a:ext cx="137160" cy="137160"/>
          </a:xfrm>
          <a:prstGeom prst="ellipse">
            <a:avLst/>
          </a:prstGeom>
          <a:solidFill>
            <a:srgbClr val="0B6E5F"/>
          </a:solidFill>
          <a:ln w="12700">
            <a:solidFill>
              <a:srgbClr val="0B6E5F"/>
            </a:solidFill>
            <a:prstDash val="solid"/>
          </a:ln>
        </p:spPr>
      </p:sp>
      <p:sp>
        <p:nvSpPr>
          <p:cNvPr id="20" name="Text 17"/>
          <p:cNvSpPr txBox="1"/>
          <p:nvPr/>
        </p:nvSpPr>
        <p:spPr>
          <a:xfrm>
            <a:off x="1298448" y="5303520"/>
            <a:ext cx="4251960" cy="438912"/>
          </a:xfrm>
          <a:prstGeom prst="rect">
            <a:avLst/>
          </a:prstGeom>
          <a:noFill/>
          <a:ln/>
        </p:spPr>
        <p:txBody>
          <a:bodyPr wrap="square" lIns="0" tIns="0" rIns="0" bIns="0" rtlCol="0" anchor="t"/>
          <a:lstStyle/>
          <a:p>
            <a:pPr indent="0" marL="0">
              <a:lnSpc>
                <a:spcPts val="1600"/>
              </a:lnSpc>
              <a:buNone/>
            </a:pPr>
            <a:r>
              <a:rPr lang="en-US" sz="1250" dirty="0">
                <a:solidFill>
                  <a:srgbClr val="5C6E68"/>
                </a:solidFill>
                <a:latin typeface="Calibri" pitchFamily="34" charset="0"/>
                <a:ea typeface="Calibri" pitchFamily="34" charset="-122"/>
                <a:cs typeface="Calibri" pitchFamily="34" charset="-120"/>
              </a:rPr>
              <a:t>Load staff, edit the org chart, ranks and positions</a:t>
            </a:r>
            <a:endParaRPr lang="en-US" sz="1250" dirty="0"/>
          </a:p>
        </p:txBody>
      </p:sp>
      <p:sp>
        <p:nvSpPr>
          <p:cNvPr id="21" name="Shape 18"/>
          <p:cNvSpPr/>
          <p:nvPr/>
        </p:nvSpPr>
        <p:spPr>
          <a:xfrm>
            <a:off x="1005840" y="5879592"/>
            <a:ext cx="137160" cy="137160"/>
          </a:xfrm>
          <a:prstGeom prst="ellipse">
            <a:avLst/>
          </a:prstGeom>
          <a:solidFill>
            <a:srgbClr val="0B6E5F"/>
          </a:solidFill>
          <a:ln w="12700">
            <a:solidFill>
              <a:srgbClr val="0B6E5F"/>
            </a:solidFill>
            <a:prstDash val="solid"/>
          </a:ln>
        </p:spPr>
      </p:sp>
      <p:sp>
        <p:nvSpPr>
          <p:cNvPr id="22" name="Text 19"/>
          <p:cNvSpPr txBox="1"/>
          <p:nvPr/>
        </p:nvSpPr>
        <p:spPr>
          <a:xfrm>
            <a:off x="1298448" y="5779008"/>
            <a:ext cx="4251960" cy="438912"/>
          </a:xfrm>
          <a:prstGeom prst="rect">
            <a:avLst/>
          </a:prstGeom>
          <a:noFill/>
          <a:ln/>
        </p:spPr>
        <p:txBody>
          <a:bodyPr wrap="square" lIns="0" tIns="0" rIns="0" bIns="0" rtlCol="0" anchor="t"/>
          <a:lstStyle/>
          <a:p>
            <a:pPr indent="0" marL="0">
              <a:lnSpc>
                <a:spcPts val="1600"/>
              </a:lnSpc>
              <a:buNone/>
            </a:pPr>
            <a:r>
              <a:rPr lang="en-US" sz="1250" dirty="0">
                <a:solidFill>
                  <a:srgbClr val="5C6E68"/>
                </a:solidFill>
                <a:latin typeface="Calibri" pitchFamily="34" charset="0"/>
                <a:ea typeface="Calibri" pitchFamily="34" charset="-122"/>
                <a:cs typeface="Calibri" pitchFamily="34" charset="-120"/>
              </a:rPr>
              <a:t>Assign roles, and read the full audit trail</a:t>
            </a:r>
            <a:endParaRPr lang="en-US" sz="1250" dirty="0"/>
          </a:p>
        </p:txBody>
      </p:sp>
      <p:sp>
        <p:nvSpPr>
          <p:cNvPr id="23" name="Shape 20"/>
          <p:cNvSpPr/>
          <p:nvPr/>
        </p:nvSpPr>
        <p:spPr>
          <a:xfrm>
            <a:off x="6263640" y="2788920"/>
            <a:ext cx="5257800" cy="3200400"/>
          </a:xfrm>
          <a:prstGeom prst="roundRect">
            <a:avLst>
              <a:gd name="adj" fmla="val 1714"/>
            </a:avLst>
          </a:prstGeom>
          <a:solidFill>
            <a:srgbClr val="FFFFFF"/>
          </a:solidFill>
          <a:ln w="9525">
            <a:solidFill>
              <a:srgbClr val="E1E8E6"/>
            </a:solidFill>
            <a:prstDash val="solid"/>
          </a:ln>
          <a:effectLst>
            <a:outerShdw sx="100000" sy="100000" kx="0" ky="0" algn="bl" rotWithShape="0" blurRad="177800" dist="38100" dir="5400000">
              <a:srgbClr val="0A3D36">
                <a:alpha val="10000"/>
              </a:srgbClr>
            </a:outerShdw>
          </a:effectLst>
        </p:spPr>
      </p:sp>
      <p:sp>
        <p:nvSpPr>
          <p:cNvPr id="24" name="Text 21"/>
          <p:cNvSpPr txBox="1"/>
          <p:nvPr/>
        </p:nvSpPr>
        <p:spPr>
          <a:xfrm>
            <a:off x="6629400" y="2999232"/>
            <a:ext cx="2743200" cy="292608"/>
          </a:xfrm>
          <a:prstGeom prst="rect">
            <a:avLst/>
          </a:prstGeom>
          <a:noFill/>
          <a:ln/>
        </p:spPr>
        <p:txBody>
          <a:bodyPr wrap="square" lIns="0" tIns="0" rIns="0" bIns="0" rtlCol="0" anchor="ctr"/>
          <a:lstStyle/>
          <a:p>
            <a:pPr indent="0" marL="0">
              <a:buNone/>
            </a:pPr>
            <a:r>
              <a:rPr lang="en-US" sz="1100" b="1" spc="200" kern="0" dirty="0">
                <a:solidFill>
                  <a:srgbClr val="B3761B"/>
                </a:solidFill>
                <a:latin typeface="Calibri" pitchFamily="34" charset="0"/>
                <a:ea typeface="Calibri" pitchFamily="34" charset="-122"/>
                <a:cs typeface="Calibri" pitchFamily="34" charset="-120"/>
              </a:rPr>
              <a:t>CANNOT</a:t>
            </a:r>
            <a:endParaRPr lang="en-US" sz="1100" dirty="0"/>
          </a:p>
        </p:txBody>
      </p:sp>
      <p:sp>
        <p:nvSpPr>
          <p:cNvPr id="25" name="Shape 22"/>
          <p:cNvSpPr/>
          <p:nvPr/>
        </p:nvSpPr>
        <p:spPr>
          <a:xfrm>
            <a:off x="6629400" y="3502152"/>
            <a:ext cx="137160" cy="137160"/>
          </a:xfrm>
          <a:prstGeom prst="ellipse">
            <a:avLst/>
          </a:prstGeom>
          <a:solidFill>
            <a:srgbClr val="B3761B"/>
          </a:solidFill>
          <a:ln w="12700">
            <a:solidFill>
              <a:srgbClr val="B3761B"/>
            </a:solidFill>
            <a:prstDash val="solid"/>
          </a:ln>
        </p:spPr>
      </p:sp>
      <p:sp>
        <p:nvSpPr>
          <p:cNvPr id="26" name="Text 23"/>
          <p:cNvSpPr txBox="1"/>
          <p:nvPr/>
        </p:nvSpPr>
        <p:spPr>
          <a:xfrm>
            <a:off x="6922008" y="3401568"/>
            <a:ext cx="4251960" cy="438912"/>
          </a:xfrm>
          <a:prstGeom prst="rect">
            <a:avLst/>
          </a:prstGeom>
          <a:noFill/>
          <a:ln/>
        </p:spPr>
        <p:txBody>
          <a:bodyPr wrap="square" lIns="0" tIns="0" rIns="0" bIns="0" rtlCol="0" anchor="t"/>
          <a:lstStyle/>
          <a:p>
            <a:pPr indent="0" marL="0">
              <a:lnSpc>
                <a:spcPts val="1600"/>
              </a:lnSpc>
              <a:buNone/>
            </a:pPr>
            <a:r>
              <a:rPr lang="en-US" sz="1250" dirty="0">
                <a:solidFill>
                  <a:srgbClr val="5C6E68"/>
                </a:solidFill>
                <a:latin typeface="Calibri" pitchFamily="34" charset="0"/>
                <a:ea typeface="Calibri" pitchFamily="34" charset="-122"/>
                <a:cs typeface="Calibri" pitchFamily="34" charset="-120"/>
              </a:rPr>
              <a:t>Set or reset scoring parameters — a separate, narrower capability exists for that, per your §3.8</a:t>
            </a:r>
            <a:endParaRPr lang="en-US" sz="1250" dirty="0"/>
          </a:p>
        </p:txBody>
      </p:sp>
      <p:sp>
        <p:nvSpPr>
          <p:cNvPr id="27" name="Shape 24"/>
          <p:cNvSpPr/>
          <p:nvPr/>
        </p:nvSpPr>
        <p:spPr>
          <a:xfrm>
            <a:off x="6629400" y="3977640"/>
            <a:ext cx="137160" cy="137160"/>
          </a:xfrm>
          <a:prstGeom prst="ellipse">
            <a:avLst/>
          </a:prstGeom>
          <a:solidFill>
            <a:srgbClr val="B3761B"/>
          </a:solidFill>
          <a:ln w="12700">
            <a:solidFill>
              <a:srgbClr val="B3761B"/>
            </a:solidFill>
            <a:prstDash val="solid"/>
          </a:ln>
        </p:spPr>
      </p:sp>
      <p:sp>
        <p:nvSpPr>
          <p:cNvPr id="28" name="Text 25"/>
          <p:cNvSpPr txBox="1"/>
          <p:nvPr/>
        </p:nvSpPr>
        <p:spPr>
          <a:xfrm>
            <a:off x="6922008" y="3877056"/>
            <a:ext cx="4251960" cy="438912"/>
          </a:xfrm>
          <a:prstGeom prst="rect">
            <a:avLst/>
          </a:prstGeom>
          <a:noFill/>
          <a:ln/>
        </p:spPr>
        <p:txBody>
          <a:bodyPr wrap="square" lIns="0" tIns="0" rIns="0" bIns="0" rtlCol="0" anchor="t"/>
          <a:lstStyle/>
          <a:p>
            <a:pPr indent="0" marL="0">
              <a:lnSpc>
                <a:spcPts val="1600"/>
              </a:lnSpc>
              <a:buNone/>
            </a:pPr>
            <a:r>
              <a:rPr lang="en-US" sz="1250" dirty="0">
                <a:solidFill>
                  <a:srgbClr val="5C6E68"/>
                </a:solidFill>
                <a:latin typeface="Calibri" pitchFamily="34" charset="0"/>
                <a:ea typeface="Calibri" pitchFamily="34" charset="-122"/>
                <a:cs typeface="Calibri" pitchFamily="34" charset="-120"/>
              </a:rPr>
              <a:t>See into another company’s data, at any level</a:t>
            </a:r>
            <a:endParaRPr lang="en-US" sz="1250" dirty="0"/>
          </a:p>
        </p:txBody>
      </p:sp>
      <p:sp>
        <p:nvSpPr>
          <p:cNvPr id="29" name="Shape 26"/>
          <p:cNvSpPr/>
          <p:nvPr/>
        </p:nvSpPr>
        <p:spPr>
          <a:xfrm>
            <a:off x="6629400" y="4453128"/>
            <a:ext cx="137160" cy="137160"/>
          </a:xfrm>
          <a:prstGeom prst="ellipse">
            <a:avLst/>
          </a:prstGeom>
          <a:solidFill>
            <a:srgbClr val="B3761B"/>
          </a:solidFill>
          <a:ln w="12700">
            <a:solidFill>
              <a:srgbClr val="B3761B"/>
            </a:solidFill>
            <a:prstDash val="solid"/>
          </a:ln>
        </p:spPr>
      </p:sp>
      <p:sp>
        <p:nvSpPr>
          <p:cNvPr id="30" name="Text 27"/>
          <p:cNvSpPr txBox="1"/>
          <p:nvPr/>
        </p:nvSpPr>
        <p:spPr>
          <a:xfrm>
            <a:off x="6922008" y="4352544"/>
            <a:ext cx="4251960" cy="438912"/>
          </a:xfrm>
          <a:prstGeom prst="rect">
            <a:avLst/>
          </a:prstGeom>
          <a:noFill/>
          <a:ln/>
        </p:spPr>
        <p:txBody>
          <a:bodyPr wrap="square" lIns="0" tIns="0" rIns="0" bIns="0" rtlCol="0" anchor="t"/>
          <a:lstStyle/>
          <a:p>
            <a:pPr indent="0" marL="0">
              <a:lnSpc>
                <a:spcPts val="1600"/>
              </a:lnSpc>
              <a:buNone/>
            </a:pPr>
            <a:r>
              <a:rPr lang="en-US" sz="1250" dirty="0">
                <a:solidFill>
                  <a:srgbClr val="5C6E68"/>
                </a:solidFill>
                <a:latin typeface="Calibri" pitchFamily="34" charset="0"/>
                <a:ea typeface="Calibri" pitchFamily="34" charset="-122"/>
                <a:cs typeface="Calibri" pitchFamily="34" charset="-120"/>
              </a:rPr>
              <a:t>Delete a record so that it disappears; records close, and history stays</a:t>
            </a:r>
            <a:endParaRPr lang="en-US" sz="1250" dirty="0"/>
          </a:p>
        </p:txBody>
      </p:sp>
      <p:sp>
        <p:nvSpPr>
          <p:cNvPr id="31" name="Shape 28"/>
          <p:cNvSpPr/>
          <p:nvPr/>
        </p:nvSpPr>
        <p:spPr>
          <a:xfrm>
            <a:off x="6629400" y="4928616"/>
            <a:ext cx="137160" cy="137160"/>
          </a:xfrm>
          <a:prstGeom prst="ellipse">
            <a:avLst/>
          </a:prstGeom>
          <a:solidFill>
            <a:srgbClr val="B3761B"/>
          </a:solidFill>
          <a:ln w="12700">
            <a:solidFill>
              <a:srgbClr val="B3761B"/>
            </a:solidFill>
            <a:prstDash val="solid"/>
          </a:ln>
        </p:spPr>
      </p:sp>
      <p:sp>
        <p:nvSpPr>
          <p:cNvPr id="32" name="Text 29"/>
          <p:cNvSpPr txBox="1"/>
          <p:nvPr/>
        </p:nvSpPr>
        <p:spPr>
          <a:xfrm>
            <a:off x="6922008" y="4828032"/>
            <a:ext cx="4251960" cy="438912"/>
          </a:xfrm>
          <a:prstGeom prst="rect">
            <a:avLst/>
          </a:prstGeom>
          <a:noFill/>
          <a:ln/>
        </p:spPr>
        <p:txBody>
          <a:bodyPr wrap="square" lIns="0" tIns="0" rIns="0" bIns="0" rtlCol="0" anchor="t"/>
          <a:lstStyle/>
          <a:p>
            <a:pPr indent="0" marL="0">
              <a:lnSpc>
                <a:spcPts val="1600"/>
              </a:lnSpc>
              <a:buNone/>
            </a:pPr>
            <a:r>
              <a:rPr lang="en-US" sz="1250" dirty="0">
                <a:solidFill>
                  <a:srgbClr val="5C6E68"/>
                </a:solidFill>
                <a:latin typeface="Calibri" pitchFamily="34" charset="0"/>
                <a:ea typeface="Calibri" pitchFamily="34" charset="-122"/>
                <a:cs typeface="Calibri" pitchFamily="34" charset="-120"/>
              </a:rPr>
              <a:t>Act without leaving a trail — every change is attributable</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6F5"/>
        </a:solidFill>
      </p:bgPr>
    </p:bg>
    <p:spTree>
      <p:nvGrpSpPr>
        <p:cNvPr id="1" name=""/>
        <p:cNvGrpSpPr/>
        <p:nvPr/>
      </p:nvGrpSpPr>
      <p:grpSpPr>
        <a:xfrm>
          <a:off x="0" y="0"/>
          <a:ext cx="0" cy="0"/>
          <a:chOff x="0" y="0"/>
          <a:chExt cx="0" cy="0"/>
        </a:xfrm>
      </p:grpSpPr>
      <p:sp>
        <p:nvSpPr>
          <p:cNvPr id="2" name="Text 0"/>
          <p:cNvSpPr txBox="1"/>
          <p:nvPr/>
        </p:nvSpPr>
        <p:spPr>
          <a:xfrm>
            <a:off x="640080" y="411480"/>
            <a:ext cx="9144000" cy="274320"/>
          </a:xfrm>
          <a:prstGeom prst="rect">
            <a:avLst/>
          </a:prstGeom>
          <a:noFill/>
          <a:ln/>
        </p:spPr>
        <p:txBody>
          <a:bodyPr wrap="square" lIns="0" tIns="0" rIns="0" bIns="0" rtlCol="0" anchor="ctr"/>
          <a:lstStyle/>
          <a:p>
            <a:pPr indent="0" marL="0">
              <a:buNone/>
            </a:pPr>
            <a:r>
              <a:rPr lang="en-US" sz="1100" b="1" spc="200" kern="0" dirty="0">
                <a:solidFill>
                  <a:srgbClr val="0B6E5F"/>
                </a:solidFill>
                <a:latin typeface="Calibri" pitchFamily="34" charset="0"/>
                <a:ea typeface="Calibri" pitchFamily="34" charset="-122"/>
                <a:cs typeface="Calibri" pitchFamily="34" charset="-120"/>
              </a:rPr>
              <a:t>AT A GLANCE</a:t>
            </a:r>
            <a:endParaRPr lang="en-US" sz="11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200" b="1" dirty="0">
                <a:solidFill>
                  <a:srgbClr val="10201C"/>
                </a:solidFill>
                <a:latin typeface="Cambria" pitchFamily="34" charset="0"/>
                <a:ea typeface="Cambria" pitchFamily="34" charset="-122"/>
                <a:cs typeface="Cambria" pitchFamily="34" charset="-120"/>
              </a:rPr>
              <a:t>The same table the system checks</a:t>
            </a:r>
            <a:endParaRPr lang="en-US" sz="3200" dirty="0"/>
          </a:p>
        </p:txBody>
      </p:sp>
      <p:sp>
        <p:nvSpPr>
          <p:cNvPr id="5" name="Text 2"/>
          <p:cNvSpPr txBox="1"/>
          <p:nvPr/>
        </p:nvSpPr>
        <p:spPr>
          <a:xfrm>
            <a:off x="5349240" y="1691640"/>
            <a:ext cx="1371600" cy="274320"/>
          </a:xfrm>
          <a:prstGeom prst="rect">
            <a:avLst/>
          </a:prstGeom>
          <a:noFill/>
          <a:ln/>
        </p:spPr>
        <p:txBody>
          <a:bodyPr wrap="square" lIns="0" tIns="0" rIns="0" bIns="0" rtlCol="0" anchor="ctr"/>
          <a:lstStyle/>
          <a:p>
            <a:pPr algn="ctr" indent="0" marL="0">
              <a:buNone/>
            </a:pPr>
            <a:r>
              <a:rPr lang="en-US" sz="1150" b="1" dirty="0">
                <a:solidFill>
                  <a:srgbClr val="0B6E5F"/>
                </a:solidFill>
                <a:latin typeface="Calibri" pitchFamily="34" charset="0"/>
                <a:ea typeface="Calibri" pitchFamily="34" charset="-122"/>
                <a:cs typeface="Calibri" pitchFamily="34" charset="-120"/>
              </a:rPr>
              <a:t>Employee</a:t>
            </a:r>
            <a:endParaRPr lang="en-US" sz="1150" dirty="0"/>
          </a:p>
        </p:txBody>
      </p:sp>
      <p:sp>
        <p:nvSpPr>
          <p:cNvPr id="6" name="Text 3"/>
          <p:cNvSpPr txBox="1"/>
          <p:nvPr/>
        </p:nvSpPr>
        <p:spPr>
          <a:xfrm>
            <a:off x="6812280" y="1691640"/>
            <a:ext cx="1371600" cy="274320"/>
          </a:xfrm>
          <a:prstGeom prst="rect">
            <a:avLst/>
          </a:prstGeom>
          <a:noFill/>
          <a:ln/>
        </p:spPr>
        <p:txBody>
          <a:bodyPr wrap="square" lIns="0" tIns="0" rIns="0" bIns="0" rtlCol="0" anchor="ctr"/>
          <a:lstStyle/>
          <a:p>
            <a:pPr algn="ctr" indent="0" marL="0">
              <a:buNone/>
            </a:pPr>
            <a:r>
              <a:rPr lang="en-US" sz="1150" b="1" dirty="0">
                <a:solidFill>
                  <a:srgbClr val="0B6E5F"/>
                </a:solidFill>
                <a:latin typeface="Calibri" pitchFamily="34" charset="0"/>
                <a:ea typeface="Calibri" pitchFamily="34" charset="-122"/>
                <a:cs typeface="Calibri" pitchFamily="34" charset="-120"/>
              </a:rPr>
              <a:t>Supervisor</a:t>
            </a:r>
            <a:endParaRPr lang="en-US" sz="1150" dirty="0"/>
          </a:p>
        </p:txBody>
      </p:sp>
      <p:sp>
        <p:nvSpPr>
          <p:cNvPr id="7" name="Text 4"/>
          <p:cNvSpPr txBox="1"/>
          <p:nvPr/>
        </p:nvSpPr>
        <p:spPr>
          <a:xfrm>
            <a:off x="8275320" y="1691640"/>
            <a:ext cx="1371600" cy="274320"/>
          </a:xfrm>
          <a:prstGeom prst="rect">
            <a:avLst/>
          </a:prstGeom>
          <a:noFill/>
          <a:ln/>
        </p:spPr>
        <p:txBody>
          <a:bodyPr wrap="square" lIns="0" tIns="0" rIns="0" bIns="0" rtlCol="0" anchor="ctr"/>
          <a:lstStyle/>
          <a:p>
            <a:pPr algn="ctr" indent="0" marL="0">
              <a:buNone/>
            </a:pPr>
            <a:r>
              <a:rPr lang="en-US" sz="1150" b="1" dirty="0">
                <a:solidFill>
                  <a:srgbClr val="0B6E5F"/>
                </a:solidFill>
                <a:latin typeface="Calibri" pitchFamily="34" charset="0"/>
                <a:ea typeface="Calibri" pitchFamily="34" charset="-122"/>
                <a:cs typeface="Calibri" pitchFamily="34" charset="-120"/>
              </a:rPr>
              <a:t>Dept Head</a:t>
            </a:r>
            <a:endParaRPr lang="en-US" sz="1150" dirty="0"/>
          </a:p>
        </p:txBody>
      </p:sp>
      <p:sp>
        <p:nvSpPr>
          <p:cNvPr id="8" name="Text 5"/>
          <p:cNvSpPr txBox="1"/>
          <p:nvPr/>
        </p:nvSpPr>
        <p:spPr>
          <a:xfrm>
            <a:off x="9829800" y="1691640"/>
            <a:ext cx="1371600" cy="274320"/>
          </a:xfrm>
          <a:prstGeom prst="rect">
            <a:avLst/>
          </a:prstGeom>
          <a:noFill/>
          <a:ln/>
        </p:spPr>
        <p:txBody>
          <a:bodyPr wrap="square" lIns="0" tIns="0" rIns="0" bIns="0" rtlCol="0" anchor="ctr"/>
          <a:lstStyle/>
          <a:p>
            <a:pPr algn="ctr" indent="0" marL="0">
              <a:buNone/>
            </a:pPr>
            <a:r>
              <a:rPr lang="en-US" sz="1150" b="1" dirty="0">
                <a:solidFill>
                  <a:srgbClr val="0B6E5F"/>
                </a:solidFill>
                <a:latin typeface="Calibri" pitchFamily="34" charset="0"/>
                <a:ea typeface="Calibri" pitchFamily="34" charset="-122"/>
                <a:cs typeface="Calibri" pitchFamily="34" charset="-120"/>
              </a:rPr>
              <a:t>HCM</a:t>
            </a:r>
            <a:endParaRPr lang="en-US" sz="1150" dirty="0"/>
          </a:p>
        </p:txBody>
      </p:sp>
      <p:sp>
        <p:nvSpPr>
          <p:cNvPr id="9" name="Shape 6"/>
          <p:cNvSpPr/>
          <p:nvPr/>
        </p:nvSpPr>
        <p:spPr>
          <a:xfrm>
            <a:off x="548640" y="2020824"/>
            <a:ext cx="11064240" cy="329184"/>
          </a:xfrm>
          <a:prstGeom prst="rect">
            <a:avLst/>
          </a:prstGeom>
          <a:solidFill>
            <a:srgbClr val="FFFFFF"/>
          </a:solidFill>
          <a:ln w="12700">
            <a:solidFill>
              <a:srgbClr val="FFFFFF"/>
            </a:solidFill>
            <a:prstDash val="solid"/>
          </a:ln>
        </p:spPr>
      </p:sp>
      <p:sp>
        <p:nvSpPr>
          <p:cNvPr id="10" name="Text 7"/>
          <p:cNvSpPr txBox="1"/>
          <p:nvPr/>
        </p:nvSpPr>
        <p:spPr>
          <a:xfrm>
            <a:off x="640080" y="2057400"/>
            <a:ext cx="4937760" cy="274320"/>
          </a:xfrm>
          <a:prstGeom prst="rect">
            <a:avLst/>
          </a:prstGeom>
          <a:noFill/>
          <a:ln/>
        </p:spPr>
        <p:txBody>
          <a:bodyPr wrap="square" lIns="0" tIns="0" rIns="0" bIns="0" rtlCol="0" anchor="ctr"/>
          <a:lstStyle/>
          <a:p>
            <a:pPr indent="0" marL="0">
              <a:buNone/>
            </a:pPr>
            <a:r>
              <a:rPr lang="en-US" sz="1250" dirty="0">
                <a:solidFill>
                  <a:srgbClr val="10201C"/>
                </a:solidFill>
                <a:latin typeface="Calibri" pitchFamily="34" charset="0"/>
                <a:ea typeface="Calibri" pitchFamily="34" charset="-122"/>
                <a:cs typeface="Calibri" pitchFamily="34" charset="-120"/>
              </a:rPr>
              <a:t>Their own record and targets</a:t>
            </a:r>
            <a:endParaRPr lang="en-US" sz="1250" dirty="0"/>
          </a:p>
        </p:txBody>
      </p:sp>
      <p:sp>
        <p:nvSpPr>
          <p:cNvPr id="11" name="Shape 8"/>
          <p:cNvSpPr/>
          <p:nvPr/>
        </p:nvSpPr>
        <p:spPr>
          <a:xfrm>
            <a:off x="5769864" y="2121408"/>
            <a:ext cx="164592" cy="164592"/>
          </a:xfrm>
          <a:prstGeom prst="ellipse">
            <a:avLst/>
          </a:prstGeom>
          <a:solidFill>
            <a:srgbClr val="0B6E5F"/>
          </a:solidFill>
          <a:ln w="12700">
            <a:solidFill>
              <a:srgbClr val="0B6E5F"/>
            </a:solidFill>
            <a:prstDash val="solid"/>
          </a:ln>
        </p:spPr>
      </p:sp>
      <p:sp>
        <p:nvSpPr>
          <p:cNvPr id="12" name="Shape 9"/>
          <p:cNvSpPr/>
          <p:nvPr/>
        </p:nvSpPr>
        <p:spPr>
          <a:xfrm>
            <a:off x="7232904" y="2121408"/>
            <a:ext cx="164592" cy="164592"/>
          </a:xfrm>
          <a:prstGeom prst="ellipse">
            <a:avLst/>
          </a:prstGeom>
          <a:solidFill>
            <a:srgbClr val="0B6E5F"/>
          </a:solidFill>
          <a:ln w="12700">
            <a:solidFill>
              <a:srgbClr val="0B6E5F"/>
            </a:solidFill>
            <a:prstDash val="solid"/>
          </a:ln>
        </p:spPr>
      </p:sp>
      <p:sp>
        <p:nvSpPr>
          <p:cNvPr id="13" name="Shape 10"/>
          <p:cNvSpPr/>
          <p:nvPr/>
        </p:nvSpPr>
        <p:spPr>
          <a:xfrm>
            <a:off x="8695944" y="2121408"/>
            <a:ext cx="164592" cy="164592"/>
          </a:xfrm>
          <a:prstGeom prst="ellipse">
            <a:avLst/>
          </a:prstGeom>
          <a:solidFill>
            <a:srgbClr val="0B6E5F"/>
          </a:solidFill>
          <a:ln w="12700">
            <a:solidFill>
              <a:srgbClr val="0B6E5F"/>
            </a:solidFill>
            <a:prstDash val="solid"/>
          </a:ln>
        </p:spPr>
      </p:sp>
      <p:sp>
        <p:nvSpPr>
          <p:cNvPr id="14" name="Shape 11"/>
          <p:cNvSpPr/>
          <p:nvPr/>
        </p:nvSpPr>
        <p:spPr>
          <a:xfrm>
            <a:off x="10250424" y="2121408"/>
            <a:ext cx="164592" cy="164592"/>
          </a:xfrm>
          <a:prstGeom prst="ellipse">
            <a:avLst/>
          </a:prstGeom>
          <a:solidFill>
            <a:srgbClr val="0B6E5F"/>
          </a:solidFill>
          <a:ln w="12700">
            <a:solidFill>
              <a:srgbClr val="0B6E5F"/>
            </a:solidFill>
            <a:prstDash val="solid"/>
          </a:ln>
        </p:spPr>
      </p:sp>
      <p:sp>
        <p:nvSpPr>
          <p:cNvPr id="15" name="Text 12"/>
          <p:cNvSpPr txBox="1"/>
          <p:nvPr/>
        </p:nvSpPr>
        <p:spPr>
          <a:xfrm>
            <a:off x="640080" y="2395728"/>
            <a:ext cx="4937760" cy="274320"/>
          </a:xfrm>
          <a:prstGeom prst="rect">
            <a:avLst/>
          </a:prstGeom>
          <a:noFill/>
          <a:ln/>
        </p:spPr>
        <p:txBody>
          <a:bodyPr wrap="square" lIns="0" tIns="0" rIns="0" bIns="0" rtlCol="0" anchor="ctr"/>
          <a:lstStyle/>
          <a:p>
            <a:pPr indent="0" marL="0">
              <a:buNone/>
            </a:pPr>
            <a:r>
              <a:rPr lang="en-US" sz="1250" dirty="0">
                <a:solidFill>
                  <a:srgbClr val="10201C"/>
                </a:solidFill>
                <a:latin typeface="Calibri" pitchFamily="34" charset="0"/>
                <a:ea typeface="Calibri" pitchFamily="34" charset="-122"/>
                <a:cs typeface="Calibri" pitchFamily="34" charset="-120"/>
              </a:rPr>
              <a:t>Their team’s records</a:t>
            </a:r>
            <a:endParaRPr lang="en-US" sz="1250" dirty="0"/>
          </a:p>
        </p:txBody>
      </p:sp>
      <p:sp>
        <p:nvSpPr>
          <p:cNvPr id="16" name="Text 13"/>
          <p:cNvSpPr txBox="1"/>
          <p:nvPr/>
        </p:nvSpPr>
        <p:spPr>
          <a:xfrm>
            <a:off x="5577840" y="2395728"/>
            <a:ext cx="548640" cy="274320"/>
          </a:xfrm>
          <a:prstGeom prst="rect">
            <a:avLst/>
          </a:prstGeom>
          <a:noFill/>
          <a:ln/>
        </p:spPr>
        <p:txBody>
          <a:bodyPr wrap="square" lIns="0" tIns="0" rIns="0" bIns="0" rtlCol="0" anchor="ctr"/>
          <a:lstStyle/>
          <a:p>
            <a:pPr algn="ctr" indent="0" marL="0">
              <a:buNone/>
            </a:pPr>
            <a:r>
              <a:rPr lang="en-US" sz="1250" dirty="0">
                <a:solidFill>
                  <a:srgbClr val="B9C6C2"/>
                </a:solidFill>
                <a:latin typeface="Calibri" pitchFamily="34" charset="0"/>
                <a:ea typeface="Calibri" pitchFamily="34" charset="-122"/>
                <a:cs typeface="Calibri" pitchFamily="34" charset="-120"/>
              </a:rPr>
              <a:t>—</a:t>
            </a:r>
            <a:endParaRPr lang="en-US" sz="1250" dirty="0"/>
          </a:p>
        </p:txBody>
      </p:sp>
      <p:sp>
        <p:nvSpPr>
          <p:cNvPr id="17" name="Shape 14"/>
          <p:cNvSpPr/>
          <p:nvPr/>
        </p:nvSpPr>
        <p:spPr>
          <a:xfrm>
            <a:off x="7232904" y="2459736"/>
            <a:ext cx="164592" cy="164592"/>
          </a:xfrm>
          <a:prstGeom prst="ellipse">
            <a:avLst/>
          </a:prstGeom>
          <a:solidFill>
            <a:srgbClr val="0B6E5F"/>
          </a:solidFill>
          <a:ln w="12700">
            <a:solidFill>
              <a:srgbClr val="0B6E5F"/>
            </a:solidFill>
            <a:prstDash val="solid"/>
          </a:ln>
        </p:spPr>
      </p:sp>
      <p:sp>
        <p:nvSpPr>
          <p:cNvPr id="18" name="Shape 15"/>
          <p:cNvSpPr/>
          <p:nvPr/>
        </p:nvSpPr>
        <p:spPr>
          <a:xfrm>
            <a:off x="8695944" y="2459736"/>
            <a:ext cx="164592" cy="164592"/>
          </a:xfrm>
          <a:prstGeom prst="ellipse">
            <a:avLst/>
          </a:prstGeom>
          <a:solidFill>
            <a:srgbClr val="0B6E5F"/>
          </a:solidFill>
          <a:ln w="12700">
            <a:solidFill>
              <a:srgbClr val="0B6E5F"/>
            </a:solidFill>
            <a:prstDash val="solid"/>
          </a:ln>
        </p:spPr>
      </p:sp>
      <p:sp>
        <p:nvSpPr>
          <p:cNvPr id="19" name="Shape 16"/>
          <p:cNvSpPr/>
          <p:nvPr/>
        </p:nvSpPr>
        <p:spPr>
          <a:xfrm>
            <a:off x="10250424" y="2459736"/>
            <a:ext cx="164592" cy="164592"/>
          </a:xfrm>
          <a:prstGeom prst="ellipse">
            <a:avLst/>
          </a:prstGeom>
          <a:solidFill>
            <a:srgbClr val="0B6E5F"/>
          </a:solidFill>
          <a:ln w="12700">
            <a:solidFill>
              <a:srgbClr val="0B6E5F"/>
            </a:solidFill>
            <a:prstDash val="solid"/>
          </a:ln>
        </p:spPr>
      </p:sp>
      <p:sp>
        <p:nvSpPr>
          <p:cNvPr id="20" name="Shape 17"/>
          <p:cNvSpPr/>
          <p:nvPr/>
        </p:nvSpPr>
        <p:spPr>
          <a:xfrm>
            <a:off x="548640" y="2697480"/>
            <a:ext cx="11064240" cy="329184"/>
          </a:xfrm>
          <a:prstGeom prst="rect">
            <a:avLst/>
          </a:prstGeom>
          <a:solidFill>
            <a:srgbClr val="FFFFFF"/>
          </a:solidFill>
          <a:ln w="12700">
            <a:solidFill>
              <a:srgbClr val="FFFFFF"/>
            </a:solidFill>
            <a:prstDash val="solid"/>
          </a:ln>
        </p:spPr>
      </p:sp>
      <p:sp>
        <p:nvSpPr>
          <p:cNvPr id="21" name="Text 18"/>
          <p:cNvSpPr txBox="1"/>
          <p:nvPr/>
        </p:nvSpPr>
        <p:spPr>
          <a:xfrm>
            <a:off x="640080" y="2734056"/>
            <a:ext cx="4937760" cy="274320"/>
          </a:xfrm>
          <a:prstGeom prst="rect">
            <a:avLst/>
          </a:prstGeom>
          <a:noFill/>
          <a:ln/>
        </p:spPr>
        <p:txBody>
          <a:bodyPr wrap="square" lIns="0" tIns="0" rIns="0" bIns="0" rtlCol="0" anchor="ctr"/>
          <a:lstStyle/>
          <a:p>
            <a:pPr indent="0" marL="0">
              <a:buNone/>
            </a:pPr>
            <a:r>
              <a:rPr lang="en-US" sz="1250" dirty="0">
                <a:solidFill>
                  <a:srgbClr val="10201C"/>
                </a:solidFill>
                <a:latin typeface="Calibri" pitchFamily="34" charset="0"/>
                <a:ea typeface="Calibri" pitchFamily="34" charset="-122"/>
                <a:cs typeface="Calibri" pitchFamily="34" charset="-120"/>
              </a:rPr>
              <a:t>The whole department</a:t>
            </a:r>
            <a:endParaRPr lang="en-US" sz="1250" dirty="0"/>
          </a:p>
        </p:txBody>
      </p:sp>
      <p:sp>
        <p:nvSpPr>
          <p:cNvPr id="22" name="Text 19"/>
          <p:cNvSpPr txBox="1"/>
          <p:nvPr/>
        </p:nvSpPr>
        <p:spPr>
          <a:xfrm>
            <a:off x="5577840" y="2734056"/>
            <a:ext cx="548640" cy="274320"/>
          </a:xfrm>
          <a:prstGeom prst="rect">
            <a:avLst/>
          </a:prstGeom>
          <a:noFill/>
          <a:ln/>
        </p:spPr>
        <p:txBody>
          <a:bodyPr wrap="square" lIns="0" tIns="0" rIns="0" bIns="0" rtlCol="0" anchor="ctr"/>
          <a:lstStyle/>
          <a:p>
            <a:pPr algn="ctr" indent="0" marL="0">
              <a:buNone/>
            </a:pPr>
            <a:r>
              <a:rPr lang="en-US" sz="1250" dirty="0">
                <a:solidFill>
                  <a:srgbClr val="B9C6C2"/>
                </a:solidFill>
                <a:latin typeface="Calibri" pitchFamily="34" charset="0"/>
                <a:ea typeface="Calibri" pitchFamily="34" charset="-122"/>
                <a:cs typeface="Calibri" pitchFamily="34" charset="-120"/>
              </a:rPr>
              <a:t>—</a:t>
            </a:r>
            <a:endParaRPr lang="en-US" sz="1250" dirty="0"/>
          </a:p>
        </p:txBody>
      </p:sp>
      <p:sp>
        <p:nvSpPr>
          <p:cNvPr id="23" name="Text 20"/>
          <p:cNvSpPr txBox="1"/>
          <p:nvPr/>
        </p:nvSpPr>
        <p:spPr>
          <a:xfrm>
            <a:off x="7040880" y="2734056"/>
            <a:ext cx="548640" cy="274320"/>
          </a:xfrm>
          <a:prstGeom prst="rect">
            <a:avLst/>
          </a:prstGeom>
          <a:noFill/>
          <a:ln/>
        </p:spPr>
        <p:txBody>
          <a:bodyPr wrap="square" lIns="0" tIns="0" rIns="0" bIns="0" rtlCol="0" anchor="ctr"/>
          <a:lstStyle/>
          <a:p>
            <a:pPr algn="ctr" indent="0" marL="0">
              <a:buNone/>
            </a:pPr>
            <a:r>
              <a:rPr lang="en-US" sz="1250" dirty="0">
                <a:solidFill>
                  <a:srgbClr val="B9C6C2"/>
                </a:solidFill>
                <a:latin typeface="Calibri" pitchFamily="34" charset="0"/>
                <a:ea typeface="Calibri" pitchFamily="34" charset="-122"/>
                <a:cs typeface="Calibri" pitchFamily="34" charset="-120"/>
              </a:rPr>
              <a:t>—</a:t>
            </a:r>
            <a:endParaRPr lang="en-US" sz="1250" dirty="0"/>
          </a:p>
        </p:txBody>
      </p:sp>
      <p:sp>
        <p:nvSpPr>
          <p:cNvPr id="24" name="Shape 21"/>
          <p:cNvSpPr/>
          <p:nvPr/>
        </p:nvSpPr>
        <p:spPr>
          <a:xfrm>
            <a:off x="8695944" y="2798064"/>
            <a:ext cx="164592" cy="164592"/>
          </a:xfrm>
          <a:prstGeom prst="ellipse">
            <a:avLst/>
          </a:prstGeom>
          <a:solidFill>
            <a:srgbClr val="0B6E5F"/>
          </a:solidFill>
          <a:ln w="12700">
            <a:solidFill>
              <a:srgbClr val="0B6E5F"/>
            </a:solidFill>
            <a:prstDash val="solid"/>
          </a:ln>
        </p:spPr>
      </p:sp>
      <p:sp>
        <p:nvSpPr>
          <p:cNvPr id="25" name="Shape 22"/>
          <p:cNvSpPr/>
          <p:nvPr/>
        </p:nvSpPr>
        <p:spPr>
          <a:xfrm>
            <a:off x="10250424" y="2798064"/>
            <a:ext cx="164592" cy="164592"/>
          </a:xfrm>
          <a:prstGeom prst="ellipse">
            <a:avLst/>
          </a:prstGeom>
          <a:solidFill>
            <a:srgbClr val="0B6E5F"/>
          </a:solidFill>
          <a:ln w="12700">
            <a:solidFill>
              <a:srgbClr val="0B6E5F"/>
            </a:solidFill>
            <a:prstDash val="solid"/>
          </a:ln>
        </p:spPr>
      </p:sp>
      <p:sp>
        <p:nvSpPr>
          <p:cNvPr id="26" name="Text 23"/>
          <p:cNvSpPr txBox="1"/>
          <p:nvPr/>
        </p:nvSpPr>
        <p:spPr>
          <a:xfrm>
            <a:off x="640080" y="3072384"/>
            <a:ext cx="4937760" cy="274320"/>
          </a:xfrm>
          <a:prstGeom prst="rect">
            <a:avLst/>
          </a:prstGeom>
          <a:noFill/>
          <a:ln/>
        </p:spPr>
        <p:txBody>
          <a:bodyPr wrap="square" lIns="0" tIns="0" rIns="0" bIns="0" rtlCol="0" anchor="ctr"/>
          <a:lstStyle/>
          <a:p>
            <a:pPr indent="0" marL="0">
              <a:buNone/>
            </a:pPr>
            <a:r>
              <a:rPr lang="en-US" sz="1250" dirty="0">
                <a:solidFill>
                  <a:srgbClr val="10201C"/>
                </a:solidFill>
                <a:latin typeface="Calibri" pitchFamily="34" charset="0"/>
                <a:ea typeface="Calibri" pitchFamily="34" charset="-122"/>
                <a:cs typeface="Calibri" pitchFamily="34" charset="-120"/>
              </a:rPr>
              <a:t>The whole organisation</a:t>
            </a:r>
            <a:endParaRPr lang="en-US" sz="1250" dirty="0"/>
          </a:p>
        </p:txBody>
      </p:sp>
      <p:sp>
        <p:nvSpPr>
          <p:cNvPr id="27" name="Text 24"/>
          <p:cNvSpPr txBox="1"/>
          <p:nvPr/>
        </p:nvSpPr>
        <p:spPr>
          <a:xfrm>
            <a:off x="5577840" y="3072384"/>
            <a:ext cx="548640" cy="274320"/>
          </a:xfrm>
          <a:prstGeom prst="rect">
            <a:avLst/>
          </a:prstGeom>
          <a:noFill/>
          <a:ln/>
        </p:spPr>
        <p:txBody>
          <a:bodyPr wrap="square" lIns="0" tIns="0" rIns="0" bIns="0" rtlCol="0" anchor="ctr"/>
          <a:lstStyle/>
          <a:p>
            <a:pPr algn="ctr" indent="0" marL="0">
              <a:buNone/>
            </a:pPr>
            <a:r>
              <a:rPr lang="en-US" sz="1250" dirty="0">
                <a:solidFill>
                  <a:srgbClr val="B9C6C2"/>
                </a:solidFill>
                <a:latin typeface="Calibri" pitchFamily="34" charset="0"/>
                <a:ea typeface="Calibri" pitchFamily="34" charset="-122"/>
                <a:cs typeface="Calibri" pitchFamily="34" charset="-120"/>
              </a:rPr>
              <a:t>—</a:t>
            </a:r>
            <a:endParaRPr lang="en-US" sz="1250" dirty="0"/>
          </a:p>
        </p:txBody>
      </p:sp>
      <p:sp>
        <p:nvSpPr>
          <p:cNvPr id="28" name="Text 25"/>
          <p:cNvSpPr txBox="1"/>
          <p:nvPr/>
        </p:nvSpPr>
        <p:spPr>
          <a:xfrm>
            <a:off x="7040880" y="3072384"/>
            <a:ext cx="548640" cy="274320"/>
          </a:xfrm>
          <a:prstGeom prst="rect">
            <a:avLst/>
          </a:prstGeom>
          <a:noFill/>
          <a:ln/>
        </p:spPr>
        <p:txBody>
          <a:bodyPr wrap="square" lIns="0" tIns="0" rIns="0" bIns="0" rtlCol="0" anchor="ctr"/>
          <a:lstStyle/>
          <a:p>
            <a:pPr algn="ctr" indent="0" marL="0">
              <a:buNone/>
            </a:pPr>
            <a:r>
              <a:rPr lang="en-US" sz="1250" dirty="0">
                <a:solidFill>
                  <a:srgbClr val="B9C6C2"/>
                </a:solidFill>
                <a:latin typeface="Calibri" pitchFamily="34" charset="0"/>
                <a:ea typeface="Calibri" pitchFamily="34" charset="-122"/>
                <a:cs typeface="Calibri" pitchFamily="34" charset="-120"/>
              </a:rPr>
              <a:t>—</a:t>
            </a:r>
            <a:endParaRPr lang="en-US" sz="1250" dirty="0"/>
          </a:p>
        </p:txBody>
      </p:sp>
      <p:sp>
        <p:nvSpPr>
          <p:cNvPr id="29" name="Text 26"/>
          <p:cNvSpPr txBox="1"/>
          <p:nvPr/>
        </p:nvSpPr>
        <p:spPr>
          <a:xfrm>
            <a:off x="8503920" y="3072384"/>
            <a:ext cx="548640" cy="274320"/>
          </a:xfrm>
          <a:prstGeom prst="rect">
            <a:avLst/>
          </a:prstGeom>
          <a:noFill/>
          <a:ln/>
        </p:spPr>
        <p:txBody>
          <a:bodyPr wrap="square" lIns="0" tIns="0" rIns="0" bIns="0" rtlCol="0" anchor="ctr"/>
          <a:lstStyle/>
          <a:p>
            <a:pPr algn="ctr" indent="0" marL="0">
              <a:buNone/>
            </a:pPr>
            <a:r>
              <a:rPr lang="en-US" sz="1250" dirty="0">
                <a:solidFill>
                  <a:srgbClr val="B9C6C2"/>
                </a:solidFill>
                <a:latin typeface="Calibri" pitchFamily="34" charset="0"/>
                <a:ea typeface="Calibri" pitchFamily="34" charset="-122"/>
                <a:cs typeface="Calibri" pitchFamily="34" charset="-120"/>
              </a:rPr>
              <a:t>—</a:t>
            </a:r>
            <a:endParaRPr lang="en-US" sz="1250" dirty="0"/>
          </a:p>
        </p:txBody>
      </p:sp>
      <p:sp>
        <p:nvSpPr>
          <p:cNvPr id="30" name="Shape 27"/>
          <p:cNvSpPr/>
          <p:nvPr/>
        </p:nvSpPr>
        <p:spPr>
          <a:xfrm>
            <a:off x="10250424" y="3136392"/>
            <a:ext cx="164592" cy="164592"/>
          </a:xfrm>
          <a:prstGeom prst="ellipse">
            <a:avLst/>
          </a:prstGeom>
          <a:solidFill>
            <a:srgbClr val="0B6E5F"/>
          </a:solidFill>
          <a:ln w="12700">
            <a:solidFill>
              <a:srgbClr val="0B6E5F"/>
            </a:solidFill>
            <a:prstDash val="solid"/>
          </a:ln>
        </p:spPr>
      </p:sp>
      <p:sp>
        <p:nvSpPr>
          <p:cNvPr id="31" name="Shape 28"/>
          <p:cNvSpPr/>
          <p:nvPr/>
        </p:nvSpPr>
        <p:spPr>
          <a:xfrm>
            <a:off x="548640" y="3374136"/>
            <a:ext cx="11064240" cy="329184"/>
          </a:xfrm>
          <a:prstGeom prst="rect">
            <a:avLst/>
          </a:prstGeom>
          <a:solidFill>
            <a:srgbClr val="FFFFFF"/>
          </a:solidFill>
          <a:ln w="12700">
            <a:solidFill>
              <a:srgbClr val="FFFFFF"/>
            </a:solidFill>
            <a:prstDash val="solid"/>
          </a:ln>
        </p:spPr>
      </p:sp>
      <p:sp>
        <p:nvSpPr>
          <p:cNvPr id="32" name="Text 29"/>
          <p:cNvSpPr txBox="1"/>
          <p:nvPr/>
        </p:nvSpPr>
        <p:spPr>
          <a:xfrm>
            <a:off x="640080" y="3410712"/>
            <a:ext cx="4937760" cy="274320"/>
          </a:xfrm>
          <a:prstGeom prst="rect">
            <a:avLst/>
          </a:prstGeom>
          <a:noFill/>
          <a:ln/>
        </p:spPr>
        <p:txBody>
          <a:bodyPr wrap="square" lIns="0" tIns="0" rIns="0" bIns="0" rtlCol="0" anchor="ctr"/>
          <a:lstStyle/>
          <a:p>
            <a:pPr indent="0" marL="0">
              <a:buNone/>
            </a:pPr>
            <a:r>
              <a:rPr lang="en-US" sz="1250" dirty="0">
                <a:solidFill>
                  <a:srgbClr val="10201C"/>
                </a:solidFill>
                <a:latin typeface="Calibri" pitchFamily="34" charset="0"/>
                <a:ea typeface="Calibri" pitchFamily="34" charset="-122"/>
                <a:cs typeface="Calibri" pitchFamily="34" charset="-120"/>
              </a:rPr>
              <a:t>Approve targets (first gate)</a:t>
            </a:r>
            <a:endParaRPr lang="en-US" sz="1250" dirty="0"/>
          </a:p>
        </p:txBody>
      </p:sp>
      <p:sp>
        <p:nvSpPr>
          <p:cNvPr id="33" name="Text 30"/>
          <p:cNvSpPr txBox="1"/>
          <p:nvPr/>
        </p:nvSpPr>
        <p:spPr>
          <a:xfrm>
            <a:off x="5577840" y="3410712"/>
            <a:ext cx="548640" cy="274320"/>
          </a:xfrm>
          <a:prstGeom prst="rect">
            <a:avLst/>
          </a:prstGeom>
          <a:noFill/>
          <a:ln/>
        </p:spPr>
        <p:txBody>
          <a:bodyPr wrap="square" lIns="0" tIns="0" rIns="0" bIns="0" rtlCol="0" anchor="ctr"/>
          <a:lstStyle/>
          <a:p>
            <a:pPr algn="ctr" indent="0" marL="0">
              <a:buNone/>
            </a:pPr>
            <a:r>
              <a:rPr lang="en-US" sz="1250" dirty="0">
                <a:solidFill>
                  <a:srgbClr val="B9C6C2"/>
                </a:solidFill>
                <a:latin typeface="Calibri" pitchFamily="34" charset="0"/>
                <a:ea typeface="Calibri" pitchFamily="34" charset="-122"/>
                <a:cs typeface="Calibri" pitchFamily="34" charset="-120"/>
              </a:rPr>
              <a:t>—</a:t>
            </a:r>
            <a:endParaRPr lang="en-US" sz="1250" dirty="0"/>
          </a:p>
        </p:txBody>
      </p:sp>
      <p:sp>
        <p:nvSpPr>
          <p:cNvPr id="34" name="Shape 31"/>
          <p:cNvSpPr/>
          <p:nvPr/>
        </p:nvSpPr>
        <p:spPr>
          <a:xfrm>
            <a:off x="7232904" y="3474720"/>
            <a:ext cx="164592" cy="164592"/>
          </a:xfrm>
          <a:prstGeom prst="ellipse">
            <a:avLst/>
          </a:prstGeom>
          <a:solidFill>
            <a:srgbClr val="0B6E5F"/>
          </a:solidFill>
          <a:ln w="12700">
            <a:solidFill>
              <a:srgbClr val="0B6E5F"/>
            </a:solidFill>
            <a:prstDash val="solid"/>
          </a:ln>
        </p:spPr>
      </p:sp>
      <p:sp>
        <p:nvSpPr>
          <p:cNvPr id="35" name="Shape 32"/>
          <p:cNvSpPr/>
          <p:nvPr/>
        </p:nvSpPr>
        <p:spPr>
          <a:xfrm>
            <a:off x="8695944" y="3474720"/>
            <a:ext cx="164592" cy="164592"/>
          </a:xfrm>
          <a:prstGeom prst="ellipse">
            <a:avLst/>
          </a:prstGeom>
          <a:solidFill>
            <a:srgbClr val="0B6E5F"/>
          </a:solidFill>
          <a:ln w="12700">
            <a:solidFill>
              <a:srgbClr val="0B6E5F"/>
            </a:solidFill>
            <a:prstDash val="solid"/>
          </a:ln>
        </p:spPr>
      </p:sp>
      <p:sp>
        <p:nvSpPr>
          <p:cNvPr id="36" name="Shape 33"/>
          <p:cNvSpPr/>
          <p:nvPr/>
        </p:nvSpPr>
        <p:spPr>
          <a:xfrm>
            <a:off x="10250424" y="3474720"/>
            <a:ext cx="164592" cy="164592"/>
          </a:xfrm>
          <a:prstGeom prst="ellipse">
            <a:avLst/>
          </a:prstGeom>
          <a:solidFill>
            <a:srgbClr val="0B6E5F"/>
          </a:solidFill>
          <a:ln w="12700">
            <a:solidFill>
              <a:srgbClr val="0B6E5F"/>
            </a:solidFill>
            <a:prstDash val="solid"/>
          </a:ln>
        </p:spPr>
      </p:sp>
      <p:sp>
        <p:nvSpPr>
          <p:cNvPr id="37" name="Text 34"/>
          <p:cNvSpPr txBox="1"/>
          <p:nvPr/>
        </p:nvSpPr>
        <p:spPr>
          <a:xfrm>
            <a:off x="640080" y="3749040"/>
            <a:ext cx="4937760" cy="274320"/>
          </a:xfrm>
          <a:prstGeom prst="rect">
            <a:avLst/>
          </a:prstGeom>
          <a:noFill/>
          <a:ln/>
        </p:spPr>
        <p:txBody>
          <a:bodyPr wrap="square" lIns="0" tIns="0" rIns="0" bIns="0" rtlCol="0" anchor="ctr"/>
          <a:lstStyle/>
          <a:p>
            <a:pPr indent="0" marL="0">
              <a:buNone/>
            </a:pPr>
            <a:r>
              <a:rPr lang="en-US" sz="1250" dirty="0">
                <a:solidFill>
                  <a:srgbClr val="10201C"/>
                </a:solidFill>
                <a:latin typeface="Calibri" pitchFamily="34" charset="0"/>
                <a:ea typeface="Calibri" pitchFamily="34" charset="-122"/>
                <a:cs typeface="Calibri" pitchFamily="34" charset="-120"/>
              </a:rPr>
              <a:t>Approve targets (HCM gate)</a:t>
            </a:r>
            <a:endParaRPr lang="en-US" sz="1250" dirty="0"/>
          </a:p>
        </p:txBody>
      </p:sp>
      <p:sp>
        <p:nvSpPr>
          <p:cNvPr id="38" name="Text 35"/>
          <p:cNvSpPr txBox="1"/>
          <p:nvPr/>
        </p:nvSpPr>
        <p:spPr>
          <a:xfrm>
            <a:off x="5577840" y="3749040"/>
            <a:ext cx="548640" cy="274320"/>
          </a:xfrm>
          <a:prstGeom prst="rect">
            <a:avLst/>
          </a:prstGeom>
          <a:noFill/>
          <a:ln/>
        </p:spPr>
        <p:txBody>
          <a:bodyPr wrap="square" lIns="0" tIns="0" rIns="0" bIns="0" rtlCol="0" anchor="ctr"/>
          <a:lstStyle/>
          <a:p>
            <a:pPr algn="ctr" indent="0" marL="0">
              <a:buNone/>
            </a:pPr>
            <a:r>
              <a:rPr lang="en-US" sz="1250" dirty="0">
                <a:solidFill>
                  <a:srgbClr val="B9C6C2"/>
                </a:solidFill>
                <a:latin typeface="Calibri" pitchFamily="34" charset="0"/>
                <a:ea typeface="Calibri" pitchFamily="34" charset="-122"/>
                <a:cs typeface="Calibri" pitchFamily="34" charset="-120"/>
              </a:rPr>
              <a:t>—</a:t>
            </a:r>
            <a:endParaRPr lang="en-US" sz="1250" dirty="0"/>
          </a:p>
        </p:txBody>
      </p:sp>
      <p:sp>
        <p:nvSpPr>
          <p:cNvPr id="39" name="Text 36"/>
          <p:cNvSpPr txBox="1"/>
          <p:nvPr/>
        </p:nvSpPr>
        <p:spPr>
          <a:xfrm>
            <a:off x="7040880" y="3749040"/>
            <a:ext cx="548640" cy="274320"/>
          </a:xfrm>
          <a:prstGeom prst="rect">
            <a:avLst/>
          </a:prstGeom>
          <a:noFill/>
          <a:ln/>
        </p:spPr>
        <p:txBody>
          <a:bodyPr wrap="square" lIns="0" tIns="0" rIns="0" bIns="0" rtlCol="0" anchor="ctr"/>
          <a:lstStyle/>
          <a:p>
            <a:pPr algn="ctr" indent="0" marL="0">
              <a:buNone/>
            </a:pPr>
            <a:r>
              <a:rPr lang="en-US" sz="1250" dirty="0">
                <a:solidFill>
                  <a:srgbClr val="B9C6C2"/>
                </a:solidFill>
                <a:latin typeface="Calibri" pitchFamily="34" charset="0"/>
                <a:ea typeface="Calibri" pitchFamily="34" charset="-122"/>
                <a:cs typeface="Calibri" pitchFamily="34" charset="-120"/>
              </a:rPr>
              <a:t>—</a:t>
            </a:r>
            <a:endParaRPr lang="en-US" sz="1250" dirty="0"/>
          </a:p>
        </p:txBody>
      </p:sp>
      <p:sp>
        <p:nvSpPr>
          <p:cNvPr id="40" name="Text 37"/>
          <p:cNvSpPr txBox="1"/>
          <p:nvPr/>
        </p:nvSpPr>
        <p:spPr>
          <a:xfrm>
            <a:off x="8503920" y="3749040"/>
            <a:ext cx="548640" cy="274320"/>
          </a:xfrm>
          <a:prstGeom prst="rect">
            <a:avLst/>
          </a:prstGeom>
          <a:noFill/>
          <a:ln/>
        </p:spPr>
        <p:txBody>
          <a:bodyPr wrap="square" lIns="0" tIns="0" rIns="0" bIns="0" rtlCol="0" anchor="ctr"/>
          <a:lstStyle/>
          <a:p>
            <a:pPr algn="ctr" indent="0" marL="0">
              <a:buNone/>
            </a:pPr>
            <a:r>
              <a:rPr lang="en-US" sz="1250" dirty="0">
                <a:solidFill>
                  <a:srgbClr val="B9C6C2"/>
                </a:solidFill>
                <a:latin typeface="Calibri" pitchFamily="34" charset="0"/>
                <a:ea typeface="Calibri" pitchFamily="34" charset="-122"/>
                <a:cs typeface="Calibri" pitchFamily="34" charset="-120"/>
              </a:rPr>
              <a:t>—</a:t>
            </a:r>
            <a:endParaRPr lang="en-US" sz="1250" dirty="0"/>
          </a:p>
        </p:txBody>
      </p:sp>
      <p:sp>
        <p:nvSpPr>
          <p:cNvPr id="41" name="Shape 38"/>
          <p:cNvSpPr/>
          <p:nvPr/>
        </p:nvSpPr>
        <p:spPr>
          <a:xfrm>
            <a:off x="10250424" y="3813048"/>
            <a:ext cx="164592" cy="164592"/>
          </a:xfrm>
          <a:prstGeom prst="ellipse">
            <a:avLst/>
          </a:prstGeom>
          <a:solidFill>
            <a:srgbClr val="0B6E5F"/>
          </a:solidFill>
          <a:ln w="12700">
            <a:solidFill>
              <a:srgbClr val="0B6E5F"/>
            </a:solidFill>
            <a:prstDash val="solid"/>
          </a:ln>
        </p:spPr>
      </p:sp>
      <p:sp>
        <p:nvSpPr>
          <p:cNvPr id="42" name="Shape 39"/>
          <p:cNvSpPr/>
          <p:nvPr/>
        </p:nvSpPr>
        <p:spPr>
          <a:xfrm>
            <a:off x="548640" y="4050792"/>
            <a:ext cx="11064240" cy="329184"/>
          </a:xfrm>
          <a:prstGeom prst="rect">
            <a:avLst/>
          </a:prstGeom>
          <a:solidFill>
            <a:srgbClr val="FFFFFF"/>
          </a:solidFill>
          <a:ln w="12700">
            <a:solidFill>
              <a:srgbClr val="FFFFFF"/>
            </a:solidFill>
            <a:prstDash val="solid"/>
          </a:ln>
        </p:spPr>
      </p:sp>
      <p:sp>
        <p:nvSpPr>
          <p:cNvPr id="43" name="Text 40"/>
          <p:cNvSpPr txBox="1"/>
          <p:nvPr/>
        </p:nvSpPr>
        <p:spPr>
          <a:xfrm>
            <a:off x="640080" y="4087368"/>
            <a:ext cx="4937760" cy="274320"/>
          </a:xfrm>
          <a:prstGeom prst="rect">
            <a:avLst/>
          </a:prstGeom>
          <a:noFill/>
          <a:ln/>
        </p:spPr>
        <p:txBody>
          <a:bodyPr wrap="square" lIns="0" tIns="0" rIns="0" bIns="0" rtlCol="0" anchor="ctr"/>
          <a:lstStyle/>
          <a:p>
            <a:pPr indent="0" marL="0">
              <a:buNone/>
            </a:pPr>
            <a:r>
              <a:rPr lang="en-US" sz="1250" dirty="0">
                <a:solidFill>
                  <a:srgbClr val="10201C"/>
                </a:solidFill>
                <a:latin typeface="Calibri" pitchFamily="34" charset="0"/>
                <a:ea typeface="Calibri" pitchFamily="34" charset="-122"/>
                <a:cs typeface="Calibri" pitchFamily="34" charset="-120"/>
              </a:rPr>
              <a:t>Write an evaluation</a:t>
            </a:r>
            <a:endParaRPr lang="en-US" sz="1250" dirty="0"/>
          </a:p>
        </p:txBody>
      </p:sp>
      <p:sp>
        <p:nvSpPr>
          <p:cNvPr id="44" name="Text 41"/>
          <p:cNvSpPr txBox="1"/>
          <p:nvPr/>
        </p:nvSpPr>
        <p:spPr>
          <a:xfrm>
            <a:off x="5577840" y="4087368"/>
            <a:ext cx="548640" cy="274320"/>
          </a:xfrm>
          <a:prstGeom prst="rect">
            <a:avLst/>
          </a:prstGeom>
          <a:noFill/>
          <a:ln/>
        </p:spPr>
        <p:txBody>
          <a:bodyPr wrap="square" lIns="0" tIns="0" rIns="0" bIns="0" rtlCol="0" anchor="ctr"/>
          <a:lstStyle/>
          <a:p>
            <a:pPr algn="ctr" indent="0" marL="0">
              <a:buNone/>
            </a:pPr>
            <a:r>
              <a:rPr lang="en-US" sz="1250" dirty="0">
                <a:solidFill>
                  <a:srgbClr val="B9C6C2"/>
                </a:solidFill>
                <a:latin typeface="Calibri" pitchFamily="34" charset="0"/>
                <a:ea typeface="Calibri" pitchFamily="34" charset="-122"/>
                <a:cs typeface="Calibri" pitchFamily="34" charset="-120"/>
              </a:rPr>
              <a:t>—</a:t>
            </a:r>
            <a:endParaRPr lang="en-US" sz="1250" dirty="0"/>
          </a:p>
        </p:txBody>
      </p:sp>
      <p:sp>
        <p:nvSpPr>
          <p:cNvPr id="45" name="Shape 42"/>
          <p:cNvSpPr/>
          <p:nvPr/>
        </p:nvSpPr>
        <p:spPr>
          <a:xfrm>
            <a:off x="7232904" y="4151376"/>
            <a:ext cx="164592" cy="164592"/>
          </a:xfrm>
          <a:prstGeom prst="ellipse">
            <a:avLst/>
          </a:prstGeom>
          <a:solidFill>
            <a:srgbClr val="0B6E5F"/>
          </a:solidFill>
          <a:ln w="12700">
            <a:solidFill>
              <a:srgbClr val="0B6E5F"/>
            </a:solidFill>
            <a:prstDash val="solid"/>
          </a:ln>
        </p:spPr>
      </p:sp>
      <p:sp>
        <p:nvSpPr>
          <p:cNvPr id="46" name="Shape 43"/>
          <p:cNvSpPr/>
          <p:nvPr/>
        </p:nvSpPr>
        <p:spPr>
          <a:xfrm>
            <a:off x="8695944" y="4151376"/>
            <a:ext cx="164592" cy="164592"/>
          </a:xfrm>
          <a:prstGeom prst="ellipse">
            <a:avLst/>
          </a:prstGeom>
          <a:solidFill>
            <a:srgbClr val="0B6E5F"/>
          </a:solidFill>
          <a:ln w="12700">
            <a:solidFill>
              <a:srgbClr val="0B6E5F"/>
            </a:solidFill>
            <a:prstDash val="solid"/>
          </a:ln>
        </p:spPr>
      </p:sp>
      <p:sp>
        <p:nvSpPr>
          <p:cNvPr id="47" name="Shape 44"/>
          <p:cNvSpPr/>
          <p:nvPr/>
        </p:nvSpPr>
        <p:spPr>
          <a:xfrm>
            <a:off x="10250424" y="4151376"/>
            <a:ext cx="164592" cy="164592"/>
          </a:xfrm>
          <a:prstGeom prst="ellipse">
            <a:avLst/>
          </a:prstGeom>
          <a:solidFill>
            <a:srgbClr val="0B6E5F"/>
          </a:solidFill>
          <a:ln w="12700">
            <a:solidFill>
              <a:srgbClr val="0B6E5F"/>
            </a:solidFill>
            <a:prstDash val="solid"/>
          </a:ln>
        </p:spPr>
      </p:sp>
      <p:sp>
        <p:nvSpPr>
          <p:cNvPr id="48" name="Text 45"/>
          <p:cNvSpPr txBox="1"/>
          <p:nvPr/>
        </p:nvSpPr>
        <p:spPr>
          <a:xfrm>
            <a:off x="640080" y="4425696"/>
            <a:ext cx="4937760" cy="274320"/>
          </a:xfrm>
          <a:prstGeom prst="rect">
            <a:avLst/>
          </a:prstGeom>
          <a:noFill/>
          <a:ln/>
        </p:spPr>
        <p:txBody>
          <a:bodyPr wrap="square" lIns="0" tIns="0" rIns="0" bIns="0" rtlCol="0" anchor="ctr"/>
          <a:lstStyle/>
          <a:p>
            <a:pPr indent="0" marL="0">
              <a:buNone/>
            </a:pPr>
            <a:r>
              <a:rPr lang="en-US" sz="1250" dirty="0">
                <a:solidFill>
                  <a:srgbClr val="10201C"/>
                </a:solidFill>
                <a:latin typeface="Calibri" pitchFamily="34" charset="0"/>
                <a:ea typeface="Calibri" pitchFamily="34" charset="-122"/>
                <a:cs typeface="Calibri" pitchFamily="34" charset="-120"/>
              </a:rPr>
              <a:t>Approve / release an evaluation</a:t>
            </a:r>
            <a:endParaRPr lang="en-US" sz="1250" dirty="0"/>
          </a:p>
        </p:txBody>
      </p:sp>
      <p:sp>
        <p:nvSpPr>
          <p:cNvPr id="49" name="Text 46"/>
          <p:cNvSpPr txBox="1"/>
          <p:nvPr/>
        </p:nvSpPr>
        <p:spPr>
          <a:xfrm>
            <a:off x="5577840" y="4425696"/>
            <a:ext cx="548640" cy="274320"/>
          </a:xfrm>
          <a:prstGeom prst="rect">
            <a:avLst/>
          </a:prstGeom>
          <a:noFill/>
          <a:ln/>
        </p:spPr>
        <p:txBody>
          <a:bodyPr wrap="square" lIns="0" tIns="0" rIns="0" bIns="0" rtlCol="0" anchor="ctr"/>
          <a:lstStyle/>
          <a:p>
            <a:pPr algn="ctr" indent="0" marL="0">
              <a:buNone/>
            </a:pPr>
            <a:r>
              <a:rPr lang="en-US" sz="1250" dirty="0">
                <a:solidFill>
                  <a:srgbClr val="B9C6C2"/>
                </a:solidFill>
                <a:latin typeface="Calibri" pitchFamily="34" charset="0"/>
                <a:ea typeface="Calibri" pitchFamily="34" charset="-122"/>
                <a:cs typeface="Calibri" pitchFamily="34" charset="-120"/>
              </a:rPr>
              <a:t>—</a:t>
            </a:r>
            <a:endParaRPr lang="en-US" sz="1250" dirty="0"/>
          </a:p>
        </p:txBody>
      </p:sp>
      <p:sp>
        <p:nvSpPr>
          <p:cNvPr id="50" name="Text 47"/>
          <p:cNvSpPr txBox="1"/>
          <p:nvPr/>
        </p:nvSpPr>
        <p:spPr>
          <a:xfrm>
            <a:off x="7040880" y="4425696"/>
            <a:ext cx="548640" cy="274320"/>
          </a:xfrm>
          <a:prstGeom prst="rect">
            <a:avLst/>
          </a:prstGeom>
          <a:noFill/>
          <a:ln/>
        </p:spPr>
        <p:txBody>
          <a:bodyPr wrap="square" lIns="0" tIns="0" rIns="0" bIns="0" rtlCol="0" anchor="ctr"/>
          <a:lstStyle/>
          <a:p>
            <a:pPr algn="ctr" indent="0" marL="0">
              <a:buNone/>
            </a:pPr>
            <a:r>
              <a:rPr lang="en-US" sz="1250" dirty="0">
                <a:solidFill>
                  <a:srgbClr val="B9C6C2"/>
                </a:solidFill>
                <a:latin typeface="Calibri" pitchFamily="34" charset="0"/>
                <a:ea typeface="Calibri" pitchFamily="34" charset="-122"/>
                <a:cs typeface="Calibri" pitchFamily="34" charset="-120"/>
              </a:rPr>
              <a:t>—</a:t>
            </a:r>
            <a:endParaRPr lang="en-US" sz="1250" dirty="0"/>
          </a:p>
        </p:txBody>
      </p:sp>
      <p:sp>
        <p:nvSpPr>
          <p:cNvPr id="51" name="Shape 48"/>
          <p:cNvSpPr/>
          <p:nvPr/>
        </p:nvSpPr>
        <p:spPr>
          <a:xfrm>
            <a:off x="8695944" y="4489704"/>
            <a:ext cx="164592" cy="164592"/>
          </a:xfrm>
          <a:prstGeom prst="ellipse">
            <a:avLst/>
          </a:prstGeom>
          <a:solidFill>
            <a:srgbClr val="0B6E5F"/>
          </a:solidFill>
          <a:ln w="12700">
            <a:solidFill>
              <a:srgbClr val="0B6E5F"/>
            </a:solidFill>
            <a:prstDash val="solid"/>
          </a:ln>
        </p:spPr>
      </p:sp>
      <p:sp>
        <p:nvSpPr>
          <p:cNvPr id="52" name="Shape 49"/>
          <p:cNvSpPr/>
          <p:nvPr/>
        </p:nvSpPr>
        <p:spPr>
          <a:xfrm>
            <a:off x="10250424" y="4489704"/>
            <a:ext cx="164592" cy="164592"/>
          </a:xfrm>
          <a:prstGeom prst="ellipse">
            <a:avLst/>
          </a:prstGeom>
          <a:solidFill>
            <a:srgbClr val="0B6E5F"/>
          </a:solidFill>
          <a:ln w="12700">
            <a:solidFill>
              <a:srgbClr val="0B6E5F"/>
            </a:solidFill>
            <a:prstDash val="solid"/>
          </a:ln>
        </p:spPr>
      </p:sp>
      <p:sp>
        <p:nvSpPr>
          <p:cNvPr id="53" name="Shape 50"/>
          <p:cNvSpPr/>
          <p:nvPr/>
        </p:nvSpPr>
        <p:spPr>
          <a:xfrm>
            <a:off x="548640" y="4727448"/>
            <a:ext cx="11064240" cy="329184"/>
          </a:xfrm>
          <a:prstGeom prst="rect">
            <a:avLst/>
          </a:prstGeom>
          <a:solidFill>
            <a:srgbClr val="FFFFFF"/>
          </a:solidFill>
          <a:ln w="12700">
            <a:solidFill>
              <a:srgbClr val="FFFFFF"/>
            </a:solidFill>
            <a:prstDash val="solid"/>
          </a:ln>
        </p:spPr>
      </p:sp>
      <p:sp>
        <p:nvSpPr>
          <p:cNvPr id="54" name="Text 51"/>
          <p:cNvSpPr txBox="1"/>
          <p:nvPr/>
        </p:nvSpPr>
        <p:spPr>
          <a:xfrm>
            <a:off x="640080" y="4764024"/>
            <a:ext cx="4937760" cy="274320"/>
          </a:xfrm>
          <a:prstGeom prst="rect">
            <a:avLst/>
          </a:prstGeom>
          <a:noFill/>
          <a:ln/>
        </p:spPr>
        <p:txBody>
          <a:bodyPr wrap="square" lIns="0" tIns="0" rIns="0" bIns="0" rtlCol="0" anchor="ctr"/>
          <a:lstStyle/>
          <a:p>
            <a:pPr indent="0" marL="0">
              <a:buNone/>
            </a:pPr>
            <a:r>
              <a:rPr lang="en-US" sz="1250" dirty="0">
                <a:solidFill>
                  <a:srgbClr val="10201C"/>
                </a:solidFill>
                <a:latin typeface="Calibri" pitchFamily="34" charset="0"/>
                <a:ea typeface="Calibri" pitchFamily="34" charset="-122"/>
                <a:cs typeface="Calibri" pitchFamily="34" charset="-120"/>
              </a:rPr>
              <a:t>Open a PIP</a:t>
            </a:r>
            <a:endParaRPr lang="en-US" sz="1250" dirty="0"/>
          </a:p>
        </p:txBody>
      </p:sp>
      <p:sp>
        <p:nvSpPr>
          <p:cNvPr id="55" name="Text 52"/>
          <p:cNvSpPr txBox="1"/>
          <p:nvPr/>
        </p:nvSpPr>
        <p:spPr>
          <a:xfrm>
            <a:off x="5577840" y="4764024"/>
            <a:ext cx="548640" cy="274320"/>
          </a:xfrm>
          <a:prstGeom prst="rect">
            <a:avLst/>
          </a:prstGeom>
          <a:noFill/>
          <a:ln/>
        </p:spPr>
        <p:txBody>
          <a:bodyPr wrap="square" lIns="0" tIns="0" rIns="0" bIns="0" rtlCol="0" anchor="ctr"/>
          <a:lstStyle/>
          <a:p>
            <a:pPr algn="ctr" indent="0" marL="0">
              <a:buNone/>
            </a:pPr>
            <a:r>
              <a:rPr lang="en-US" sz="1250" dirty="0">
                <a:solidFill>
                  <a:srgbClr val="B9C6C2"/>
                </a:solidFill>
                <a:latin typeface="Calibri" pitchFamily="34" charset="0"/>
                <a:ea typeface="Calibri" pitchFamily="34" charset="-122"/>
                <a:cs typeface="Calibri" pitchFamily="34" charset="-120"/>
              </a:rPr>
              <a:t>—</a:t>
            </a:r>
            <a:endParaRPr lang="en-US" sz="1250" dirty="0"/>
          </a:p>
        </p:txBody>
      </p:sp>
      <p:sp>
        <p:nvSpPr>
          <p:cNvPr id="56" name="Shape 53"/>
          <p:cNvSpPr/>
          <p:nvPr/>
        </p:nvSpPr>
        <p:spPr>
          <a:xfrm>
            <a:off x="7232904" y="4828032"/>
            <a:ext cx="164592" cy="164592"/>
          </a:xfrm>
          <a:prstGeom prst="ellipse">
            <a:avLst/>
          </a:prstGeom>
          <a:solidFill>
            <a:srgbClr val="0B6E5F"/>
          </a:solidFill>
          <a:ln w="12700">
            <a:solidFill>
              <a:srgbClr val="0B6E5F"/>
            </a:solidFill>
            <a:prstDash val="solid"/>
          </a:ln>
        </p:spPr>
      </p:sp>
      <p:sp>
        <p:nvSpPr>
          <p:cNvPr id="57" name="Shape 54"/>
          <p:cNvSpPr/>
          <p:nvPr/>
        </p:nvSpPr>
        <p:spPr>
          <a:xfrm>
            <a:off x="8695944" y="4828032"/>
            <a:ext cx="164592" cy="164592"/>
          </a:xfrm>
          <a:prstGeom prst="ellipse">
            <a:avLst/>
          </a:prstGeom>
          <a:solidFill>
            <a:srgbClr val="0B6E5F"/>
          </a:solidFill>
          <a:ln w="12700">
            <a:solidFill>
              <a:srgbClr val="0B6E5F"/>
            </a:solidFill>
            <a:prstDash val="solid"/>
          </a:ln>
        </p:spPr>
      </p:sp>
      <p:sp>
        <p:nvSpPr>
          <p:cNvPr id="58" name="Shape 55"/>
          <p:cNvSpPr/>
          <p:nvPr/>
        </p:nvSpPr>
        <p:spPr>
          <a:xfrm>
            <a:off x="10250424" y="4828032"/>
            <a:ext cx="164592" cy="164592"/>
          </a:xfrm>
          <a:prstGeom prst="ellipse">
            <a:avLst/>
          </a:prstGeom>
          <a:solidFill>
            <a:srgbClr val="0B6E5F"/>
          </a:solidFill>
          <a:ln w="12700">
            <a:solidFill>
              <a:srgbClr val="0B6E5F"/>
            </a:solidFill>
            <a:prstDash val="solid"/>
          </a:ln>
        </p:spPr>
      </p:sp>
      <p:sp>
        <p:nvSpPr>
          <p:cNvPr id="59" name="Text 56"/>
          <p:cNvSpPr txBox="1"/>
          <p:nvPr/>
        </p:nvSpPr>
        <p:spPr>
          <a:xfrm>
            <a:off x="640080" y="5102352"/>
            <a:ext cx="4937760" cy="274320"/>
          </a:xfrm>
          <a:prstGeom prst="rect">
            <a:avLst/>
          </a:prstGeom>
          <a:noFill/>
          <a:ln/>
        </p:spPr>
        <p:txBody>
          <a:bodyPr wrap="square" lIns="0" tIns="0" rIns="0" bIns="0" rtlCol="0" anchor="ctr"/>
          <a:lstStyle/>
          <a:p>
            <a:pPr indent="0" marL="0">
              <a:buNone/>
            </a:pPr>
            <a:r>
              <a:rPr lang="en-US" sz="1250" dirty="0">
                <a:solidFill>
                  <a:srgbClr val="10201C"/>
                </a:solidFill>
                <a:latin typeface="Calibri" pitchFamily="34" charset="0"/>
                <a:ea typeface="Calibri" pitchFamily="34" charset="-122"/>
                <a:cs typeface="Calibri" pitchFamily="34" charset="-120"/>
              </a:rPr>
              <a:t>Forms, cycles, org chart, ranks</a:t>
            </a:r>
            <a:endParaRPr lang="en-US" sz="1250" dirty="0"/>
          </a:p>
        </p:txBody>
      </p:sp>
      <p:sp>
        <p:nvSpPr>
          <p:cNvPr id="60" name="Text 57"/>
          <p:cNvSpPr txBox="1"/>
          <p:nvPr/>
        </p:nvSpPr>
        <p:spPr>
          <a:xfrm>
            <a:off x="5577840" y="5102352"/>
            <a:ext cx="548640" cy="274320"/>
          </a:xfrm>
          <a:prstGeom prst="rect">
            <a:avLst/>
          </a:prstGeom>
          <a:noFill/>
          <a:ln/>
        </p:spPr>
        <p:txBody>
          <a:bodyPr wrap="square" lIns="0" tIns="0" rIns="0" bIns="0" rtlCol="0" anchor="ctr"/>
          <a:lstStyle/>
          <a:p>
            <a:pPr algn="ctr" indent="0" marL="0">
              <a:buNone/>
            </a:pPr>
            <a:r>
              <a:rPr lang="en-US" sz="1250" dirty="0">
                <a:solidFill>
                  <a:srgbClr val="B9C6C2"/>
                </a:solidFill>
                <a:latin typeface="Calibri" pitchFamily="34" charset="0"/>
                <a:ea typeface="Calibri" pitchFamily="34" charset="-122"/>
                <a:cs typeface="Calibri" pitchFamily="34" charset="-120"/>
              </a:rPr>
              <a:t>—</a:t>
            </a:r>
            <a:endParaRPr lang="en-US" sz="1250" dirty="0"/>
          </a:p>
        </p:txBody>
      </p:sp>
      <p:sp>
        <p:nvSpPr>
          <p:cNvPr id="61" name="Text 58"/>
          <p:cNvSpPr txBox="1"/>
          <p:nvPr/>
        </p:nvSpPr>
        <p:spPr>
          <a:xfrm>
            <a:off x="7040880" y="5102352"/>
            <a:ext cx="548640" cy="274320"/>
          </a:xfrm>
          <a:prstGeom prst="rect">
            <a:avLst/>
          </a:prstGeom>
          <a:noFill/>
          <a:ln/>
        </p:spPr>
        <p:txBody>
          <a:bodyPr wrap="square" lIns="0" tIns="0" rIns="0" bIns="0" rtlCol="0" anchor="ctr"/>
          <a:lstStyle/>
          <a:p>
            <a:pPr algn="ctr" indent="0" marL="0">
              <a:buNone/>
            </a:pPr>
            <a:r>
              <a:rPr lang="en-US" sz="1250" dirty="0">
                <a:solidFill>
                  <a:srgbClr val="B9C6C2"/>
                </a:solidFill>
                <a:latin typeface="Calibri" pitchFamily="34" charset="0"/>
                <a:ea typeface="Calibri" pitchFamily="34" charset="-122"/>
                <a:cs typeface="Calibri" pitchFamily="34" charset="-120"/>
              </a:rPr>
              <a:t>—</a:t>
            </a:r>
            <a:endParaRPr lang="en-US" sz="1250" dirty="0"/>
          </a:p>
        </p:txBody>
      </p:sp>
      <p:sp>
        <p:nvSpPr>
          <p:cNvPr id="62" name="Text 59"/>
          <p:cNvSpPr txBox="1"/>
          <p:nvPr/>
        </p:nvSpPr>
        <p:spPr>
          <a:xfrm>
            <a:off x="8503920" y="5102352"/>
            <a:ext cx="548640" cy="274320"/>
          </a:xfrm>
          <a:prstGeom prst="rect">
            <a:avLst/>
          </a:prstGeom>
          <a:noFill/>
          <a:ln/>
        </p:spPr>
        <p:txBody>
          <a:bodyPr wrap="square" lIns="0" tIns="0" rIns="0" bIns="0" rtlCol="0" anchor="ctr"/>
          <a:lstStyle/>
          <a:p>
            <a:pPr algn="ctr" indent="0" marL="0">
              <a:buNone/>
            </a:pPr>
            <a:r>
              <a:rPr lang="en-US" sz="1250" dirty="0">
                <a:solidFill>
                  <a:srgbClr val="B9C6C2"/>
                </a:solidFill>
                <a:latin typeface="Calibri" pitchFamily="34" charset="0"/>
                <a:ea typeface="Calibri" pitchFamily="34" charset="-122"/>
                <a:cs typeface="Calibri" pitchFamily="34" charset="-120"/>
              </a:rPr>
              <a:t>—</a:t>
            </a:r>
            <a:endParaRPr lang="en-US" sz="1250" dirty="0"/>
          </a:p>
        </p:txBody>
      </p:sp>
      <p:sp>
        <p:nvSpPr>
          <p:cNvPr id="63" name="Shape 60"/>
          <p:cNvSpPr/>
          <p:nvPr/>
        </p:nvSpPr>
        <p:spPr>
          <a:xfrm>
            <a:off x="10250424" y="5166360"/>
            <a:ext cx="164592" cy="164592"/>
          </a:xfrm>
          <a:prstGeom prst="ellipse">
            <a:avLst/>
          </a:prstGeom>
          <a:solidFill>
            <a:srgbClr val="0B6E5F"/>
          </a:solidFill>
          <a:ln w="12700">
            <a:solidFill>
              <a:srgbClr val="0B6E5F"/>
            </a:solidFill>
            <a:prstDash val="solid"/>
          </a:ln>
        </p:spPr>
      </p:sp>
      <p:sp>
        <p:nvSpPr>
          <p:cNvPr id="64" name="Shape 61"/>
          <p:cNvSpPr/>
          <p:nvPr/>
        </p:nvSpPr>
        <p:spPr>
          <a:xfrm>
            <a:off x="548640" y="5404104"/>
            <a:ext cx="11064240" cy="329184"/>
          </a:xfrm>
          <a:prstGeom prst="rect">
            <a:avLst/>
          </a:prstGeom>
          <a:solidFill>
            <a:srgbClr val="FFFFFF"/>
          </a:solidFill>
          <a:ln w="12700">
            <a:solidFill>
              <a:srgbClr val="FFFFFF"/>
            </a:solidFill>
            <a:prstDash val="solid"/>
          </a:ln>
        </p:spPr>
      </p:sp>
      <p:sp>
        <p:nvSpPr>
          <p:cNvPr id="65" name="Text 62"/>
          <p:cNvSpPr txBox="1"/>
          <p:nvPr/>
        </p:nvSpPr>
        <p:spPr>
          <a:xfrm>
            <a:off x="640080" y="5440680"/>
            <a:ext cx="4937760" cy="274320"/>
          </a:xfrm>
          <a:prstGeom prst="rect">
            <a:avLst/>
          </a:prstGeom>
          <a:noFill/>
          <a:ln/>
        </p:spPr>
        <p:txBody>
          <a:bodyPr wrap="square" lIns="0" tIns="0" rIns="0" bIns="0" rtlCol="0" anchor="ctr"/>
          <a:lstStyle/>
          <a:p>
            <a:pPr indent="0" marL="0">
              <a:buNone/>
            </a:pPr>
            <a:r>
              <a:rPr lang="en-US" sz="1250" dirty="0">
                <a:solidFill>
                  <a:srgbClr val="10201C"/>
                </a:solidFill>
                <a:latin typeface="Calibri" pitchFamily="34" charset="0"/>
                <a:ea typeface="Calibri" pitchFamily="34" charset="-122"/>
                <a:cs typeface="Calibri" pitchFamily="34" charset="-120"/>
              </a:rPr>
              <a:t>Assign roles · read the audit trail</a:t>
            </a:r>
            <a:endParaRPr lang="en-US" sz="1250" dirty="0"/>
          </a:p>
        </p:txBody>
      </p:sp>
      <p:sp>
        <p:nvSpPr>
          <p:cNvPr id="66" name="Text 63"/>
          <p:cNvSpPr txBox="1"/>
          <p:nvPr/>
        </p:nvSpPr>
        <p:spPr>
          <a:xfrm>
            <a:off x="5577840" y="5440680"/>
            <a:ext cx="548640" cy="274320"/>
          </a:xfrm>
          <a:prstGeom prst="rect">
            <a:avLst/>
          </a:prstGeom>
          <a:noFill/>
          <a:ln/>
        </p:spPr>
        <p:txBody>
          <a:bodyPr wrap="square" lIns="0" tIns="0" rIns="0" bIns="0" rtlCol="0" anchor="ctr"/>
          <a:lstStyle/>
          <a:p>
            <a:pPr algn="ctr" indent="0" marL="0">
              <a:buNone/>
            </a:pPr>
            <a:r>
              <a:rPr lang="en-US" sz="1250" dirty="0">
                <a:solidFill>
                  <a:srgbClr val="B9C6C2"/>
                </a:solidFill>
                <a:latin typeface="Calibri" pitchFamily="34" charset="0"/>
                <a:ea typeface="Calibri" pitchFamily="34" charset="-122"/>
                <a:cs typeface="Calibri" pitchFamily="34" charset="-120"/>
              </a:rPr>
              <a:t>—</a:t>
            </a:r>
            <a:endParaRPr lang="en-US" sz="1250" dirty="0"/>
          </a:p>
        </p:txBody>
      </p:sp>
      <p:sp>
        <p:nvSpPr>
          <p:cNvPr id="67" name="Text 64"/>
          <p:cNvSpPr txBox="1"/>
          <p:nvPr/>
        </p:nvSpPr>
        <p:spPr>
          <a:xfrm>
            <a:off x="7040880" y="5440680"/>
            <a:ext cx="548640" cy="274320"/>
          </a:xfrm>
          <a:prstGeom prst="rect">
            <a:avLst/>
          </a:prstGeom>
          <a:noFill/>
          <a:ln/>
        </p:spPr>
        <p:txBody>
          <a:bodyPr wrap="square" lIns="0" tIns="0" rIns="0" bIns="0" rtlCol="0" anchor="ctr"/>
          <a:lstStyle/>
          <a:p>
            <a:pPr algn="ctr" indent="0" marL="0">
              <a:buNone/>
            </a:pPr>
            <a:r>
              <a:rPr lang="en-US" sz="1250" dirty="0">
                <a:solidFill>
                  <a:srgbClr val="B9C6C2"/>
                </a:solidFill>
                <a:latin typeface="Calibri" pitchFamily="34" charset="0"/>
                <a:ea typeface="Calibri" pitchFamily="34" charset="-122"/>
                <a:cs typeface="Calibri" pitchFamily="34" charset="-120"/>
              </a:rPr>
              <a:t>—</a:t>
            </a:r>
            <a:endParaRPr lang="en-US" sz="1250" dirty="0"/>
          </a:p>
        </p:txBody>
      </p:sp>
      <p:sp>
        <p:nvSpPr>
          <p:cNvPr id="68" name="Text 65"/>
          <p:cNvSpPr txBox="1"/>
          <p:nvPr/>
        </p:nvSpPr>
        <p:spPr>
          <a:xfrm>
            <a:off x="8503920" y="5440680"/>
            <a:ext cx="548640" cy="274320"/>
          </a:xfrm>
          <a:prstGeom prst="rect">
            <a:avLst/>
          </a:prstGeom>
          <a:noFill/>
          <a:ln/>
        </p:spPr>
        <p:txBody>
          <a:bodyPr wrap="square" lIns="0" tIns="0" rIns="0" bIns="0" rtlCol="0" anchor="ctr"/>
          <a:lstStyle/>
          <a:p>
            <a:pPr algn="ctr" indent="0" marL="0">
              <a:buNone/>
            </a:pPr>
            <a:r>
              <a:rPr lang="en-US" sz="1250" dirty="0">
                <a:solidFill>
                  <a:srgbClr val="B9C6C2"/>
                </a:solidFill>
                <a:latin typeface="Calibri" pitchFamily="34" charset="0"/>
                <a:ea typeface="Calibri" pitchFamily="34" charset="-122"/>
                <a:cs typeface="Calibri" pitchFamily="34" charset="-120"/>
              </a:rPr>
              <a:t>—</a:t>
            </a:r>
            <a:endParaRPr lang="en-US" sz="1250" dirty="0"/>
          </a:p>
        </p:txBody>
      </p:sp>
      <p:sp>
        <p:nvSpPr>
          <p:cNvPr id="69" name="Shape 66"/>
          <p:cNvSpPr/>
          <p:nvPr/>
        </p:nvSpPr>
        <p:spPr>
          <a:xfrm>
            <a:off x="10250424" y="5504688"/>
            <a:ext cx="164592" cy="164592"/>
          </a:xfrm>
          <a:prstGeom prst="ellipse">
            <a:avLst/>
          </a:prstGeom>
          <a:solidFill>
            <a:srgbClr val="0B6E5F"/>
          </a:solidFill>
          <a:ln w="12700">
            <a:solidFill>
              <a:srgbClr val="0B6E5F"/>
            </a:solidFill>
            <a:prstDash val="solid"/>
          </a:ln>
        </p:spPr>
      </p:sp>
      <p:sp>
        <p:nvSpPr>
          <p:cNvPr id="70" name="Text 67"/>
          <p:cNvSpPr txBox="1"/>
          <p:nvPr/>
        </p:nvSpPr>
        <p:spPr>
          <a:xfrm>
            <a:off x="640080" y="5779008"/>
            <a:ext cx="4937760" cy="274320"/>
          </a:xfrm>
          <a:prstGeom prst="rect">
            <a:avLst/>
          </a:prstGeom>
          <a:noFill/>
          <a:ln/>
        </p:spPr>
        <p:txBody>
          <a:bodyPr wrap="square" lIns="0" tIns="0" rIns="0" bIns="0" rtlCol="0" anchor="ctr"/>
          <a:lstStyle/>
          <a:p>
            <a:pPr indent="0" marL="0">
              <a:buNone/>
            </a:pPr>
            <a:r>
              <a:rPr lang="en-US" sz="1250" dirty="0">
                <a:solidFill>
                  <a:srgbClr val="10201C"/>
                </a:solidFill>
                <a:latin typeface="Calibri" pitchFamily="34" charset="0"/>
                <a:ea typeface="Calibri" pitchFamily="34" charset="-122"/>
                <a:cs typeface="Calibri" pitchFamily="34" charset="-120"/>
              </a:rPr>
              <a:t>Set scoring parameters</a:t>
            </a:r>
            <a:endParaRPr lang="en-US" sz="1250" dirty="0"/>
          </a:p>
        </p:txBody>
      </p:sp>
      <p:sp>
        <p:nvSpPr>
          <p:cNvPr id="71" name="Text 68"/>
          <p:cNvSpPr txBox="1"/>
          <p:nvPr/>
        </p:nvSpPr>
        <p:spPr>
          <a:xfrm>
            <a:off x="5577840" y="5779008"/>
            <a:ext cx="548640" cy="274320"/>
          </a:xfrm>
          <a:prstGeom prst="rect">
            <a:avLst/>
          </a:prstGeom>
          <a:noFill/>
          <a:ln/>
        </p:spPr>
        <p:txBody>
          <a:bodyPr wrap="square" lIns="0" tIns="0" rIns="0" bIns="0" rtlCol="0" anchor="ctr"/>
          <a:lstStyle/>
          <a:p>
            <a:pPr algn="ctr" indent="0" marL="0">
              <a:buNone/>
            </a:pPr>
            <a:r>
              <a:rPr lang="en-US" sz="1250" dirty="0">
                <a:solidFill>
                  <a:srgbClr val="B9C6C2"/>
                </a:solidFill>
                <a:latin typeface="Calibri" pitchFamily="34" charset="0"/>
                <a:ea typeface="Calibri" pitchFamily="34" charset="-122"/>
                <a:cs typeface="Calibri" pitchFamily="34" charset="-120"/>
              </a:rPr>
              <a:t>—</a:t>
            </a:r>
            <a:endParaRPr lang="en-US" sz="1250" dirty="0"/>
          </a:p>
        </p:txBody>
      </p:sp>
      <p:sp>
        <p:nvSpPr>
          <p:cNvPr id="72" name="Text 69"/>
          <p:cNvSpPr txBox="1"/>
          <p:nvPr/>
        </p:nvSpPr>
        <p:spPr>
          <a:xfrm>
            <a:off x="7040880" y="5779008"/>
            <a:ext cx="548640" cy="274320"/>
          </a:xfrm>
          <a:prstGeom prst="rect">
            <a:avLst/>
          </a:prstGeom>
          <a:noFill/>
          <a:ln/>
        </p:spPr>
        <p:txBody>
          <a:bodyPr wrap="square" lIns="0" tIns="0" rIns="0" bIns="0" rtlCol="0" anchor="ctr"/>
          <a:lstStyle/>
          <a:p>
            <a:pPr algn="ctr" indent="0" marL="0">
              <a:buNone/>
            </a:pPr>
            <a:r>
              <a:rPr lang="en-US" sz="1250" dirty="0">
                <a:solidFill>
                  <a:srgbClr val="B9C6C2"/>
                </a:solidFill>
                <a:latin typeface="Calibri" pitchFamily="34" charset="0"/>
                <a:ea typeface="Calibri" pitchFamily="34" charset="-122"/>
                <a:cs typeface="Calibri" pitchFamily="34" charset="-120"/>
              </a:rPr>
              <a:t>—</a:t>
            </a:r>
            <a:endParaRPr lang="en-US" sz="1250" dirty="0"/>
          </a:p>
        </p:txBody>
      </p:sp>
      <p:sp>
        <p:nvSpPr>
          <p:cNvPr id="73" name="Text 70"/>
          <p:cNvSpPr txBox="1"/>
          <p:nvPr/>
        </p:nvSpPr>
        <p:spPr>
          <a:xfrm>
            <a:off x="8503920" y="5779008"/>
            <a:ext cx="548640" cy="274320"/>
          </a:xfrm>
          <a:prstGeom prst="rect">
            <a:avLst/>
          </a:prstGeom>
          <a:noFill/>
          <a:ln/>
        </p:spPr>
        <p:txBody>
          <a:bodyPr wrap="square" lIns="0" tIns="0" rIns="0" bIns="0" rtlCol="0" anchor="ctr"/>
          <a:lstStyle/>
          <a:p>
            <a:pPr algn="ctr" indent="0" marL="0">
              <a:buNone/>
            </a:pPr>
            <a:r>
              <a:rPr lang="en-US" sz="1250" dirty="0">
                <a:solidFill>
                  <a:srgbClr val="B9C6C2"/>
                </a:solidFill>
                <a:latin typeface="Calibri" pitchFamily="34" charset="0"/>
                <a:ea typeface="Calibri" pitchFamily="34" charset="-122"/>
                <a:cs typeface="Calibri" pitchFamily="34" charset="-120"/>
              </a:rPr>
              <a:t>—</a:t>
            </a:r>
            <a:endParaRPr lang="en-US" sz="1250" dirty="0"/>
          </a:p>
        </p:txBody>
      </p:sp>
      <p:sp>
        <p:nvSpPr>
          <p:cNvPr id="74" name="Text 71"/>
          <p:cNvSpPr txBox="1"/>
          <p:nvPr/>
        </p:nvSpPr>
        <p:spPr>
          <a:xfrm>
            <a:off x="10058400" y="5779008"/>
            <a:ext cx="548640" cy="274320"/>
          </a:xfrm>
          <a:prstGeom prst="rect">
            <a:avLst/>
          </a:prstGeom>
          <a:noFill/>
          <a:ln/>
        </p:spPr>
        <p:txBody>
          <a:bodyPr wrap="square" lIns="0" tIns="0" rIns="0" bIns="0" rtlCol="0" anchor="ctr"/>
          <a:lstStyle/>
          <a:p>
            <a:pPr algn="ctr" indent="0" marL="0">
              <a:buNone/>
            </a:pPr>
            <a:r>
              <a:rPr lang="en-US" sz="1250" dirty="0">
                <a:solidFill>
                  <a:srgbClr val="B9C6C2"/>
                </a:solidFill>
                <a:latin typeface="Calibri" pitchFamily="34" charset="0"/>
                <a:ea typeface="Calibri" pitchFamily="34" charset="-122"/>
                <a:cs typeface="Calibri" pitchFamily="34" charset="-120"/>
              </a:rPr>
              <a:t>—</a:t>
            </a:r>
            <a:endParaRPr lang="en-US" sz="1250" dirty="0"/>
          </a:p>
        </p:txBody>
      </p:sp>
      <p:sp>
        <p:nvSpPr>
          <p:cNvPr id="75" name="Text 72"/>
          <p:cNvSpPr txBox="1"/>
          <p:nvPr/>
        </p:nvSpPr>
        <p:spPr>
          <a:xfrm>
            <a:off x="640080" y="6263640"/>
            <a:ext cx="10881360" cy="320040"/>
          </a:xfrm>
          <a:prstGeom prst="rect">
            <a:avLst/>
          </a:prstGeom>
          <a:noFill/>
          <a:ln/>
        </p:spPr>
        <p:txBody>
          <a:bodyPr wrap="square" lIns="0" tIns="0" rIns="0" bIns="0" rtlCol="0" anchor="ctr"/>
          <a:lstStyle/>
          <a:p>
            <a:pPr indent="0" marL="0">
              <a:buNone/>
            </a:pPr>
            <a:r>
              <a:rPr lang="en-US" sz="1200" i="1" dirty="0">
                <a:solidFill>
                  <a:srgbClr val="5C6E68"/>
                </a:solidFill>
                <a:latin typeface="Calibri" pitchFamily="34" charset="0"/>
                <a:ea typeface="Calibri" pitchFamily="34" charset="-122"/>
                <a:cs typeface="Calibri" pitchFamily="34" charset="-120"/>
              </a:rPr>
              <a:t>Scoring parameters sit with a separate capability that none of these four roles carries — exactly as your §3.8 asks.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6F5"/>
        </a:solidFill>
      </p:bgPr>
    </p:bg>
    <p:spTree>
      <p:nvGrpSpPr>
        <p:cNvPr id="1" name=""/>
        <p:cNvGrpSpPr/>
        <p:nvPr/>
      </p:nvGrpSpPr>
      <p:grpSpPr>
        <a:xfrm>
          <a:off x="0" y="0"/>
          <a:ext cx="0" cy="0"/>
          <a:chOff x="0" y="0"/>
          <a:chExt cx="0" cy="0"/>
        </a:xfrm>
      </p:grpSpPr>
      <p:sp>
        <p:nvSpPr>
          <p:cNvPr id="2" name="Text 0"/>
          <p:cNvSpPr txBox="1"/>
          <p:nvPr/>
        </p:nvSpPr>
        <p:spPr>
          <a:xfrm>
            <a:off x="640080" y="411480"/>
            <a:ext cx="9144000" cy="274320"/>
          </a:xfrm>
          <a:prstGeom prst="rect">
            <a:avLst/>
          </a:prstGeom>
          <a:noFill/>
          <a:ln/>
        </p:spPr>
        <p:txBody>
          <a:bodyPr wrap="square" lIns="0" tIns="0" rIns="0" bIns="0" rtlCol="0" anchor="ctr"/>
          <a:lstStyle/>
          <a:p>
            <a:pPr indent="0" marL="0">
              <a:buNone/>
            </a:pPr>
            <a:r>
              <a:rPr lang="en-US" sz="1100" b="1" spc="200" kern="0" dirty="0">
                <a:solidFill>
                  <a:srgbClr val="0B6E5F"/>
                </a:solidFill>
                <a:latin typeface="Calibri" pitchFamily="34" charset="0"/>
                <a:ea typeface="Calibri" pitchFamily="34" charset="-122"/>
                <a:cs typeface="Calibri" pitchFamily="34" charset="-120"/>
              </a:rPr>
              <a:t>THE GUARDRAILS</a:t>
            </a:r>
            <a:endParaRPr lang="en-US" sz="11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200" b="1" dirty="0">
                <a:solidFill>
                  <a:srgbClr val="10201C"/>
                </a:solidFill>
                <a:latin typeface="Cambria" pitchFamily="34" charset="0"/>
                <a:ea typeface="Cambria" pitchFamily="34" charset="-122"/>
                <a:cs typeface="Cambria" pitchFamily="34" charset="-120"/>
              </a:rPr>
              <a:t>Things nobody can do, whatever their role</a:t>
            </a:r>
            <a:endParaRPr lang="en-US" sz="3200" dirty="0"/>
          </a:p>
        </p:txBody>
      </p:sp>
      <p:sp>
        <p:nvSpPr>
          <p:cNvPr id="5" name="Shape 2"/>
          <p:cNvSpPr/>
          <p:nvPr/>
        </p:nvSpPr>
        <p:spPr>
          <a:xfrm>
            <a:off x="640080" y="1783080"/>
            <a:ext cx="5349240" cy="1298448"/>
          </a:xfrm>
          <a:prstGeom prst="roundRect">
            <a:avLst>
              <a:gd name="adj" fmla="val 4225"/>
            </a:avLst>
          </a:prstGeom>
          <a:solidFill>
            <a:srgbClr val="FFFFFF"/>
          </a:solidFill>
          <a:ln w="9525">
            <a:solidFill>
              <a:srgbClr val="E1E8E6"/>
            </a:solidFill>
            <a:prstDash val="solid"/>
          </a:ln>
          <a:effectLst>
            <a:outerShdw sx="100000" sy="100000" kx="0" ky="0" algn="bl" rotWithShape="0" blurRad="177800" dist="38100" dir="5400000">
              <a:srgbClr val="0A3D36">
                <a:alpha val="10000"/>
              </a:srgbClr>
            </a:outerShdw>
          </a:effectLst>
        </p:spPr>
      </p:sp>
      <p:sp>
        <p:nvSpPr>
          <p:cNvPr id="6" name="Shape 3"/>
          <p:cNvSpPr/>
          <p:nvPr/>
        </p:nvSpPr>
        <p:spPr>
          <a:xfrm>
            <a:off x="987552" y="2039112"/>
            <a:ext cx="310896" cy="310896"/>
          </a:xfrm>
          <a:prstGeom prst="ellipse">
            <a:avLst/>
          </a:prstGeom>
          <a:solidFill>
            <a:srgbClr val="B3761B"/>
          </a:solidFill>
          <a:ln w="12700">
            <a:solidFill>
              <a:srgbClr val="B3761B"/>
            </a:solidFill>
            <a:prstDash val="solid"/>
          </a:ln>
        </p:spPr>
      </p:sp>
      <p:sp>
        <p:nvSpPr>
          <p:cNvPr id="7" name="Text 4"/>
          <p:cNvSpPr txBox="1"/>
          <p:nvPr/>
        </p:nvSpPr>
        <p:spPr>
          <a:xfrm>
            <a:off x="1426464" y="2002536"/>
            <a:ext cx="4297680" cy="365760"/>
          </a:xfrm>
          <a:prstGeom prst="rect">
            <a:avLst/>
          </a:prstGeom>
          <a:noFill/>
          <a:ln/>
        </p:spPr>
        <p:txBody>
          <a:bodyPr wrap="square" lIns="0" tIns="0" rIns="0" bIns="0" rtlCol="0" anchor="ctr"/>
          <a:lstStyle/>
          <a:p>
            <a:pPr indent="0" marL="0">
              <a:buNone/>
            </a:pPr>
            <a:r>
              <a:rPr lang="en-US" sz="1450" b="1" dirty="0">
                <a:solidFill>
                  <a:srgbClr val="10201C"/>
                </a:solidFill>
                <a:latin typeface="Calibri" pitchFamily="34" charset="0"/>
                <a:ea typeface="Calibri" pitchFamily="34" charset="-122"/>
                <a:cs typeface="Calibri" pitchFamily="34" charset="-120"/>
              </a:rPr>
              <a:t>See a result before sign-off</a:t>
            </a:r>
            <a:endParaRPr lang="en-US" sz="1450" dirty="0"/>
          </a:p>
        </p:txBody>
      </p:sp>
      <p:sp>
        <p:nvSpPr>
          <p:cNvPr id="8" name="Text 5"/>
          <p:cNvSpPr txBox="1"/>
          <p:nvPr/>
        </p:nvSpPr>
        <p:spPr>
          <a:xfrm>
            <a:off x="1426464" y="2404872"/>
            <a:ext cx="4297680" cy="548640"/>
          </a:xfrm>
          <a:prstGeom prst="rect">
            <a:avLst/>
          </a:prstGeom>
          <a:noFill/>
          <a:ln/>
        </p:spPr>
        <p:txBody>
          <a:bodyPr wrap="square" lIns="0" tIns="0" rIns="0" bIns="0" rtlCol="0" anchor="t"/>
          <a:lstStyle/>
          <a:p>
            <a:pPr indent="0" marL="0">
              <a:lnSpc>
                <a:spcPts val="1500"/>
              </a:lnSpc>
              <a:buNone/>
            </a:pPr>
            <a:r>
              <a:rPr lang="en-US" sz="1200" dirty="0">
                <a:solidFill>
                  <a:srgbClr val="5C6E68"/>
                </a:solidFill>
                <a:latin typeface="Calibri" pitchFamily="34" charset="0"/>
                <a:ea typeface="Calibri" pitchFamily="34" charset="-122"/>
                <a:cs typeface="Calibri" pitchFamily="34" charset="-120"/>
              </a:rPr>
              <a:t>Including the person it is about, on their own record. Calibration happens before anyone sees a number.</a:t>
            </a:r>
            <a:endParaRPr lang="en-US" sz="1200" dirty="0"/>
          </a:p>
        </p:txBody>
      </p:sp>
      <p:sp>
        <p:nvSpPr>
          <p:cNvPr id="9" name="Shape 6"/>
          <p:cNvSpPr/>
          <p:nvPr/>
        </p:nvSpPr>
        <p:spPr>
          <a:xfrm>
            <a:off x="6355080" y="1783080"/>
            <a:ext cx="5349240" cy="1298448"/>
          </a:xfrm>
          <a:prstGeom prst="roundRect">
            <a:avLst>
              <a:gd name="adj" fmla="val 4225"/>
            </a:avLst>
          </a:prstGeom>
          <a:solidFill>
            <a:srgbClr val="FFFFFF"/>
          </a:solidFill>
          <a:ln w="9525">
            <a:solidFill>
              <a:srgbClr val="E1E8E6"/>
            </a:solidFill>
            <a:prstDash val="solid"/>
          </a:ln>
          <a:effectLst>
            <a:outerShdw sx="100000" sy="100000" kx="0" ky="0" algn="bl" rotWithShape="0" blurRad="177800" dist="38100" dir="5400000">
              <a:srgbClr val="0A3D36">
                <a:alpha val="10000"/>
              </a:srgbClr>
            </a:outerShdw>
          </a:effectLst>
        </p:spPr>
      </p:sp>
      <p:sp>
        <p:nvSpPr>
          <p:cNvPr id="10" name="Shape 7"/>
          <p:cNvSpPr/>
          <p:nvPr/>
        </p:nvSpPr>
        <p:spPr>
          <a:xfrm>
            <a:off x="6702552" y="2039112"/>
            <a:ext cx="310896" cy="310896"/>
          </a:xfrm>
          <a:prstGeom prst="ellipse">
            <a:avLst/>
          </a:prstGeom>
          <a:solidFill>
            <a:srgbClr val="B3761B"/>
          </a:solidFill>
          <a:ln w="12700">
            <a:solidFill>
              <a:srgbClr val="B3761B"/>
            </a:solidFill>
            <a:prstDash val="solid"/>
          </a:ln>
        </p:spPr>
      </p:sp>
      <p:sp>
        <p:nvSpPr>
          <p:cNvPr id="11" name="Text 8"/>
          <p:cNvSpPr txBox="1"/>
          <p:nvPr/>
        </p:nvSpPr>
        <p:spPr>
          <a:xfrm>
            <a:off x="7141464" y="2002536"/>
            <a:ext cx="4297680" cy="365760"/>
          </a:xfrm>
          <a:prstGeom prst="rect">
            <a:avLst/>
          </a:prstGeom>
          <a:noFill/>
          <a:ln/>
        </p:spPr>
        <p:txBody>
          <a:bodyPr wrap="square" lIns="0" tIns="0" rIns="0" bIns="0" rtlCol="0" anchor="ctr"/>
          <a:lstStyle/>
          <a:p>
            <a:pPr indent="0" marL="0">
              <a:buNone/>
            </a:pPr>
            <a:r>
              <a:rPr lang="en-US" sz="1450" b="1" dirty="0">
                <a:solidFill>
                  <a:srgbClr val="10201C"/>
                </a:solidFill>
                <a:latin typeface="Calibri" pitchFamily="34" charset="0"/>
                <a:ea typeface="Calibri" pitchFamily="34" charset="-122"/>
                <a:cs typeface="Calibri" pitchFamily="34" charset="-120"/>
              </a:rPr>
              <a:t>See who reviewed them</a:t>
            </a:r>
            <a:endParaRPr lang="en-US" sz="1450" dirty="0"/>
          </a:p>
        </p:txBody>
      </p:sp>
      <p:sp>
        <p:nvSpPr>
          <p:cNvPr id="12" name="Text 9"/>
          <p:cNvSpPr txBox="1"/>
          <p:nvPr/>
        </p:nvSpPr>
        <p:spPr>
          <a:xfrm>
            <a:off x="7141464" y="2404872"/>
            <a:ext cx="4297680" cy="548640"/>
          </a:xfrm>
          <a:prstGeom prst="rect">
            <a:avLst/>
          </a:prstGeom>
          <a:noFill/>
          <a:ln/>
        </p:spPr>
        <p:txBody>
          <a:bodyPr wrap="square" lIns="0" tIns="0" rIns="0" bIns="0" rtlCol="0" anchor="t"/>
          <a:lstStyle/>
          <a:p>
            <a:pPr indent="0" marL="0">
              <a:lnSpc>
                <a:spcPts val="1500"/>
              </a:lnSpc>
              <a:buNone/>
            </a:pPr>
            <a:r>
              <a:rPr lang="en-US" sz="1200" dirty="0">
                <a:solidFill>
                  <a:srgbClr val="5C6E68"/>
                </a:solidFill>
                <a:latin typeface="Calibri" pitchFamily="34" charset="0"/>
                <a:ea typeface="Calibri" pitchFamily="34" charset="-122"/>
                <a:cs typeface="Calibri" pitchFamily="34" charset="-120"/>
              </a:rPr>
              <a:t>A subject cannot open their own peer panel. The system refuses it at the row, not on the screen.</a:t>
            </a:r>
            <a:endParaRPr lang="en-US" sz="1200" dirty="0"/>
          </a:p>
        </p:txBody>
      </p:sp>
      <p:sp>
        <p:nvSpPr>
          <p:cNvPr id="13" name="Shape 10"/>
          <p:cNvSpPr/>
          <p:nvPr/>
        </p:nvSpPr>
        <p:spPr>
          <a:xfrm>
            <a:off x="640080" y="3264408"/>
            <a:ext cx="5349240" cy="1298448"/>
          </a:xfrm>
          <a:prstGeom prst="roundRect">
            <a:avLst>
              <a:gd name="adj" fmla="val 4225"/>
            </a:avLst>
          </a:prstGeom>
          <a:solidFill>
            <a:srgbClr val="FFFFFF"/>
          </a:solidFill>
          <a:ln w="9525">
            <a:solidFill>
              <a:srgbClr val="E1E8E6"/>
            </a:solidFill>
            <a:prstDash val="solid"/>
          </a:ln>
          <a:effectLst>
            <a:outerShdw sx="100000" sy="100000" kx="0" ky="0" algn="bl" rotWithShape="0" blurRad="177800" dist="38100" dir="5400000">
              <a:srgbClr val="0A3D36">
                <a:alpha val="10000"/>
              </a:srgbClr>
            </a:outerShdw>
          </a:effectLst>
        </p:spPr>
      </p:sp>
      <p:sp>
        <p:nvSpPr>
          <p:cNvPr id="14" name="Shape 11"/>
          <p:cNvSpPr/>
          <p:nvPr/>
        </p:nvSpPr>
        <p:spPr>
          <a:xfrm>
            <a:off x="987552" y="3520440"/>
            <a:ext cx="310896" cy="310896"/>
          </a:xfrm>
          <a:prstGeom prst="ellipse">
            <a:avLst/>
          </a:prstGeom>
          <a:solidFill>
            <a:srgbClr val="B3761B"/>
          </a:solidFill>
          <a:ln w="12700">
            <a:solidFill>
              <a:srgbClr val="B3761B"/>
            </a:solidFill>
            <a:prstDash val="solid"/>
          </a:ln>
        </p:spPr>
      </p:sp>
      <p:sp>
        <p:nvSpPr>
          <p:cNvPr id="15" name="Text 12"/>
          <p:cNvSpPr txBox="1"/>
          <p:nvPr/>
        </p:nvSpPr>
        <p:spPr>
          <a:xfrm>
            <a:off x="1426464" y="3483864"/>
            <a:ext cx="4297680" cy="365760"/>
          </a:xfrm>
          <a:prstGeom prst="rect">
            <a:avLst/>
          </a:prstGeom>
          <a:noFill/>
          <a:ln/>
        </p:spPr>
        <p:txBody>
          <a:bodyPr wrap="square" lIns="0" tIns="0" rIns="0" bIns="0" rtlCol="0" anchor="ctr"/>
          <a:lstStyle/>
          <a:p>
            <a:pPr indent="0" marL="0">
              <a:buNone/>
            </a:pPr>
            <a:r>
              <a:rPr lang="en-US" sz="1450" b="1" dirty="0">
                <a:solidFill>
                  <a:srgbClr val="10201C"/>
                </a:solidFill>
                <a:latin typeface="Calibri" pitchFamily="34" charset="0"/>
                <a:ea typeface="Calibri" pitchFamily="34" charset="-122"/>
                <a:cs typeface="Calibri" pitchFamily="34" charset="-120"/>
              </a:rPr>
              <a:t>See a task evaluation still in draft</a:t>
            </a:r>
            <a:endParaRPr lang="en-US" sz="1450" dirty="0"/>
          </a:p>
        </p:txBody>
      </p:sp>
      <p:sp>
        <p:nvSpPr>
          <p:cNvPr id="16" name="Text 13"/>
          <p:cNvSpPr txBox="1"/>
          <p:nvPr/>
        </p:nvSpPr>
        <p:spPr>
          <a:xfrm>
            <a:off x="1426464" y="3886200"/>
            <a:ext cx="4297680" cy="548640"/>
          </a:xfrm>
          <a:prstGeom prst="rect">
            <a:avLst/>
          </a:prstGeom>
          <a:noFill/>
          <a:ln/>
        </p:spPr>
        <p:txBody>
          <a:bodyPr wrap="square" lIns="0" tIns="0" rIns="0" bIns="0" rtlCol="0" anchor="t"/>
          <a:lstStyle/>
          <a:p>
            <a:pPr indent="0" marL="0">
              <a:lnSpc>
                <a:spcPts val="1500"/>
              </a:lnSpc>
              <a:buNone/>
            </a:pPr>
            <a:r>
              <a:rPr lang="en-US" sz="1200" dirty="0">
                <a:solidFill>
                  <a:srgbClr val="5C6E68"/>
                </a:solidFill>
                <a:latin typeface="Calibri" pitchFamily="34" charset="0"/>
                <a:ea typeface="Calibri" pitchFamily="34" charset="-122"/>
                <a:cs typeface="Calibri" pitchFamily="34" charset="-120"/>
              </a:rPr>
              <a:t>The subject cannot see it until it is submitted — so an unfinished judgement is never half-read.</a:t>
            </a:r>
            <a:endParaRPr lang="en-US" sz="1200" dirty="0"/>
          </a:p>
        </p:txBody>
      </p:sp>
      <p:sp>
        <p:nvSpPr>
          <p:cNvPr id="17" name="Shape 14"/>
          <p:cNvSpPr/>
          <p:nvPr/>
        </p:nvSpPr>
        <p:spPr>
          <a:xfrm>
            <a:off x="6355080" y="3264408"/>
            <a:ext cx="5349240" cy="1298448"/>
          </a:xfrm>
          <a:prstGeom prst="roundRect">
            <a:avLst>
              <a:gd name="adj" fmla="val 4225"/>
            </a:avLst>
          </a:prstGeom>
          <a:solidFill>
            <a:srgbClr val="FFFFFF"/>
          </a:solidFill>
          <a:ln w="9525">
            <a:solidFill>
              <a:srgbClr val="E1E8E6"/>
            </a:solidFill>
            <a:prstDash val="solid"/>
          </a:ln>
          <a:effectLst>
            <a:outerShdw sx="100000" sy="100000" kx="0" ky="0" algn="bl" rotWithShape="0" blurRad="177800" dist="38100" dir="5400000">
              <a:srgbClr val="0A3D36">
                <a:alpha val="10000"/>
              </a:srgbClr>
            </a:outerShdw>
          </a:effectLst>
        </p:spPr>
      </p:sp>
      <p:sp>
        <p:nvSpPr>
          <p:cNvPr id="18" name="Shape 15"/>
          <p:cNvSpPr/>
          <p:nvPr/>
        </p:nvSpPr>
        <p:spPr>
          <a:xfrm>
            <a:off x="6702552" y="3520440"/>
            <a:ext cx="310896" cy="310896"/>
          </a:xfrm>
          <a:prstGeom prst="ellipse">
            <a:avLst/>
          </a:prstGeom>
          <a:solidFill>
            <a:srgbClr val="B3761B"/>
          </a:solidFill>
          <a:ln w="12700">
            <a:solidFill>
              <a:srgbClr val="B3761B"/>
            </a:solidFill>
            <a:prstDash val="solid"/>
          </a:ln>
        </p:spPr>
      </p:sp>
      <p:sp>
        <p:nvSpPr>
          <p:cNvPr id="19" name="Text 16"/>
          <p:cNvSpPr txBox="1"/>
          <p:nvPr/>
        </p:nvSpPr>
        <p:spPr>
          <a:xfrm>
            <a:off x="7141464" y="3483864"/>
            <a:ext cx="4297680" cy="365760"/>
          </a:xfrm>
          <a:prstGeom prst="rect">
            <a:avLst/>
          </a:prstGeom>
          <a:noFill/>
          <a:ln/>
        </p:spPr>
        <p:txBody>
          <a:bodyPr wrap="square" lIns="0" tIns="0" rIns="0" bIns="0" rtlCol="0" anchor="ctr"/>
          <a:lstStyle/>
          <a:p>
            <a:pPr indent="0" marL="0">
              <a:buNone/>
            </a:pPr>
            <a:r>
              <a:rPr lang="en-US" sz="1450" b="1" dirty="0">
                <a:solidFill>
                  <a:srgbClr val="10201C"/>
                </a:solidFill>
                <a:latin typeface="Calibri" pitchFamily="34" charset="0"/>
                <a:ea typeface="Calibri" pitchFamily="34" charset="-122"/>
                <a:cs typeface="Calibri" pitchFamily="34" charset="-120"/>
              </a:rPr>
              <a:t>Reach another company</a:t>
            </a:r>
            <a:endParaRPr lang="en-US" sz="1450" dirty="0"/>
          </a:p>
        </p:txBody>
      </p:sp>
      <p:sp>
        <p:nvSpPr>
          <p:cNvPr id="20" name="Text 17"/>
          <p:cNvSpPr txBox="1"/>
          <p:nvPr/>
        </p:nvSpPr>
        <p:spPr>
          <a:xfrm>
            <a:off x="7141464" y="3886200"/>
            <a:ext cx="4297680" cy="548640"/>
          </a:xfrm>
          <a:prstGeom prst="rect">
            <a:avLst/>
          </a:prstGeom>
          <a:noFill/>
          <a:ln/>
        </p:spPr>
        <p:txBody>
          <a:bodyPr wrap="square" lIns="0" tIns="0" rIns="0" bIns="0" rtlCol="0" anchor="t"/>
          <a:lstStyle/>
          <a:p>
            <a:pPr indent="0" marL="0">
              <a:lnSpc>
                <a:spcPts val="1500"/>
              </a:lnSpc>
              <a:buNone/>
            </a:pPr>
            <a:r>
              <a:rPr lang="en-US" sz="1200" dirty="0">
                <a:solidFill>
                  <a:srgbClr val="5C6E68"/>
                </a:solidFill>
                <a:latin typeface="Calibri" pitchFamily="34" charset="0"/>
                <a:ea typeface="Calibri" pitchFamily="34" charset="-122"/>
                <a:cs typeface="Calibri" pitchFamily="34" charset="-120"/>
              </a:rPr>
              <a:t>Every check is scoped to one organisation first. No role, however senior, crosses that line.</a:t>
            </a:r>
            <a:endParaRPr lang="en-US" sz="1200" dirty="0"/>
          </a:p>
        </p:txBody>
      </p:sp>
      <p:sp>
        <p:nvSpPr>
          <p:cNvPr id="21" name="Shape 18"/>
          <p:cNvSpPr/>
          <p:nvPr/>
        </p:nvSpPr>
        <p:spPr>
          <a:xfrm>
            <a:off x="640080" y="4745736"/>
            <a:ext cx="5349240" cy="1298448"/>
          </a:xfrm>
          <a:prstGeom prst="roundRect">
            <a:avLst>
              <a:gd name="adj" fmla="val 4225"/>
            </a:avLst>
          </a:prstGeom>
          <a:solidFill>
            <a:srgbClr val="FFFFFF"/>
          </a:solidFill>
          <a:ln w="9525">
            <a:solidFill>
              <a:srgbClr val="E1E8E6"/>
            </a:solidFill>
            <a:prstDash val="solid"/>
          </a:ln>
          <a:effectLst>
            <a:outerShdw sx="100000" sy="100000" kx="0" ky="0" algn="bl" rotWithShape="0" blurRad="177800" dist="38100" dir="5400000">
              <a:srgbClr val="0A3D36">
                <a:alpha val="10000"/>
              </a:srgbClr>
            </a:outerShdw>
          </a:effectLst>
        </p:spPr>
      </p:sp>
      <p:sp>
        <p:nvSpPr>
          <p:cNvPr id="22" name="Shape 19"/>
          <p:cNvSpPr/>
          <p:nvPr/>
        </p:nvSpPr>
        <p:spPr>
          <a:xfrm>
            <a:off x="987552" y="5001768"/>
            <a:ext cx="310896" cy="310896"/>
          </a:xfrm>
          <a:prstGeom prst="ellipse">
            <a:avLst/>
          </a:prstGeom>
          <a:solidFill>
            <a:srgbClr val="B3761B"/>
          </a:solidFill>
          <a:ln w="12700">
            <a:solidFill>
              <a:srgbClr val="B3761B"/>
            </a:solidFill>
            <a:prstDash val="solid"/>
          </a:ln>
        </p:spPr>
      </p:sp>
      <p:sp>
        <p:nvSpPr>
          <p:cNvPr id="23" name="Text 20"/>
          <p:cNvSpPr txBox="1"/>
          <p:nvPr/>
        </p:nvSpPr>
        <p:spPr>
          <a:xfrm>
            <a:off x="1426464" y="4965192"/>
            <a:ext cx="4297680" cy="365760"/>
          </a:xfrm>
          <a:prstGeom prst="rect">
            <a:avLst/>
          </a:prstGeom>
          <a:noFill/>
          <a:ln/>
        </p:spPr>
        <p:txBody>
          <a:bodyPr wrap="square" lIns="0" tIns="0" rIns="0" bIns="0" rtlCol="0" anchor="ctr"/>
          <a:lstStyle/>
          <a:p>
            <a:pPr indent="0" marL="0">
              <a:buNone/>
            </a:pPr>
            <a:r>
              <a:rPr lang="en-US" sz="1450" b="1" dirty="0">
                <a:solidFill>
                  <a:srgbClr val="10201C"/>
                </a:solidFill>
                <a:latin typeface="Calibri" pitchFamily="34" charset="0"/>
                <a:ea typeface="Calibri" pitchFamily="34" charset="-122"/>
                <a:cs typeface="Calibri" pitchFamily="34" charset="-120"/>
              </a:rPr>
              <a:t>Make a record disappear</a:t>
            </a:r>
            <a:endParaRPr lang="en-US" sz="1450" dirty="0"/>
          </a:p>
        </p:txBody>
      </p:sp>
      <p:sp>
        <p:nvSpPr>
          <p:cNvPr id="24" name="Text 21"/>
          <p:cNvSpPr txBox="1"/>
          <p:nvPr/>
        </p:nvSpPr>
        <p:spPr>
          <a:xfrm>
            <a:off x="1426464" y="5367528"/>
            <a:ext cx="4297680" cy="548640"/>
          </a:xfrm>
          <a:prstGeom prst="rect">
            <a:avLst/>
          </a:prstGeom>
          <a:noFill/>
          <a:ln/>
        </p:spPr>
        <p:txBody>
          <a:bodyPr wrap="square" lIns="0" tIns="0" rIns="0" bIns="0" rtlCol="0" anchor="t"/>
          <a:lstStyle/>
          <a:p>
            <a:pPr indent="0" marL="0">
              <a:lnSpc>
                <a:spcPts val="1500"/>
              </a:lnSpc>
              <a:buNone/>
            </a:pPr>
            <a:r>
              <a:rPr lang="en-US" sz="1200" dirty="0">
                <a:solidFill>
                  <a:srgbClr val="5C6E68"/>
                </a:solidFill>
                <a:latin typeface="Calibri" pitchFamily="34" charset="0"/>
                <a:ea typeface="Calibri" pitchFamily="34" charset="-122"/>
                <a:cs typeface="Calibri" pitchFamily="34" charset="-120"/>
              </a:rPr>
              <a:t>Departments and employment close with a date. History stays answerable a year later.</a:t>
            </a:r>
            <a:endParaRPr lang="en-US" sz="1200" dirty="0"/>
          </a:p>
        </p:txBody>
      </p:sp>
      <p:sp>
        <p:nvSpPr>
          <p:cNvPr id="25" name="Shape 22"/>
          <p:cNvSpPr/>
          <p:nvPr/>
        </p:nvSpPr>
        <p:spPr>
          <a:xfrm>
            <a:off x="6355080" y="4745736"/>
            <a:ext cx="5349240" cy="1298448"/>
          </a:xfrm>
          <a:prstGeom prst="roundRect">
            <a:avLst>
              <a:gd name="adj" fmla="val 4225"/>
            </a:avLst>
          </a:prstGeom>
          <a:solidFill>
            <a:srgbClr val="FFFFFF"/>
          </a:solidFill>
          <a:ln w="9525">
            <a:solidFill>
              <a:srgbClr val="E1E8E6"/>
            </a:solidFill>
            <a:prstDash val="solid"/>
          </a:ln>
          <a:effectLst>
            <a:outerShdw sx="100000" sy="100000" kx="0" ky="0" algn="bl" rotWithShape="0" blurRad="177800" dist="38100" dir="5400000">
              <a:srgbClr val="0A3D36">
                <a:alpha val="10000"/>
              </a:srgbClr>
            </a:outerShdw>
          </a:effectLst>
        </p:spPr>
      </p:sp>
      <p:sp>
        <p:nvSpPr>
          <p:cNvPr id="26" name="Shape 23"/>
          <p:cNvSpPr/>
          <p:nvPr/>
        </p:nvSpPr>
        <p:spPr>
          <a:xfrm>
            <a:off x="6702552" y="5001768"/>
            <a:ext cx="310896" cy="310896"/>
          </a:xfrm>
          <a:prstGeom prst="ellipse">
            <a:avLst/>
          </a:prstGeom>
          <a:solidFill>
            <a:srgbClr val="B3761B"/>
          </a:solidFill>
          <a:ln w="12700">
            <a:solidFill>
              <a:srgbClr val="B3761B"/>
            </a:solidFill>
            <a:prstDash val="solid"/>
          </a:ln>
        </p:spPr>
      </p:sp>
      <p:sp>
        <p:nvSpPr>
          <p:cNvPr id="27" name="Text 24"/>
          <p:cNvSpPr txBox="1"/>
          <p:nvPr/>
        </p:nvSpPr>
        <p:spPr>
          <a:xfrm>
            <a:off x="7141464" y="4965192"/>
            <a:ext cx="4297680" cy="365760"/>
          </a:xfrm>
          <a:prstGeom prst="rect">
            <a:avLst/>
          </a:prstGeom>
          <a:noFill/>
          <a:ln/>
        </p:spPr>
        <p:txBody>
          <a:bodyPr wrap="square" lIns="0" tIns="0" rIns="0" bIns="0" rtlCol="0" anchor="ctr"/>
          <a:lstStyle/>
          <a:p>
            <a:pPr indent="0" marL="0">
              <a:buNone/>
            </a:pPr>
            <a:r>
              <a:rPr lang="en-US" sz="1450" b="1" dirty="0">
                <a:solidFill>
                  <a:srgbClr val="10201C"/>
                </a:solidFill>
                <a:latin typeface="Calibri" pitchFamily="34" charset="0"/>
                <a:ea typeface="Calibri" pitchFamily="34" charset="-122"/>
                <a:cs typeface="Calibri" pitchFamily="34" charset="-120"/>
              </a:rPr>
              <a:t>Change anything silently</a:t>
            </a:r>
            <a:endParaRPr lang="en-US" sz="1450" dirty="0"/>
          </a:p>
        </p:txBody>
      </p:sp>
      <p:sp>
        <p:nvSpPr>
          <p:cNvPr id="28" name="Text 25"/>
          <p:cNvSpPr txBox="1"/>
          <p:nvPr/>
        </p:nvSpPr>
        <p:spPr>
          <a:xfrm>
            <a:off x="7141464" y="5367528"/>
            <a:ext cx="4297680" cy="548640"/>
          </a:xfrm>
          <a:prstGeom prst="rect">
            <a:avLst/>
          </a:prstGeom>
          <a:noFill/>
          <a:ln/>
        </p:spPr>
        <p:txBody>
          <a:bodyPr wrap="square" lIns="0" tIns="0" rIns="0" bIns="0" rtlCol="0" anchor="t"/>
          <a:lstStyle/>
          <a:p>
            <a:pPr indent="0" marL="0">
              <a:lnSpc>
                <a:spcPts val="1500"/>
              </a:lnSpc>
              <a:buNone/>
            </a:pPr>
            <a:r>
              <a:rPr lang="en-US" sz="1200" dirty="0">
                <a:solidFill>
                  <a:srgbClr val="5C6E68"/>
                </a:solidFill>
                <a:latin typeface="Calibri" pitchFamily="34" charset="0"/>
                <a:ea typeface="Calibri" pitchFamily="34" charset="-122"/>
                <a:cs typeface="Calibri" pitchFamily="34" charset="-120"/>
              </a:rPr>
              <a:t>Who changed what, and when. That trail is what makes an appraisal defensible.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3D36"/>
        </a:solidFill>
      </p:bgPr>
    </p:bg>
    <p:spTree>
      <p:nvGrpSpPr>
        <p:cNvPr id="1" name=""/>
        <p:cNvGrpSpPr/>
        <p:nvPr/>
      </p:nvGrpSpPr>
      <p:grpSpPr>
        <a:xfrm>
          <a:off x="0" y="0"/>
          <a:ext cx="0" cy="0"/>
          <a:chOff x="0" y="0"/>
          <a:chExt cx="0" cy="0"/>
        </a:xfrm>
      </p:grpSpPr>
      <p:sp>
        <p:nvSpPr>
          <p:cNvPr id="2" name="Shape 0"/>
          <p:cNvSpPr/>
          <p:nvPr/>
        </p:nvSpPr>
        <p:spPr>
          <a:xfrm>
            <a:off x="11247120" y="320040"/>
            <a:ext cx="2103120" cy="2103120"/>
          </a:xfrm>
          <a:prstGeom prst="ellipse">
            <a:avLst/>
          </a:prstGeom>
          <a:solidFill>
            <a:srgbClr val="0E5248"/>
          </a:solidFill>
          <a:ln w="12700">
            <a:solidFill>
              <a:srgbClr val="0E5248"/>
            </a:solidFill>
            <a:prstDash val="solid"/>
          </a:ln>
        </p:spPr>
      </p:sp>
      <p:sp>
        <p:nvSpPr>
          <p:cNvPr id="3" name="Text 1"/>
          <p:cNvSpPr txBox="1"/>
          <p:nvPr/>
        </p:nvSpPr>
        <p:spPr>
          <a:xfrm>
            <a:off x="640080" y="640080"/>
            <a:ext cx="7315200" cy="320040"/>
          </a:xfrm>
          <a:prstGeom prst="rect">
            <a:avLst/>
          </a:prstGeom>
          <a:noFill/>
          <a:ln/>
        </p:spPr>
        <p:txBody>
          <a:bodyPr wrap="square" lIns="0" tIns="0" rIns="0" bIns="0" rtlCol="0" anchor="ctr"/>
          <a:lstStyle/>
          <a:p>
            <a:pPr indent="0" marL="0">
              <a:buNone/>
            </a:pPr>
            <a:r>
              <a:rPr lang="en-US" sz="1200" b="1" spc="300" kern="0" dirty="0">
                <a:solidFill>
                  <a:srgbClr val="8FBDB2"/>
                </a:solidFill>
                <a:latin typeface="Calibri" pitchFamily="34" charset="0"/>
                <a:ea typeface="Calibri" pitchFamily="34" charset="-122"/>
                <a:cs typeface="Calibri" pitchFamily="34" charset="-120"/>
              </a:rPr>
              <a:t>THE LIVE WALKTHROUGH</a:t>
            </a:r>
            <a:endParaRPr lang="en-US" sz="1200" dirty="0"/>
          </a:p>
        </p:txBody>
      </p:sp>
      <p:sp>
        <p:nvSpPr>
          <p:cNvPr id="4" name="Text 2"/>
          <p:cNvSpPr txBox="1"/>
          <p:nvPr/>
        </p:nvSpPr>
        <p:spPr>
          <a:xfrm>
            <a:off x="640080" y="1005840"/>
            <a:ext cx="96012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Three sign-ins, in this order</a:t>
            </a:r>
            <a:endParaRPr lang="en-US" sz="3200" dirty="0"/>
          </a:p>
        </p:txBody>
      </p:sp>
      <p:sp>
        <p:nvSpPr>
          <p:cNvPr id="5" name="Shape 3"/>
          <p:cNvSpPr/>
          <p:nvPr/>
        </p:nvSpPr>
        <p:spPr>
          <a:xfrm>
            <a:off x="640080" y="1965960"/>
            <a:ext cx="457200" cy="457200"/>
          </a:xfrm>
          <a:prstGeom prst="ellipse">
            <a:avLst/>
          </a:prstGeom>
          <a:solidFill>
            <a:srgbClr val="B3761B"/>
          </a:solidFill>
          <a:ln w="12700">
            <a:solidFill>
              <a:srgbClr val="B3761B"/>
            </a:solidFill>
            <a:prstDash val="solid"/>
          </a:ln>
        </p:spPr>
      </p:sp>
      <p:sp>
        <p:nvSpPr>
          <p:cNvPr id="6" name="Text 4"/>
          <p:cNvSpPr txBox="1"/>
          <p:nvPr/>
        </p:nvSpPr>
        <p:spPr>
          <a:xfrm>
            <a:off x="640080" y="1965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1325880" y="1947672"/>
            <a:ext cx="3291840" cy="3200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josefina.gonzaga</a:t>
            </a:r>
            <a:endParaRPr lang="en-US" sz="1600" dirty="0"/>
          </a:p>
        </p:txBody>
      </p:sp>
      <p:sp>
        <p:nvSpPr>
          <p:cNvPr id="8" name="Text 6"/>
          <p:cNvSpPr txBox="1"/>
          <p:nvPr/>
        </p:nvSpPr>
        <p:spPr>
          <a:xfrm>
            <a:off x="4663440" y="1984248"/>
            <a:ext cx="3108960" cy="274320"/>
          </a:xfrm>
          <a:prstGeom prst="rect">
            <a:avLst/>
          </a:prstGeom>
          <a:noFill/>
          <a:ln/>
        </p:spPr>
        <p:txBody>
          <a:bodyPr wrap="square" lIns="0" tIns="0" rIns="0" bIns="0" rtlCol="0" anchor="ctr"/>
          <a:lstStyle/>
          <a:p>
            <a:pPr indent="0" marL="0">
              <a:buNone/>
            </a:pPr>
            <a:r>
              <a:rPr lang="en-US" sz="1250" dirty="0">
                <a:solidFill>
                  <a:srgbClr val="8FBDB2"/>
                </a:solidFill>
                <a:latin typeface="Calibri" pitchFamily="34" charset="0"/>
                <a:ea typeface="Calibri" pitchFamily="34" charset="-122"/>
                <a:cs typeface="Calibri" pitchFamily="34" charset="-120"/>
              </a:rPr>
              <a:t>Associate, R11</a:t>
            </a:r>
            <a:endParaRPr lang="en-US" sz="1250" dirty="0"/>
          </a:p>
        </p:txBody>
      </p:sp>
      <p:sp>
        <p:nvSpPr>
          <p:cNvPr id="9" name="Text 7"/>
          <p:cNvSpPr txBox="1"/>
          <p:nvPr/>
        </p:nvSpPr>
        <p:spPr>
          <a:xfrm>
            <a:off x="1325880" y="2313432"/>
            <a:ext cx="9509760" cy="640080"/>
          </a:xfrm>
          <a:prstGeom prst="rect">
            <a:avLst/>
          </a:prstGeom>
          <a:noFill/>
          <a:ln/>
        </p:spPr>
        <p:txBody>
          <a:bodyPr wrap="square" lIns="0" tIns="0" rIns="0" bIns="0" rtlCol="0" anchor="t"/>
          <a:lstStyle/>
          <a:p>
            <a:pPr indent="0" marL="0">
              <a:lnSpc>
                <a:spcPts val="1800"/>
              </a:lnSpc>
              <a:buNone/>
            </a:pPr>
            <a:r>
              <a:rPr lang="en-US" sz="1300" dirty="0">
                <a:solidFill>
                  <a:srgbClr val="BFD6D0"/>
                </a:solidFill>
                <a:latin typeface="Calibri" pitchFamily="34" charset="0"/>
                <a:ea typeface="Calibri" pitchFamily="34" charset="-122"/>
                <a:cs typeface="Calibri" pitchFamily="34" charset="-120"/>
              </a:rPr>
              <a:t>Start at the bottom. Her own targets and history are complete; the team and setup screens are not there at all.</a:t>
            </a:r>
            <a:endParaRPr lang="en-US" sz="1300" dirty="0"/>
          </a:p>
        </p:txBody>
      </p:sp>
      <p:sp>
        <p:nvSpPr>
          <p:cNvPr id="10" name="Shape 8"/>
          <p:cNvSpPr/>
          <p:nvPr/>
        </p:nvSpPr>
        <p:spPr>
          <a:xfrm>
            <a:off x="640080" y="3200400"/>
            <a:ext cx="457200" cy="457200"/>
          </a:xfrm>
          <a:prstGeom prst="ellipse">
            <a:avLst/>
          </a:prstGeom>
          <a:solidFill>
            <a:srgbClr val="B3761B"/>
          </a:solidFill>
          <a:ln w="12700">
            <a:solidFill>
              <a:srgbClr val="B3761B"/>
            </a:solidFill>
            <a:prstDash val="solid"/>
          </a:ln>
        </p:spPr>
      </p:sp>
      <p:sp>
        <p:nvSpPr>
          <p:cNvPr id="11" name="Text 9"/>
          <p:cNvSpPr txBox="1"/>
          <p:nvPr/>
        </p:nvSpPr>
        <p:spPr>
          <a:xfrm>
            <a:off x="640080" y="32004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txBox="1"/>
          <p:nvPr/>
        </p:nvSpPr>
        <p:spPr>
          <a:xfrm>
            <a:off x="1325880" y="3182112"/>
            <a:ext cx="3291840" cy="3200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crisanto.rivera</a:t>
            </a:r>
            <a:endParaRPr lang="en-US" sz="1600" dirty="0"/>
          </a:p>
        </p:txBody>
      </p:sp>
      <p:sp>
        <p:nvSpPr>
          <p:cNvPr id="13" name="Text 11"/>
          <p:cNvSpPr txBox="1"/>
          <p:nvPr/>
        </p:nvSpPr>
        <p:spPr>
          <a:xfrm>
            <a:off x="4663440" y="3218688"/>
            <a:ext cx="3108960" cy="274320"/>
          </a:xfrm>
          <a:prstGeom prst="rect">
            <a:avLst/>
          </a:prstGeom>
          <a:noFill/>
          <a:ln/>
        </p:spPr>
        <p:txBody>
          <a:bodyPr wrap="square" lIns="0" tIns="0" rIns="0" bIns="0" rtlCol="0" anchor="ctr"/>
          <a:lstStyle/>
          <a:p>
            <a:pPr indent="0" marL="0">
              <a:buNone/>
            </a:pPr>
            <a:r>
              <a:rPr lang="en-US" sz="1250" dirty="0">
                <a:solidFill>
                  <a:srgbClr val="8FBDB2"/>
                </a:solidFill>
                <a:latin typeface="Calibri" pitchFamily="34" charset="0"/>
                <a:ea typeface="Calibri" pitchFamily="34" charset="-122"/>
                <a:cs typeface="Calibri" pitchFamily="34" charset="-120"/>
              </a:rPr>
              <a:t>Section Head, R7 — 8 reports</a:t>
            </a:r>
            <a:endParaRPr lang="en-US" sz="1250" dirty="0"/>
          </a:p>
        </p:txBody>
      </p:sp>
      <p:sp>
        <p:nvSpPr>
          <p:cNvPr id="14" name="Text 12"/>
          <p:cNvSpPr txBox="1"/>
          <p:nvPr/>
        </p:nvSpPr>
        <p:spPr>
          <a:xfrm>
            <a:off x="1325880" y="3547872"/>
            <a:ext cx="9509760" cy="640080"/>
          </a:xfrm>
          <a:prstGeom prst="rect">
            <a:avLst/>
          </a:prstGeom>
          <a:noFill/>
          <a:ln/>
        </p:spPr>
        <p:txBody>
          <a:bodyPr wrap="square" lIns="0" tIns="0" rIns="0" bIns="0" rtlCol="0" anchor="t"/>
          <a:lstStyle/>
          <a:p>
            <a:pPr indent="0" marL="0">
              <a:lnSpc>
                <a:spcPts val="1800"/>
              </a:lnSpc>
              <a:buNone/>
            </a:pPr>
            <a:r>
              <a:rPr lang="en-US" sz="1300" dirty="0">
                <a:solidFill>
                  <a:srgbClr val="BFD6D0"/>
                </a:solidFill>
                <a:latin typeface="Calibri" pitchFamily="34" charset="0"/>
                <a:ea typeface="Calibri" pitchFamily="34" charset="-122"/>
                <a:cs typeface="Calibri" pitchFamily="34" charset="-120"/>
              </a:rPr>
              <a:t>His eight people, their targets, the evaluations he owes. Approve a target to show the first gate.</a:t>
            </a:r>
            <a:endParaRPr lang="en-US" sz="1300" dirty="0"/>
          </a:p>
        </p:txBody>
      </p:sp>
      <p:sp>
        <p:nvSpPr>
          <p:cNvPr id="15" name="Shape 13"/>
          <p:cNvSpPr/>
          <p:nvPr/>
        </p:nvSpPr>
        <p:spPr>
          <a:xfrm>
            <a:off x="640080" y="4434840"/>
            <a:ext cx="457200" cy="457200"/>
          </a:xfrm>
          <a:prstGeom prst="ellipse">
            <a:avLst/>
          </a:prstGeom>
          <a:solidFill>
            <a:srgbClr val="B3761B"/>
          </a:solidFill>
          <a:ln w="12700">
            <a:solidFill>
              <a:srgbClr val="B3761B"/>
            </a:solidFill>
            <a:prstDash val="solid"/>
          </a:ln>
        </p:spPr>
      </p:sp>
      <p:sp>
        <p:nvSpPr>
          <p:cNvPr id="16" name="Text 14"/>
          <p:cNvSpPr txBox="1"/>
          <p:nvPr/>
        </p:nvSpPr>
        <p:spPr>
          <a:xfrm>
            <a:off x="640080" y="44348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txBox="1"/>
          <p:nvPr/>
        </p:nvSpPr>
        <p:spPr>
          <a:xfrm>
            <a:off x="1325880" y="4416552"/>
            <a:ext cx="3291840" cy="3200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dalisay.zamora</a:t>
            </a:r>
            <a:endParaRPr lang="en-US" sz="1600" dirty="0"/>
          </a:p>
        </p:txBody>
      </p:sp>
      <p:sp>
        <p:nvSpPr>
          <p:cNvPr id="18" name="Text 16"/>
          <p:cNvSpPr txBox="1"/>
          <p:nvPr/>
        </p:nvSpPr>
        <p:spPr>
          <a:xfrm>
            <a:off x="4663440" y="4453128"/>
            <a:ext cx="3108960" cy="274320"/>
          </a:xfrm>
          <a:prstGeom prst="rect">
            <a:avLst/>
          </a:prstGeom>
          <a:noFill/>
          <a:ln/>
        </p:spPr>
        <p:txBody>
          <a:bodyPr wrap="square" lIns="0" tIns="0" rIns="0" bIns="0" rtlCol="0" anchor="ctr"/>
          <a:lstStyle/>
          <a:p>
            <a:pPr indent="0" marL="0">
              <a:buNone/>
            </a:pPr>
            <a:r>
              <a:rPr lang="en-US" sz="1250" dirty="0">
                <a:solidFill>
                  <a:srgbClr val="8FBDB2"/>
                </a:solidFill>
                <a:latin typeface="Calibri" pitchFamily="34" charset="0"/>
                <a:ea typeface="Calibri" pitchFamily="34" charset="-122"/>
                <a:cs typeface="Calibri" pitchFamily="34" charset="-120"/>
              </a:rPr>
              <a:t>Section Head, R7 — different section</a:t>
            </a:r>
            <a:endParaRPr lang="en-US" sz="1250" dirty="0"/>
          </a:p>
        </p:txBody>
      </p:sp>
      <p:sp>
        <p:nvSpPr>
          <p:cNvPr id="19" name="Text 17"/>
          <p:cNvSpPr txBox="1"/>
          <p:nvPr/>
        </p:nvSpPr>
        <p:spPr>
          <a:xfrm>
            <a:off x="1325880" y="4782312"/>
            <a:ext cx="9509760" cy="640080"/>
          </a:xfrm>
          <a:prstGeom prst="rect">
            <a:avLst/>
          </a:prstGeom>
          <a:noFill/>
          <a:ln/>
        </p:spPr>
        <p:txBody>
          <a:bodyPr wrap="square" lIns="0" tIns="0" rIns="0" bIns="0" rtlCol="0" anchor="t"/>
          <a:lstStyle/>
          <a:p>
            <a:pPr indent="0" marL="0">
              <a:lnSpc>
                <a:spcPts val="1800"/>
              </a:lnSpc>
              <a:buNone/>
            </a:pPr>
            <a:r>
              <a:rPr lang="en-US" sz="1300" dirty="0">
                <a:solidFill>
                  <a:srgbClr val="BFD6D0"/>
                </a:solidFill>
                <a:latin typeface="Calibri" pitchFamily="34" charset="0"/>
                <a:ea typeface="Calibri" pitchFamily="34" charset="-122"/>
                <a:cs typeface="Calibri" pitchFamily="34" charset="-120"/>
              </a:rPr>
              <a:t>Same rank, same screens, and Crisanto’s eight have vanished. This is the moment worth pausing on.</a:t>
            </a:r>
            <a:endParaRPr lang="en-US" sz="1300" dirty="0"/>
          </a:p>
        </p:txBody>
      </p:sp>
      <p:sp>
        <p:nvSpPr>
          <p:cNvPr id="20" name="Shape 18"/>
          <p:cNvSpPr/>
          <p:nvPr/>
        </p:nvSpPr>
        <p:spPr>
          <a:xfrm>
            <a:off x="640080" y="5715000"/>
            <a:ext cx="10881360" cy="777240"/>
          </a:xfrm>
          <a:prstGeom prst="roundRect">
            <a:avLst>
              <a:gd name="adj" fmla="val 7059"/>
            </a:avLst>
          </a:prstGeom>
          <a:solidFill>
            <a:srgbClr val="0E5248"/>
          </a:solidFill>
          <a:ln w="12700">
            <a:solidFill>
              <a:srgbClr val="0E5248"/>
            </a:solidFill>
            <a:prstDash val="solid"/>
          </a:ln>
        </p:spPr>
      </p:sp>
      <p:sp>
        <p:nvSpPr>
          <p:cNvPr id="21" name="Text 19"/>
          <p:cNvSpPr txBox="1"/>
          <p:nvPr/>
        </p:nvSpPr>
        <p:spPr>
          <a:xfrm>
            <a:off x="1005840" y="5715000"/>
            <a:ext cx="10149840" cy="777240"/>
          </a:xfrm>
          <a:prstGeom prst="rect">
            <a:avLst/>
          </a:prstGeom>
          <a:noFill/>
          <a:ln/>
        </p:spPr>
        <p:txBody>
          <a:bodyPr wrap="square" lIns="0" tIns="0" rIns="0" bIns="0" rtlCol="0" anchor="ctr"/>
          <a:lstStyle/>
          <a:p>
            <a:pPr indent="0" marL="0">
              <a:buNone/>
            </a:pPr>
            <a:r>
              <a:rPr lang="en-US" sz="1300" dirty="0">
                <a:solidFill>
                  <a:srgbClr val="BFD6D0"/>
                </a:solidFill>
                <a:latin typeface="Calibri" pitchFamily="34" charset="0"/>
                <a:ea typeface="Calibri" pitchFamily="34" charset="-122"/>
                <a:cs typeface="Calibri" pitchFamily="34" charset="-120"/>
              </a:rPr>
              <a:t>One password for the whole demo: </a:t>
            </a:r>
            <a:pPr indent="0" marL="0">
              <a:buNone/>
            </a:pPr>
            <a:r>
              <a:rPr lang="en-US" sz="1300" b="1" dirty="0">
                <a:solidFill>
                  <a:srgbClr val="FFFFFF"/>
                </a:solidFill>
                <a:latin typeface="Calibri" pitchFamily="34" charset="0"/>
                <a:ea typeface="Calibri" pitchFamily="34" charset="-122"/>
                <a:cs typeface="Calibri" pitchFamily="34" charset="-120"/>
              </a:rPr>
              <a:t>test1234</a:t>
            </a:r>
            <a:pPr indent="0" marL="0">
              <a:buNone/>
            </a:pPr>
            <a:r>
              <a:rPr lang="en-US" sz="1300" dirty="0">
                <a:solidFill>
                  <a:srgbClr val="BFD6D0"/>
                </a:solidFill>
                <a:latin typeface="Calibri" pitchFamily="34" charset="0"/>
                <a:ea typeface="Calibri" pitchFamily="34" charset="-122"/>
                <a:cs typeface="Calibri" pitchFamily="34" charset="-120"/>
              </a:rPr>
              <a:t>.  Every person in it is invented — the structure is yours, the people are not.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Summit Logic Solutions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Guanzon HCM — What each role can do</dc:title>
  <dc:subject>PptxGenJS Presentation</dc:subject>
  <dc:creator>Summit Logic Solutions</dc:creator>
  <cp:lastModifiedBy>Summit Logic Solutions</cp:lastModifiedBy>
  <cp:revision>1</cp:revision>
  <dcterms:created xsi:type="dcterms:W3CDTF">2026-09-11T08:04:05Z</dcterms:created>
  <dcterms:modified xsi:type="dcterms:W3CDTF">2026-09-11T08:04:05Z</dcterms:modified>
</cp:coreProperties>
</file>