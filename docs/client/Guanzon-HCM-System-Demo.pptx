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Review instances</c:v>
                </c:pt>
              </c:strCache>
            </c:strRef>
          </c:tx>
          <c:spPr>
            <a:solidFill>
              <a:srgbClr val="0B6E5F"/>
            </a:solidFill>
            <a:effectLst/>
          </c:spPr>
          <c:invertIfNegative val="0"/>
          <c:dLbls>
            <c:numFmt formatCode="#,##0" sourceLinked="0"/>
            <c:txPr>
              <a:bodyPr/>
              <a:lstStyle/>
              <a:p>
                <a:pPr>
                  <a:defRPr b="0" i="0" strike="noStrike" sz="1300" u="none">
                    <a:solidFill>
                      <a:srgbClr val="10201C"/>
                    </a:solidFill>
                    <a:latin typeface="Calibri"/>
                  </a:defRPr>
                </a:pPr>
              </a:p>
            </c:txPr>
            <c:showLegendKey val="0"/>
            <c:showVal val="1"/>
            <c:showCatName val="0"/>
            <c:showSerName val="0"/>
            <c:showPercent val="0"/>
            <c:showBubbleSize val="0"/>
            <c:showLeaderLines val="0"/>
          </c:dLbls>
          <c:dPt>
            <c:idx val="0"/>
            <c:invertIfNegative val="0"/>
            <c:bubble3D val="0"/>
            <c:spPr>
              <a:solidFill>
                <a:srgbClr val="0B6E5F"/>
              </a:solidFill>
              <a:effectLst/>
            </c:spPr>
          </c:dPt>
          <c:dPt>
            <c:idx val="1"/>
            <c:invertIfNegative val="0"/>
            <c:bubble3D val="0"/>
            <c:spPr>
              <a:solidFill>
                <a:srgbClr val="0B6E5F"/>
              </a:solidFill>
              <a:effectLst/>
            </c:spPr>
          </c:dPt>
          <c:dPt>
            <c:idx val="2"/>
            <c:invertIfNegative val="0"/>
            <c:bubble3D val="0"/>
            <c:spPr>
              <a:solidFill>
                <a:srgbClr val="B3761B"/>
              </a:solidFill>
              <a:effectLst/>
            </c:spPr>
          </c:dPt>
          <c:dPt>
            <c:idx val="3"/>
            <c:invertIfNegative val="0"/>
            <c:bubble3D val="0"/>
            <c:spPr>
              <a:solidFill>
                <a:srgbClr val="8FB3AB"/>
              </a:solidFill>
              <a:effectLst/>
            </c:spPr>
          </c:dPt>
          <c:dPt>
            <c:idx val="4"/>
            <c:invertIfNegative val="0"/>
            <c:bubble3D val="0"/>
            <c:spPr>
              <a:solidFill>
                <a:srgbClr val="8FB3AB"/>
              </a:solidFill>
              <a:effectLst/>
            </c:spPr>
          </c:dPt>
          <c:cat>
            <c:multiLvlStrRef>
              <c:f>Sheet1!$A$2:$A$6</c:f>
              <c:multiLvlStrCache>
                <c:ptCount val="5"/>
                <c:lvl>
                  <c:pt idx="0">
                    <c:v>Created</c:v>
                  </c:pt>
                  <c:pt idx="1">
                    <c:v>Submitted</c:v>
                  </c:pt>
                  <c:pt idx="2">
                    <c:v>Rated</c:v>
                  </c:pt>
                  <c:pt idx="3">
                    <c:v>In calibration</c:v>
                  </c:pt>
                  <c:pt idx="4">
                    <c:v>Signed off</c:v>
                  </c:pt>
                </c:lvl>
              </c:multiLvlStrCache>
            </c:multiLvlStrRef>
          </c:cat>
          <c:val>
            <c:numRef>
              <c:f>Sheet1!$B$2:$B$6</c:f>
              <c:numCache>
                <c:formatCode>General</c:formatCode>
                <c:ptCount val="5"/>
                <c:pt idx="0">
                  <c:v>55</c:v>
                </c:pt>
                <c:pt idx="1">
                  <c:v>44</c:v>
                </c:pt>
                <c:pt idx="2">
                  <c:v>21</c:v>
                </c:pt>
                <c:pt idx="3">
                  <c:v>5</c:v>
                </c:pt>
                <c:pt idx="4">
                  <c:v>2</c:v>
                </c:pt>
              </c:numCache>
            </c:numRef>
          </c:val>
        </c:ser>
        <c:dLbls>
          <c:numFmt formatCode="#,##0" sourceLinked="0"/>
          <c:txPr>
            <a:bodyPr/>
            <a:lstStyle/>
            <a:p>
              <a:pPr>
                <a:defRPr b="0" i="0" strike="noStrike" sz="1300" u="none">
                  <a:solidFill>
                    <a:srgbClr val="10201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E68"/>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E6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Two things to land: this was built from their own spec, not a generic HR product; and it runs on their infrastructure, not a vendor cloud. Everything shown today uses invented people on their real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These are working screens against a real database, not mock-ups. Mention that the permission rules are enforced in the database itself — that is the claim the rest of the demo backs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HCM department from their own workbook — five units, the real reporting lines, every person invented. Stress the rank direction: 6 outranks 11. Their numbering, not ours, and the system is written in those terms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Demonstrate it live: sign in as a Section Head, show her people; sign in as another Section Head, show that the first group has vanished. In most systems this is a filter in the application. Here the database itself refuses, so there is no screen, no report and no export that can leak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three steps live. The preview is the part to dwell on: it reports exactly what would change and writes nothing, so a mistyped supervisor is caught before anything lands. Re-uploading a corrected file updates rather than duplicating.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§4.3: HCM sets the timeline, approves targets and may send them back. Point out that the second gate is switchable per period — some periods need HCM sign-off on every target, some do not, and that is a setting rather than a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their §4.5 end to end. The Department Head step is the one they asked for and most products do not have: revise, approve or disapprove before anything is final. Sign-off waits for it — the result cannot be released around the DH.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§6, almost entirely. Two points to make: the draw is random from a pool the rules define, so nobody picks their own reviewers; and the six-month question is asked before anyone rates, with a replacement drawn automatically on a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their five types is a row you can read and change on screen, not something we hard-coded. Worth saying plainly: when they answer the question about when the probationary clock starts, that is an edit on this screen, not a change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figures from the loaded demo cycle. The shape of the funnel is the point: 44 submitted but only 21 rated tells HCM exactly where to push, without anyone compiling a status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§7.1. Everything that ever happened to a person, in date order, on one screen — and it obeys the same permission rules, so a consolidated view cannot show what the underlying screen would have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Twenty-one events plus an hourly scan for things going quiet. The detail worth mentioning: a reminder is sent once per milestone, not once per scan — so people do not start ignoring them, which is how reminder systems usually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with a cloud subscription. Their staff data never leaves their premises, people sign in with the account they already have, and every change is attributable. Be honest that the Active Directory link is configured but has not yet been pointed at their real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rather than on a feature. The ask is concrete and it is theirs to answer. Do not promise dates for the composite until R1 is answered — the normalisation question changes the shape of the calculation, not just its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D36"/>
        </a:solidFill>
      </p:bgPr>
    </p:bg>
    <p:spTree>
      <p:nvGrpSpPr>
        <p:cNvPr id="1" name=""/>
        <p:cNvGrpSpPr/>
        <p:nvPr/>
      </p:nvGrpSpPr>
      <p:grpSpPr>
        <a:xfrm>
          <a:off x="0" y="0"/>
          <a:ext cx="0" cy="0"/>
          <a:chOff x="0" y="0"/>
          <a:chExt cx="0" cy="0"/>
        </a:xfrm>
      </p:grpSpPr>
      <p:sp>
        <p:nvSpPr>
          <p:cNvPr id="2" name="Shape 0"/>
          <p:cNvSpPr/>
          <p:nvPr/>
        </p:nvSpPr>
        <p:spPr>
          <a:xfrm>
            <a:off x="8778240" y="-1463040"/>
            <a:ext cx="5669280" cy="5669280"/>
          </a:xfrm>
          <a:prstGeom prst="ellipse">
            <a:avLst/>
          </a:prstGeom>
          <a:solidFill>
            <a:srgbClr val="0E5248"/>
          </a:solidFill>
          <a:ln w="12700">
            <a:solidFill>
              <a:srgbClr val="0E5248"/>
            </a:solidFill>
            <a:prstDash val="solid"/>
          </a:ln>
        </p:spPr>
      </p:sp>
      <p:sp>
        <p:nvSpPr>
          <p:cNvPr id="3" name="Shape 1"/>
          <p:cNvSpPr/>
          <p:nvPr/>
        </p:nvSpPr>
        <p:spPr>
          <a:xfrm>
            <a:off x="10424160" y="4023360"/>
            <a:ext cx="3108960" cy="3108960"/>
          </a:xfrm>
          <a:prstGeom prst="ellipse">
            <a:avLst/>
          </a:prstGeom>
          <a:solidFill>
            <a:srgbClr val="0B6E5F"/>
          </a:solidFill>
          <a:ln w="12700">
            <a:solidFill>
              <a:srgbClr val="0B6E5F"/>
            </a:solidFill>
            <a:prstDash val="solid"/>
          </a:ln>
        </p:spPr>
      </p:sp>
      <p:sp>
        <p:nvSpPr>
          <p:cNvPr id="4" name="Text 2"/>
          <p:cNvSpPr txBox="1"/>
          <p:nvPr/>
        </p:nvSpPr>
        <p:spPr>
          <a:xfrm>
            <a:off x="640080" y="1600200"/>
            <a:ext cx="8229600" cy="320040"/>
          </a:xfrm>
          <a:prstGeom prst="rect">
            <a:avLst/>
          </a:prstGeom>
          <a:noFill/>
          <a:ln/>
        </p:spPr>
        <p:txBody>
          <a:bodyPr wrap="square" lIns="0" tIns="0" rIns="0" bIns="0" rtlCol="0" anchor="ctr"/>
          <a:lstStyle/>
          <a:p>
            <a:pPr indent="0" marL="0">
              <a:buNone/>
            </a:pPr>
            <a:r>
              <a:rPr lang="en-US" sz="1200" b="1" spc="300" kern="0" dirty="0">
                <a:solidFill>
                  <a:srgbClr val="8FBDB2"/>
                </a:solidFill>
                <a:latin typeface="Calibri" pitchFamily="34" charset="0"/>
                <a:ea typeface="Calibri" pitchFamily="34" charset="-122"/>
                <a:cs typeface="Calibri" pitchFamily="34" charset="-120"/>
              </a:rPr>
              <a:t>GUANZON  ·  HUMAN CAPITAL MANAGEMENT</a:t>
            </a:r>
            <a:endParaRPr lang="en-US" sz="1200" dirty="0"/>
          </a:p>
        </p:txBody>
      </p:sp>
      <p:sp>
        <p:nvSpPr>
          <p:cNvPr id="5" name="Text 3"/>
          <p:cNvSpPr txBox="1"/>
          <p:nvPr/>
        </p:nvSpPr>
        <p:spPr>
          <a:xfrm>
            <a:off x="640080" y="2011680"/>
            <a:ext cx="7863840" cy="173736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Performance management,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built to your specification</a:t>
            </a:r>
            <a:endParaRPr lang="en-US" sz="4000" dirty="0"/>
          </a:p>
        </p:txBody>
      </p:sp>
      <p:sp>
        <p:nvSpPr>
          <p:cNvPr id="6" name="Text 4"/>
          <p:cNvSpPr txBox="1"/>
          <p:nvPr/>
        </p:nvSpPr>
        <p:spPr>
          <a:xfrm>
            <a:off x="640080" y="3886200"/>
            <a:ext cx="7498080" cy="822960"/>
          </a:xfrm>
          <a:prstGeom prst="rect">
            <a:avLst/>
          </a:prstGeom>
          <a:noFill/>
          <a:ln/>
        </p:spPr>
        <p:txBody>
          <a:bodyPr wrap="square" lIns="0" tIns="0" rIns="0" bIns="0" rtlCol="0" anchor="t"/>
          <a:lstStyle/>
          <a:p>
            <a:pPr indent="0" marL="0">
              <a:lnSpc>
                <a:spcPts val="2400"/>
              </a:lnSpc>
              <a:buNone/>
            </a:pPr>
            <a:r>
              <a:rPr lang="en-US" sz="1600" dirty="0">
                <a:solidFill>
                  <a:srgbClr val="BFD6D0"/>
                </a:solidFill>
                <a:latin typeface="Calibri" pitchFamily="34" charset="0"/>
                <a:ea typeface="Calibri" pitchFamily="34" charset="-122"/>
                <a:cs typeface="Calibri" pitchFamily="34" charset="-120"/>
              </a:rPr>
              <a:t>Your five evaluation types, your rank ladder, your peer-review rules — running on your own server.</a:t>
            </a:r>
            <a:endParaRPr lang="en-US" sz="1600" dirty="0"/>
          </a:p>
        </p:txBody>
      </p:sp>
      <p:sp>
        <p:nvSpPr>
          <p:cNvPr id="7" name="Text 5"/>
          <p:cNvSpPr txBox="1"/>
          <p:nvPr/>
        </p:nvSpPr>
        <p:spPr>
          <a:xfrm>
            <a:off x="640080" y="5760720"/>
            <a:ext cx="5486400" cy="320040"/>
          </a:xfrm>
          <a:prstGeom prst="rect">
            <a:avLst/>
          </a:prstGeom>
          <a:noFill/>
          <a:ln/>
        </p:spPr>
        <p:txBody>
          <a:bodyPr wrap="square" lIns="0" tIns="0" rIns="0" bIns="0" rtlCol="0" anchor="ctr"/>
          <a:lstStyle/>
          <a:p>
            <a:pPr indent="0" marL="0">
              <a:buNone/>
            </a:pPr>
            <a:r>
              <a:rPr lang="en-US" sz="1300" dirty="0">
                <a:solidFill>
                  <a:srgbClr val="7FA9A0"/>
                </a:solidFill>
                <a:latin typeface="Calibri" pitchFamily="34" charset="0"/>
                <a:ea typeface="Calibri" pitchFamily="34" charset="-122"/>
                <a:cs typeface="Calibri" pitchFamily="34" charset="-120"/>
              </a:rPr>
              <a:t>System demonstration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WHERE IT STANDS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Built, tested and running today</a:t>
            </a:r>
            <a:endParaRPr lang="en-US" sz="3400" dirty="0"/>
          </a:p>
        </p:txBody>
      </p:sp>
      <p:sp>
        <p:nvSpPr>
          <p:cNvPr id="5" name="Shape 2"/>
          <p:cNvSpPr/>
          <p:nvPr/>
        </p:nvSpPr>
        <p:spPr>
          <a:xfrm>
            <a:off x="640080" y="1783080"/>
            <a:ext cx="2606040" cy="1417320"/>
          </a:xfrm>
          <a:prstGeom prst="roundRect">
            <a:avLst>
              <a:gd name="adj" fmla="val 3871"/>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Text 3"/>
          <p:cNvSpPr txBox="1"/>
          <p:nvPr/>
        </p:nvSpPr>
        <p:spPr>
          <a:xfrm>
            <a:off x="868680" y="1938528"/>
            <a:ext cx="2194560" cy="658368"/>
          </a:xfrm>
          <a:prstGeom prst="rect">
            <a:avLst/>
          </a:prstGeom>
          <a:noFill/>
          <a:ln/>
        </p:spPr>
        <p:txBody>
          <a:bodyPr wrap="square" lIns="0" tIns="0" rIns="0" bIns="0" rtlCol="0" anchor="ctr"/>
          <a:lstStyle/>
          <a:p>
            <a:pPr indent="0" marL="0">
              <a:buNone/>
            </a:pPr>
            <a:r>
              <a:rPr lang="en-US" sz="4000" b="1" dirty="0">
                <a:solidFill>
                  <a:srgbClr val="0B6E5F"/>
                </a:solidFill>
                <a:latin typeface="Cambria" pitchFamily="34" charset="0"/>
                <a:ea typeface="Cambria" pitchFamily="34" charset="-122"/>
                <a:cs typeface="Cambria" pitchFamily="34" charset="-120"/>
              </a:rPr>
              <a:t>24</a:t>
            </a:r>
            <a:endParaRPr lang="en-US" sz="4000" dirty="0"/>
          </a:p>
        </p:txBody>
      </p:sp>
      <p:sp>
        <p:nvSpPr>
          <p:cNvPr id="7" name="Text 4"/>
          <p:cNvSpPr txBox="1"/>
          <p:nvPr/>
        </p:nvSpPr>
        <p:spPr>
          <a:xfrm>
            <a:off x="868680" y="2615184"/>
            <a:ext cx="2194560" cy="457200"/>
          </a:xfrm>
          <a:prstGeom prst="rect">
            <a:avLst/>
          </a:prstGeom>
          <a:noFill/>
          <a:ln/>
        </p:spPr>
        <p:txBody>
          <a:bodyPr wrap="square" lIns="0" tIns="0" rIns="0" bIns="0" rtlCol="0" anchor="ctr"/>
          <a:lstStyle/>
          <a:p>
            <a:pPr indent="0" marL="0">
              <a:buNone/>
            </a:pPr>
            <a:r>
              <a:rPr lang="en-US" sz="1300" dirty="0">
                <a:solidFill>
                  <a:srgbClr val="5C6E68"/>
                </a:solidFill>
                <a:latin typeface="Calibri" pitchFamily="34" charset="0"/>
                <a:ea typeface="Calibri" pitchFamily="34" charset="-122"/>
                <a:cs typeface="Calibri" pitchFamily="34" charset="-120"/>
              </a:rPr>
              <a:t>screens in daily use</a:t>
            </a:r>
            <a:endParaRPr lang="en-US" sz="1300" dirty="0"/>
          </a:p>
        </p:txBody>
      </p:sp>
      <p:sp>
        <p:nvSpPr>
          <p:cNvPr id="8" name="Shape 5"/>
          <p:cNvSpPr/>
          <p:nvPr/>
        </p:nvSpPr>
        <p:spPr>
          <a:xfrm>
            <a:off x="3493008" y="1783080"/>
            <a:ext cx="2606040" cy="1417320"/>
          </a:xfrm>
          <a:prstGeom prst="roundRect">
            <a:avLst>
              <a:gd name="adj" fmla="val 3871"/>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9" name="Text 6"/>
          <p:cNvSpPr txBox="1"/>
          <p:nvPr/>
        </p:nvSpPr>
        <p:spPr>
          <a:xfrm>
            <a:off x="3721608" y="1938528"/>
            <a:ext cx="2194560" cy="658368"/>
          </a:xfrm>
          <a:prstGeom prst="rect">
            <a:avLst/>
          </a:prstGeom>
          <a:noFill/>
          <a:ln/>
        </p:spPr>
        <p:txBody>
          <a:bodyPr wrap="square" lIns="0" tIns="0" rIns="0" bIns="0" rtlCol="0" anchor="ctr"/>
          <a:lstStyle/>
          <a:p>
            <a:pPr indent="0" marL="0">
              <a:buNone/>
            </a:pPr>
            <a:r>
              <a:rPr lang="en-US" sz="4000" b="1" dirty="0">
                <a:solidFill>
                  <a:srgbClr val="0B6E5F"/>
                </a:solidFill>
                <a:latin typeface="Cambria" pitchFamily="34" charset="0"/>
                <a:ea typeface="Cambria" pitchFamily="34" charset="-122"/>
                <a:cs typeface="Cambria" pitchFamily="34" charset="-120"/>
              </a:rPr>
              <a:t>21</a:t>
            </a:r>
            <a:endParaRPr lang="en-US" sz="4000" dirty="0"/>
          </a:p>
        </p:txBody>
      </p:sp>
      <p:sp>
        <p:nvSpPr>
          <p:cNvPr id="10" name="Text 7"/>
          <p:cNvSpPr txBox="1"/>
          <p:nvPr/>
        </p:nvSpPr>
        <p:spPr>
          <a:xfrm>
            <a:off x="3721608" y="2615184"/>
            <a:ext cx="2194560" cy="457200"/>
          </a:xfrm>
          <a:prstGeom prst="rect">
            <a:avLst/>
          </a:prstGeom>
          <a:noFill/>
          <a:ln/>
        </p:spPr>
        <p:txBody>
          <a:bodyPr wrap="square" lIns="0" tIns="0" rIns="0" bIns="0" rtlCol="0" anchor="ctr"/>
          <a:lstStyle/>
          <a:p>
            <a:pPr indent="0" marL="0">
              <a:buNone/>
            </a:pPr>
            <a:r>
              <a:rPr lang="en-US" sz="1300" dirty="0">
                <a:solidFill>
                  <a:srgbClr val="5C6E68"/>
                </a:solidFill>
                <a:latin typeface="Calibri" pitchFamily="34" charset="0"/>
                <a:ea typeface="Calibri" pitchFamily="34" charset="-122"/>
                <a:cs typeface="Calibri" pitchFamily="34" charset="-120"/>
              </a:rPr>
              <a:t>automatic notifications</a:t>
            </a:r>
            <a:endParaRPr lang="en-US" sz="1300" dirty="0"/>
          </a:p>
        </p:txBody>
      </p:sp>
      <p:sp>
        <p:nvSpPr>
          <p:cNvPr id="11" name="Shape 8"/>
          <p:cNvSpPr/>
          <p:nvPr/>
        </p:nvSpPr>
        <p:spPr>
          <a:xfrm>
            <a:off x="6345936" y="1783080"/>
            <a:ext cx="2606040" cy="1417320"/>
          </a:xfrm>
          <a:prstGeom prst="roundRect">
            <a:avLst>
              <a:gd name="adj" fmla="val 3871"/>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2" name="Text 9"/>
          <p:cNvSpPr txBox="1"/>
          <p:nvPr/>
        </p:nvSpPr>
        <p:spPr>
          <a:xfrm>
            <a:off x="6574536" y="1938528"/>
            <a:ext cx="2194560" cy="658368"/>
          </a:xfrm>
          <a:prstGeom prst="rect">
            <a:avLst/>
          </a:prstGeom>
          <a:noFill/>
          <a:ln/>
        </p:spPr>
        <p:txBody>
          <a:bodyPr wrap="square" lIns="0" tIns="0" rIns="0" bIns="0" rtlCol="0" anchor="ctr"/>
          <a:lstStyle/>
          <a:p>
            <a:pPr indent="0" marL="0">
              <a:buNone/>
            </a:pPr>
            <a:r>
              <a:rPr lang="en-US" sz="4000" b="1" dirty="0">
                <a:solidFill>
                  <a:srgbClr val="0B6E5F"/>
                </a:solidFill>
                <a:latin typeface="Cambria" pitchFamily="34" charset="0"/>
                <a:ea typeface="Cambria" pitchFamily="34" charset="-122"/>
                <a:cs typeface="Cambria" pitchFamily="34" charset="-120"/>
              </a:rPr>
              <a:t>809</a:t>
            </a:r>
            <a:endParaRPr lang="en-US" sz="4000" dirty="0"/>
          </a:p>
        </p:txBody>
      </p:sp>
      <p:sp>
        <p:nvSpPr>
          <p:cNvPr id="13" name="Text 10"/>
          <p:cNvSpPr txBox="1"/>
          <p:nvPr/>
        </p:nvSpPr>
        <p:spPr>
          <a:xfrm>
            <a:off x="6574536" y="2615184"/>
            <a:ext cx="2194560" cy="457200"/>
          </a:xfrm>
          <a:prstGeom prst="rect">
            <a:avLst/>
          </a:prstGeom>
          <a:noFill/>
          <a:ln/>
        </p:spPr>
        <p:txBody>
          <a:bodyPr wrap="square" lIns="0" tIns="0" rIns="0" bIns="0" rtlCol="0" anchor="ctr"/>
          <a:lstStyle/>
          <a:p>
            <a:pPr indent="0" marL="0">
              <a:buNone/>
            </a:pPr>
            <a:r>
              <a:rPr lang="en-US" sz="1300" dirty="0">
                <a:solidFill>
                  <a:srgbClr val="5C6E68"/>
                </a:solidFill>
                <a:latin typeface="Calibri" pitchFamily="34" charset="0"/>
                <a:ea typeface="Calibri" pitchFamily="34" charset="-122"/>
                <a:cs typeface="Calibri" pitchFamily="34" charset="-120"/>
              </a:rPr>
              <a:t>automated tests</a:t>
            </a:r>
            <a:endParaRPr lang="en-US" sz="1300" dirty="0"/>
          </a:p>
        </p:txBody>
      </p:sp>
      <p:sp>
        <p:nvSpPr>
          <p:cNvPr id="14" name="Shape 11"/>
          <p:cNvSpPr/>
          <p:nvPr/>
        </p:nvSpPr>
        <p:spPr>
          <a:xfrm>
            <a:off x="9198864" y="1783080"/>
            <a:ext cx="2606040" cy="1417320"/>
          </a:xfrm>
          <a:prstGeom prst="roundRect">
            <a:avLst>
              <a:gd name="adj" fmla="val 3871"/>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5" name="Text 12"/>
          <p:cNvSpPr txBox="1"/>
          <p:nvPr/>
        </p:nvSpPr>
        <p:spPr>
          <a:xfrm>
            <a:off x="9427464" y="1938528"/>
            <a:ext cx="2194560" cy="658368"/>
          </a:xfrm>
          <a:prstGeom prst="rect">
            <a:avLst/>
          </a:prstGeom>
          <a:noFill/>
          <a:ln/>
        </p:spPr>
        <p:txBody>
          <a:bodyPr wrap="square" lIns="0" tIns="0" rIns="0" bIns="0" rtlCol="0" anchor="ctr"/>
          <a:lstStyle/>
          <a:p>
            <a:pPr indent="0" marL="0">
              <a:buNone/>
            </a:pPr>
            <a:r>
              <a:rPr lang="en-US" sz="4000" b="1" dirty="0">
                <a:solidFill>
                  <a:srgbClr val="0B6E5F"/>
                </a:solidFill>
                <a:latin typeface="Cambria" pitchFamily="34" charset="0"/>
                <a:ea typeface="Cambria" pitchFamily="34" charset="-122"/>
                <a:cs typeface="Cambria" pitchFamily="34" charset="-120"/>
              </a:rPr>
              <a:t>14</a:t>
            </a:r>
            <a:endParaRPr lang="en-US" sz="4000" dirty="0"/>
          </a:p>
        </p:txBody>
      </p:sp>
      <p:sp>
        <p:nvSpPr>
          <p:cNvPr id="16" name="Text 13"/>
          <p:cNvSpPr txBox="1"/>
          <p:nvPr/>
        </p:nvSpPr>
        <p:spPr>
          <a:xfrm>
            <a:off x="9427464" y="2615184"/>
            <a:ext cx="2194560" cy="457200"/>
          </a:xfrm>
          <a:prstGeom prst="rect">
            <a:avLst/>
          </a:prstGeom>
          <a:noFill/>
          <a:ln/>
        </p:spPr>
        <p:txBody>
          <a:bodyPr wrap="square" lIns="0" tIns="0" rIns="0" bIns="0" rtlCol="0" anchor="ctr"/>
          <a:lstStyle/>
          <a:p>
            <a:pPr indent="0" marL="0">
              <a:buNone/>
            </a:pPr>
            <a:r>
              <a:rPr lang="en-US" sz="1300" dirty="0">
                <a:solidFill>
                  <a:srgbClr val="5C6E68"/>
                </a:solidFill>
                <a:latin typeface="Calibri" pitchFamily="34" charset="0"/>
                <a:ea typeface="Calibri" pitchFamily="34" charset="-122"/>
                <a:cs typeface="Calibri" pitchFamily="34" charset="-120"/>
              </a:rPr>
              <a:t>built-in help articles</a:t>
            </a:r>
            <a:endParaRPr lang="en-US" sz="1300" dirty="0"/>
          </a:p>
        </p:txBody>
      </p:sp>
      <p:sp>
        <p:nvSpPr>
          <p:cNvPr id="17" name="Shape 14"/>
          <p:cNvSpPr/>
          <p:nvPr/>
        </p:nvSpPr>
        <p:spPr>
          <a:xfrm>
            <a:off x="640080" y="3520440"/>
            <a:ext cx="420624" cy="420624"/>
          </a:xfrm>
          <a:prstGeom prst="ellipse">
            <a:avLst/>
          </a:prstGeom>
          <a:solidFill>
            <a:srgbClr val="0B6E5F"/>
          </a:solidFill>
          <a:ln w="12700">
            <a:solidFill>
              <a:srgbClr val="0B6E5F"/>
            </a:solidFill>
            <a:prstDash val="solid"/>
          </a:ln>
        </p:spPr>
      </p:sp>
      <p:sp>
        <p:nvSpPr>
          <p:cNvPr id="18" name="Text 15"/>
          <p:cNvSpPr txBox="1"/>
          <p:nvPr/>
        </p:nvSpPr>
        <p:spPr>
          <a:xfrm>
            <a:off x="640080" y="35204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6"/>
          <p:cNvSpPr txBox="1"/>
          <p:nvPr/>
        </p:nvSpPr>
        <p:spPr>
          <a:xfrm>
            <a:off x="1261872" y="3483864"/>
            <a:ext cx="4937760" cy="292608"/>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Goal and target setting, with HCM approval</a:t>
            </a:r>
            <a:endParaRPr lang="en-US" sz="1500" dirty="0"/>
          </a:p>
        </p:txBody>
      </p:sp>
      <p:sp>
        <p:nvSpPr>
          <p:cNvPr id="20" name="Text 17"/>
          <p:cNvSpPr txBox="1"/>
          <p:nvPr/>
        </p:nvSpPr>
        <p:spPr>
          <a:xfrm>
            <a:off x="1261872" y="3767328"/>
            <a:ext cx="1024128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Weighted targets, check-ins on a set cadence, revision trail</a:t>
            </a:r>
            <a:endParaRPr lang="en-US" sz="1250" dirty="0"/>
          </a:p>
        </p:txBody>
      </p:sp>
      <p:sp>
        <p:nvSpPr>
          <p:cNvPr id="21" name="Shape 18"/>
          <p:cNvSpPr/>
          <p:nvPr/>
        </p:nvSpPr>
        <p:spPr>
          <a:xfrm>
            <a:off x="640080" y="4233672"/>
            <a:ext cx="420624" cy="420624"/>
          </a:xfrm>
          <a:prstGeom prst="ellipse">
            <a:avLst/>
          </a:prstGeom>
          <a:solidFill>
            <a:srgbClr val="0B6E5F"/>
          </a:solidFill>
          <a:ln w="12700">
            <a:solidFill>
              <a:srgbClr val="0B6E5F"/>
            </a:solidFill>
            <a:prstDash val="solid"/>
          </a:ln>
        </p:spPr>
      </p:sp>
      <p:sp>
        <p:nvSpPr>
          <p:cNvPr id="22" name="Text 19"/>
          <p:cNvSpPr txBox="1"/>
          <p:nvPr/>
        </p:nvSpPr>
        <p:spPr>
          <a:xfrm>
            <a:off x="640080" y="42336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1261872" y="4197096"/>
            <a:ext cx="4937760" cy="292608"/>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The full evaluation route</a:t>
            </a:r>
            <a:endParaRPr lang="en-US" sz="1500" dirty="0"/>
          </a:p>
        </p:txBody>
      </p:sp>
      <p:sp>
        <p:nvSpPr>
          <p:cNvPr id="24" name="Text 21"/>
          <p:cNvSpPr txBox="1"/>
          <p:nvPr/>
        </p:nvSpPr>
        <p:spPr>
          <a:xfrm>
            <a:off x="1261872" y="4480560"/>
            <a:ext cx="1024128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Self, supervisor, Department Head, calibration, sign-off</a:t>
            </a:r>
            <a:endParaRPr lang="en-US" sz="1250" dirty="0"/>
          </a:p>
        </p:txBody>
      </p:sp>
      <p:sp>
        <p:nvSpPr>
          <p:cNvPr id="25" name="Shape 22"/>
          <p:cNvSpPr/>
          <p:nvPr/>
        </p:nvSpPr>
        <p:spPr>
          <a:xfrm>
            <a:off x="640080" y="4946904"/>
            <a:ext cx="420624" cy="420624"/>
          </a:xfrm>
          <a:prstGeom prst="ellipse">
            <a:avLst/>
          </a:prstGeom>
          <a:solidFill>
            <a:srgbClr val="0B6E5F"/>
          </a:solidFill>
          <a:ln w="12700">
            <a:solidFill>
              <a:srgbClr val="0B6E5F"/>
            </a:solidFill>
            <a:prstDash val="solid"/>
          </a:ln>
        </p:spPr>
      </p:sp>
      <p:sp>
        <p:nvSpPr>
          <p:cNvPr id="26" name="Text 23"/>
          <p:cNvSpPr txBox="1"/>
          <p:nvPr/>
        </p:nvSpPr>
        <p:spPr>
          <a:xfrm>
            <a:off x="640080" y="49469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4"/>
          <p:cNvSpPr txBox="1"/>
          <p:nvPr/>
        </p:nvSpPr>
        <p:spPr>
          <a:xfrm>
            <a:off x="1261872" y="4910328"/>
            <a:ext cx="4937760" cy="292608"/>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Peer review</a:t>
            </a:r>
            <a:endParaRPr lang="en-US" sz="1500" dirty="0"/>
          </a:p>
        </p:txBody>
      </p:sp>
      <p:sp>
        <p:nvSpPr>
          <p:cNvPr id="28" name="Text 25"/>
          <p:cNvSpPr txBox="1"/>
          <p:nvPr/>
        </p:nvSpPr>
        <p:spPr>
          <a:xfrm>
            <a:off x="1261872" y="5193792"/>
            <a:ext cx="1024128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30-point instrument, random draw, the six-month eligibility question</a:t>
            </a:r>
            <a:endParaRPr lang="en-US" sz="1250" dirty="0"/>
          </a:p>
        </p:txBody>
      </p:sp>
      <p:sp>
        <p:nvSpPr>
          <p:cNvPr id="29" name="Shape 26"/>
          <p:cNvSpPr/>
          <p:nvPr/>
        </p:nvSpPr>
        <p:spPr>
          <a:xfrm>
            <a:off x="640080" y="5660136"/>
            <a:ext cx="420624" cy="420624"/>
          </a:xfrm>
          <a:prstGeom prst="ellipse">
            <a:avLst/>
          </a:prstGeom>
          <a:solidFill>
            <a:srgbClr val="0B6E5F"/>
          </a:solidFill>
          <a:ln w="12700">
            <a:solidFill>
              <a:srgbClr val="0B6E5F"/>
            </a:solidFill>
            <a:prstDash val="solid"/>
          </a:ln>
        </p:spPr>
      </p:sp>
      <p:sp>
        <p:nvSpPr>
          <p:cNvPr id="30" name="Text 27"/>
          <p:cNvSpPr txBox="1"/>
          <p:nvPr/>
        </p:nvSpPr>
        <p:spPr>
          <a:xfrm>
            <a:off x="640080" y="56601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8"/>
          <p:cNvSpPr txBox="1"/>
          <p:nvPr/>
        </p:nvSpPr>
        <p:spPr>
          <a:xfrm>
            <a:off x="1261872" y="5623560"/>
            <a:ext cx="4937760" cy="292608"/>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One history per employee</a:t>
            </a:r>
            <a:endParaRPr lang="en-US" sz="1500" dirty="0"/>
          </a:p>
        </p:txBody>
      </p:sp>
      <p:sp>
        <p:nvSpPr>
          <p:cNvPr id="32" name="Text 29"/>
          <p:cNvSpPr txBox="1"/>
          <p:nvPr/>
        </p:nvSpPr>
        <p:spPr>
          <a:xfrm>
            <a:off x="1261872" y="5907024"/>
            <a:ext cx="1024128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Evaluations, PIPs, competency, employment — one dated list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YOUR STRUCTURE</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Your org chart, and your rank numbering</a:t>
            </a:r>
            <a:endParaRPr lang="en-US" sz="3400" dirty="0"/>
          </a:p>
        </p:txBody>
      </p:sp>
      <p:sp>
        <p:nvSpPr>
          <p:cNvPr id="5" name="Shape 2"/>
          <p:cNvSpPr/>
          <p:nvPr/>
        </p:nvSpPr>
        <p:spPr>
          <a:xfrm>
            <a:off x="640080" y="1783080"/>
            <a:ext cx="5486400" cy="4434840"/>
          </a:xfrm>
          <a:prstGeom prst="roundRect">
            <a:avLst>
              <a:gd name="adj" fmla="val 123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Text 3"/>
          <p:cNvSpPr txBox="1"/>
          <p:nvPr/>
        </p:nvSpPr>
        <p:spPr>
          <a:xfrm>
            <a:off x="1005840" y="2011680"/>
            <a:ext cx="4754880" cy="365760"/>
          </a:xfrm>
          <a:prstGeom prst="rect">
            <a:avLst/>
          </a:prstGeom>
          <a:noFill/>
          <a:ln/>
        </p:spPr>
        <p:txBody>
          <a:bodyPr wrap="square" lIns="0" tIns="0" rIns="0" bIns="0" rtlCol="0" anchor="ctr"/>
          <a:lstStyle/>
          <a:p>
            <a:pPr indent="0" marL="0">
              <a:buNone/>
            </a:pPr>
            <a:r>
              <a:rPr lang="en-US" sz="1900" b="1" dirty="0">
                <a:solidFill>
                  <a:srgbClr val="10201C"/>
                </a:solidFill>
                <a:latin typeface="Cambria" pitchFamily="34" charset="0"/>
                <a:ea typeface="Cambria" pitchFamily="34" charset="-122"/>
                <a:cs typeface="Cambria" pitchFamily="34" charset="-120"/>
              </a:rPr>
              <a:t>Five units, as drawn</a:t>
            </a:r>
            <a:endParaRPr lang="en-US" sz="1900" dirty="0"/>
          </a:p>
        </p:txBody>
      </p:sp>
      <p:sp>
        <p:nvSpPr>
          <p:cNvPr id="7" name="Shape 4"/>
          <p:cNvSpPr/>
          <p:nvPr/>
        </p:nvSpPr>
        <p:spPr>
          <a:xfrm>
            <a:off x="1005840" y="2542032"/>
            <a:ext cx="4754880" cy="502920"/>
          </a:xfrm>
          <a:prstGeom prst="roundRect">
            <a:avLst>
              <a:gd name="adj" fmla="val 9091"/>
            </a:avLst>
          </a:prstGeom>
          <a:solidFill>
            <a:srgbClr val="0B6E5F"/>
          </a:solidFill>
          <a:ln w="12700">
            <a:solidFill>
              <a:srgbClr val="0B6E5F"/>
            </a:solidFill>
            <a:prstDash val="solid"/>
          </a:ln>
        </p:spPr>
      </p:sp>
      <p:sp>
        <p:nvSpPr>
          <p:cNvPr id="8" name="Text 5"/>
          <p:cNvSpPr txBox="1"/>
          <p:nvPr/>
        </p:nvSpPr>
        <p:spPr>
          <a:xfrm>
            <a:off x="1005840" y="2542032"/>
            <a:ext cx="47548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Human Capital Management</a:t>
            </a:r>
            <a:endParaRPr lang="en-US" sz="1400" dirty="0"/>
          </a:p>
        </p:txBody>
      </p:sp>
      <p:sp>
        <p:nvSpPr>
          <p:cNvPr id="9" name="Shape 6"/>
          <p:cNvSpPr/>
          <p:nvPr/>
        </p:nvSpPr>
        <p:spPr>
          <a:xfrm>
            <a:off x="1417320" y="3200400"/>
            <a:ext cx="4343400" cy="475488"/>
          </a:xfrm>
          <a:prstGeom prst="roundRect">
            <a:avLst>
              <a:gd name="adj" fmla="val 9615"/>
            </a:avLst>
          </a:prstGeom>
          <a:solidFill>
            <a:srgbClr val="E3EDEA"/>
          </a:solidFill>
          <a:ln w="9525">
            <a:solidFill>
              <a:srgbClr val="CBDDD8"/>
            </a:solidFill>
            <a:prstDash val="solid"/>
          </a:ln>
        </p:spPr>
      </p:sp>
      <p:sp>
        <p:nvSpPr>
          <p:cNvPr id="10" name="Text 7"/>
          <p:cNvSpPr txBox="1"/>
          <p:nvPr/>
        </p:nvSpPr>
        <p:spPr>
          <a:xfrm>
            <a:off x="1645920" y="3200400"/>
            <a:ext cx="4023360" cy="475488"/>
          </a:xfrm>
          <a:prstGeom prst="rect">
            <a:avLst/>
          </a:prstGeom>
          <a:noFill/>
          <a:ln/>
        </p:spPr>
        <p:txBody>
          <a:bodyPr wrap="square" lIns="0" tIns="0" rIns="0" bIns="0" rtlCol="0" anchor="ctr"/>
          <a:lstStyle/>
          <a:p>
            <a:pPr indent="0" marL="0">
              <a:buNone/>
            </a:pPr>
            <a:r>
              <a:rPr lang="en-US" sz="1300" dirty="0">
                <a:solidFill>
                  <a:srgbClr val="10201C"/>
                </a:solidFill>
                <a:latin typeface="Calibri" pitchFamily="34" charset="0"/>
                <a:ea typeface="Calibri" pitchFamily="34" charset="-122"/>
                <a:cs typeface="Calibri" pitchFamily="34" charset="-120"/>
              </a:rPr>
              <a:t>Hiring &amp; Selection</a:t>
            </a:r>
            <a:endParaRPr lang="en-US" sz="1300" dirty="0"/>
          </a:p>
        </p:txBody>
      </p:sp>
      <p:sp>
        <p:nvSpPr>
          <p:cNvPr id="11" name="Shape 8"/>
          <p:cNvSpPr/>
          <p:nvPr/>
        </p:nvSpPr>
        <p:spPr>
          <a:xfrm>
            <a:off x="1417320" y="3803904"/>
            <a:ext cx="4343400" cy="475488"/>
          </a:xfrm>
          <a:prstGeom prst="roundRect">
            <a:avLst>
              <a:gd name="adj" fmla="val 9615"/>
            </a:avLst>
          </a:prstGeom>
          <a:solidFill>
            <a:srgbClr val="E3EDEA"/>
          </a:solidFill>
          <a:ln w="9525">
            <a:solidFill>
              <a:srgbClr val="CBDDD8"/>
            </a:solidFill>
            <a:prstDash val="solid"/>
          </a:ln>
        </p:spPr>
      </p:sp>
      <p:sp>
        <p:nvSpPr>
          <p:cNvPr id="12" name="Text 9"/>
          <p:cNvSpPr txBox="1"/>
          <p:nvPr/>
        </p:nvSpPr>
        <p:spPr>
          <a:xfrm>
            <a:off x="1645920" y="3803904"/>
            <a:ext cx="4023360" cy="475488"/>
          </a:xfrm>
          <a:prstGeom prst="rect">
            <a:avLst/>
          </a:prstGeom>
          <a:noFill/>
          <a:ln/>
        </p:spPr>
        <p:txBody>
          <a:bodyPr wrap="square" lIns="0" tIns="0" rIns="0" bIns="0" rtlCol="0" anchor="ctr"/>
          <a:lstStyle/>
          <a:p>
            <a:pPr indent="0" marL="0">
              <a:buNone/>
            </a:pPr>
            <a:r>
              <a:rPr lang="en-US" sz="1300" dirty="0">
                <a:solidFill>
                  <a:srgbClr val="10201C"/>
                </a:solidFill>
                <a:latin typeface="Calibri" pitchFamily="34" charset="0"/>
                <a:ea typeface="Calibri" pitchFamily="34" charset="-122"/>
                <a:cs typeface="Calibri" pitchFamily="34" charset="-120"/>
              </a:rPr>
              <a:t>Compensation &amp; Benefits</a:t>
            </a:r>
            <a:endParaRPr lang="en-US" sz="1300" dirty="0"/>
          </a:p>
        </p:txBody>
      </p:sp>
      <p:sp>
        <p:nvSpPr>
          <p:cNvPr id="13" name="Shape 10"/>
          <p:cNvSpPr/>
          <p:nvPr/>
        </p:nvSpPr>
        <p:spPr>
          <a:xfrm>
            <a:off x="1417320" y="4407408"/>
            <a:ext cx="4343400" cy="475488"/>
          </a:xfrm>
          <a:prstGeom prst="roundRect">
            <a:avLst>
              <a:gd name="adj" fmla="val 9615"/>
            </a:avLst>
          </a:prstGeom>
          <a:solidFill>
            <a:srgbClr val="E3EDEA"/>
          </a:solidFill>
          <a:ln w="9525">
            <a:solidFill>
              <a:srgbClr val="CBDDD8"/>
            </a:solidFill>
            <a:prstDash val="solid"/>
          </a:ln>
        </p:spPr>
      </p:sp>
      <p:sp>
        <p:nvSpPr>
          <p:cNvPr id="14" name="Text 11"/>
          <p:cNvSpPr txBox="1"/>
          <p:nvPr/>
        </p:nvSpPr>
        <p:spPr>
          <a:xfrm>
            <a:off x="1645920" y="4407408"/>
            <a:ext cx="4023360" cy="475488"/>
          </a:xfrm>
          <a:prstGeom prst="rect">
            <a:avLst/>
          </a:prstGeom>
          <a:noFill/>
          <a:ln/>
        </p:spPr>
        <p:txBody>
          <a:bodyPr wrap="square" lIns="0" tIns="0" rIns="0" bIns="0" rtlCol="0" anchor="ctr"/>
          <a:lstStyle/>
          <a:p>
            <a:pPr indent="0" marL="0">
              <a:buNone/>
            </a:pPr>
            <a:r>
              <a:rPr lang="en-US" sz="1300" dirty="0">
                <a:solidFill>
                  <a:srgbClr val="10201C"/>
                </a:solidFill>
                <a:latin typeface="Calibri" pitchFamily="34" charset="0"/>
                <a:ea typeface="Calibri" pitchFamily="34" charset="-122"/>
                <a:cs typeface="Calibri" pitchFamily="34" charset="-120"/>
              </a:rPr>
              <a:t>Employee Relations</a:t>
            </a:r>
            <a:endParaRPr lang="en-US" sz="1300" dirty="0"/>
          </a:p>
        </p:txBody>
      </p:sp>
      <p:sp>
        <p:nvSpPr>
          <p:cNvPr id="15" name="Shape 12"/>
          <p:cNvSpPr/>
          <p:nvPr/>
        </p:nvSpPr>
        <p:spPr>
          <a:xfrm>
            <a:off x="1417320" y="5010912"/>
            <a:ext cx="4343400" cy="475488"/>
          </a:xfrm>
          <a:prstGeom prst="roundRect">
            <a:avLst>
              <a:gd name="adj" fmla="val 9615"/>
            </a:avLst>
          </a:prstGeom>
          <a:solidFill>
            <a:srgbClr val="E3EDEA"/>
          </a:solidFill>
          <a:ln w="9525">
            <a:solidFill>
              <a:srgbClr val="CBDDD8"/>
            </a:solidFill>
            <a:prstDash val="solid"/>
          </a:ln>
        </p:spPr>
      </p:sp>
      <p:sp>
        <p:nvSpPr>
          <p:cNvPr id="16" name="Text 13"/>
          <p:cNvSpPr txBox="1"/>
          <p:nvPr/>
        </p:nvSpPr>
        <p:spPr>
          <a:xfrm>
            <a:off x="1645920" y="5010912"/>
            <a:ext cx="4023360" cy="475488"/>
          </a:xfrm>
          <a:prstGeom prst="rect">
            <a:avLst/>
          </a:prstGeom>
          <a:noFill/>
          <a:ln/>
        </p:spPr>
        <p:txBody>
          <a:bodyPr wrap="square" lIns="0" tIns="0" rIns="0" bIns="0" rtlCol="0" anchor="ctr"/>
          <a:lstStyle/>
          <a:p>
            <a:pPr indent="0" marL="0">
              <a:buNone/>
            </a:pPr>
            <a:r>
              <a:rPr lang="en-US" sz="1300" dirty="0">
                <a:solidFill>
                  <a:srgbClr val="10201C"/>
                </a:solidFill>
                <a:latin typeface="Calibri" pitchFamily="34" charset="0"/>
                <a:ea typeface="Calibri" pitchFamily="34" charset="-122"/>
                <a:cs typeface="Calibri" pitchFamily="34" charset="-120"/>
              </a:rPr>
              <a:t>Organizational Development</a:t>
            </a:r>
            <a:endParaRPr lang="en-US" sz="1300" dirty="0"/>
          </a:p>
        </p:txBody>
      </p:sp>
      <p:sp>
        <p:nvSpPr>
          <p:cNvPr id="17" name="Text 14"/>
          <p:cNvSpPr txBox="1"/>
          <p:nvPr/>
        </p:nvSpPr>
        <p:spPr>
          <a:xfrm>
            <a:off x="1005840" y="5806440"/>
            <a:ext cx="4846320" cy="292608"/>
          </a:xfrm>
          <a:prstGeom prst="rect">
            <a:avLst/>
          </a:prstGeom>
          <a:noFill/>
          <a:ln/>
        </p:spPr>
        <p:txBody>
          <a:bodyPr wrap="square" lIns="0" tIns="0" rIns="0" bIns="0" rtlCol="0" anchor="ctr"/>
          <a:lstStyle/>
          <a:p>
            <a:pPr indent="0" marL="0">
              <a:buNone/>
            </a:pPr>
            <a:r>
              <a:rPr lang="en-US" sz="1150" i="1" dirty="0">
                <a:solidFill>
                  <a:srgbClr val="5C6E68"/>
                </a:solidFill>
                <a:latin typeface="Calibri" pitchFamily="34" charset="0"/>
                <a:ea typeface="Calibri" pitchFamily="34" charset="-122"/>
                <a:cs typeface="Calibri" pitchFamily="34" charset="-120"/>
              </a:rPr>
              <a:t>28 people  ·  21 positions  ·  effective-dated, so history stays true</a:t>
            </a:r>
            <a:endParaRPr lang="en-US" sz="1150" dirty="0"/>
          </a:p>
        </p:txBody>
      </p:sp>
      <p:sp>
        <p:nvSpPr>
          <p:cNvPr id="18" name="Shape 15"/>
          <p:cNvSpPr/>
          <p:nvPr/>
        </p:nvSpPr>
        <p:spPr>
          <a:xfrm>
            <a:off x="6583680" y="1783080"/>
            <a:ext cx="4937760" cy="4434840"/>
          </a:xfrm>
          <a:prstGeom prst="roundRect">
            <a:avLst>
              <a:gd name="adj" fmla="val 123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9" name="Text 16"/>
          <p:cNvSpPr txBox="1"/>
          <p:nvPr/>
        </p:nvSpPr>
        <p:spPr>
          <a:xfrm>
            <a:off x="6949440" y="2011680"/>
            <a:ext cx="3657600" cy="365760"/>
          </a:xfrm>
          <a:prstGeom prst="rect">
            <a:avLst/>
          </a:prstGeom>
          <a:noFill/>
          <a:ln/>
        </p:spPr>
        <p:txBody>
          <a:bodyPr wrap="square" lIns="0" tIns="0" rIns="0" bIns="0" rtlCol="0" anchor="ctr"/>
          <a:lstStyle/>
          <a:p>
            <a:pPr indent="0" marL="0">
              <a:buNone/>
            </a:pPr>
            <a:r>
              <a:rPr lang="en-US" sz="1900" b="1" dirty="0">
                <a:solidFill>
                  <a:srgbClr val="10201C"/>
                </a:solidFill>
                <a:latin typeface="Cambria" pitchFamily="34" charset="0"/>
                <a:ea typeface="Cambria" pitchFamily="34" charset="-122"/>
                <a:cs typeface="Cambria" pitchFamily="34" charset="-120"/>
              </a:rPr>
              <a:t>The rank ladder</a:t>
            </a:r>
            <a:endParaRPr lang="en-US" sz="1900" dirty="0"/>
          </a:p>
        </p:txBody>
      </p:sp>
      <p:sp>
        <p:nvSpPr>
          <p:cNvPr id="20" name="Shape 17"/>
          <p:cNvSpPr/>
          <p:nvPr/>
        </p:nvSpPr>
        <p:spPr>
          <a:xfrm>
            <a:off x="6949440" y="2487168"/>
            <a:ext cx="4206240" cy="457200"/>
          </a:xfrm>
          <a:prstGeom prst="roundRect">
            <a:avLst>
              <a:gd name="adj" fmla="val 10000"/>
            </a:avLst>
          </a:prstGeom>
          <a:solidFill>
            <a:srgbClr val="F6EEDF"/>
          </a:solidFill>
          <a:ln w="12700">
            <a:solidFill>
              <a:srgbClr val="F6EEDF"/>
            </a:solidFill>
            <a:prstDash val="solid"/>
          </a:ln>
        </p:spPr>
      </p:sp>
      <p:sp>
        <p:nvSpPr>
          <p:cNvPr id="21" name="Text 18"/>
          <p:cNvSpPr txBox="1"/>
          <p:nvPr/>
        </p:nvSpPr>
        <p:spPr>
          <a:xfrm>
            <a:off x="7132320" y="2487168"/>
            <a:ext cx="4023360" cy="457200"/>
          </a:xfrm>
          <a:prstGeom prst="rect">
            <a:avLst/>
          </a:prstGeom>
          <a:noFill/>
          <a:ln/>
        </p:spPr>
        <p:txBody>
          <a:bodyPr wrap="square" lIns="0" tIns="0" rIns="0" bIns="0" rtlCol="0" anchor="ctr"/>
          <a:lstStyle/>
          <a:p>
            <a:pPr indent="0" marL="0">
              <a:buNone/>
            </a:pPr>
            <a:r>
              <a:rPr lang="en-US" sz="1300" b="1" dirty="0">
                <a:solidFill>
                  <a:srgbClr val="B3761B"/>
                </a:solidFill>
                <a:latin typeface="Calibri" pitchFamily="34" charset="0"/>
                <a:ea typeface="Calibri" pitchFamily="34" charset="-122"/>
                <a:cs typeface="Calibri" pitchFamily="34" charset="-120"/>
              </a:rPr>
              <a:t>A lower number is more senior</a:t>
            </a:r>
            <a:endParaRPr lang="en-US" sz="1300" dirty="0"/>
          </a:p>
        </p:txBody>
      </p:sp>
      <p:sp>
        <p:nvSpPr>
          <p:cNvPr id="22" name="Shape 19"/>
          <p:cNvSpPr/>
          <p:nvPr/>
        </p:nvSpPr>
        <p:spPr>
          <a:xfrm>
            <a:off x="6949440" y="3035808"/>
            <a:ext cx="384048" cy="384048"/>
          </a:xfrm>
          <a:prstGeom prst="ellipse">
            <a:avLst/>
          </a:prstGeom>
          <a:solidFill>
            <a:srgbClr val="B3761B"/>
          </a:solidFill>
          <a:ln w="12700">
            <a:solidFill>
              <a:srgbClr val="B3761B"/>
            </a:solidFill>
            <a:prstDash val="solid"/>
          </a:ln>
        </p:spPr>
      </p:sp>
      <p:sp>
        <p:nvSpPr>
          <p:cNvPr id="23" name="Text 20"/>
          <p:cNvSpPr txBox="1"/>
          <p:nvPr/>
        </p:nvSpPr>
        <p:spPr>
          <a:xfrm>
            <a:off x="694944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4" name="Text 21"/>
          <p:cNvSpPr txBox="1"/>
          <p:nvPr/>
        </p:nvSpPr>
        <p:spPr>
          <a:xfrm>
            <a:off x="7498080" y="3035808"/>
            <a:ext cx="3840480" cy="384048"/>
          </a:xfrm>
          <a:prstGeom prst="rect">
            <a:avLst/>
          </a:prstGeom>
          <a:noFill/>
          <a:ln/>
        </p:spPr>
        <p:txBody>
          <a:bodyPr wrap="square" lIns="0" tIns="0" rIns="0" bIns="0" rtlCol="0" anchor="ctr"/>
          <a:lstStyle/>
          <a:p>
            <a:pPr indent="0" marL="0">
              <a:buNone/>
            </a:pPr>
            <a:r>
              <a:rPr lang="en-US" sz="1350" dirty="0">
                <a:solidFill>
                  <a:srgbClr val="10201C"/>
                </a:solidFill>
                <a:latin typeface="Calibri" pitchFamily="34" charset="0"/>
                <a:ea typeface="Calibri" pitchFamily="34" charset="-122"/>
                <a:cs typeface="Calibri" pitchFamily="34" charset="-120"/>
              </a:rPr>
              <a:t>Department Manager</a:t>
            </a:r>
            <a:endParaRPr lang="en-US" sz="1350" dirty="0"/>
          </a:p>
        </p:txBody>
      </p:sp>
      <p:sp>
        <p:nvSpPr>
          <p:cNvPr id="25" name="Shape 22"/>
          <p:cNvSpPr/>
          <p:nvPr/>
        </p:nvSpPr>
        <p:spPr>
          <a:xfrm>
            <a:off x="6949440" y="3566160"/>
            <a:ext cx="384048" cy="384048"/>
          </a:xfrm>
          <a:prstGeom prst="ellipse">
            <a:avLst/>
          </a:prstGeom>
          <a:solidFill>
            <a:srgbClr val="0B6E5F"/>
          </a:solidFill>
          <a:ln w="12700">
            <a:solidFill>
              <a:srgbClr val="0B6E5F"/>
            </a:solidFill>
            <a:prstDash val="solid"/>
          </a:ln>
        </p:spPr>
      </p:sp>
      <p:sp>
        <p:nvSpPr>
          <p:cNvPr id="26" name="Text 23"/>
          <p:cNvSpPr txBox="1"/>
          <p:nvPr/>
        </p:nvSpPr>
        <p:spPr>
          <a:xfrm>
            <a:off x="6949440" y="3566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7" name="Text 24"/>
          <p:cNvSpPr txBox="1"/>
          <p:nvPr/>
        </p:nvSpPr>
        <p:spPr>
          <a:xfrm>
            <a:off x="7498080" y="3566160"/>
            <a:ext cx="3840480" cy="384048"/>
          </a:xfrm>
          <a:prstGeom prst="rect">
            <a:avLst/>
          </a:prstGeom>
          <a:noFill/>
          <a:ln/>
        </p:spPr>
        <p:txBody>
          <a:bodyPr wrap="square" lIns="0" tIns="0" rIns="0" bIns="0" rtlCol="0" anchor="ctr"/>
          <a:lstStyle/>
          <a:p>
            <a:pPr indent="0" marL="0">
              <a:buNone/>
            </a:pPr>
            <a:r>
              <a:rPr lang="en-US" sz="1350" dirty="0">
                <a:solidFill>
                  <a:srgbClr val="10201C"/>
                </a:solidFill>
                <a:latin typeface="Calibri" pitchFamily="34" charset="0"/>
                <a:ea typeface="Calibri" pitchFamily="34" charset="-122"/>
                <a:cs typeface="Calibri" pitchFamily="34" charset="-120"/>
              </a:rPr>
              <a:t>Section Head</a:t>
            </a:r>
            <a:endParaRPr lang="en-US" sz="1350" dirty="0"/>
          </a:p>
        </p:txBody>
      </p:sp>
      <p:sp>
        <p:nvSpPr>
          <p:cNvPr id="28" name="Shape 25"/>
          <p:cNvSpPr/>
          <p:nvPr/>
        </p:nvSpPr>
        <p:spPr>
          <a:xfrm>
            <a:off x="6949440" y="4096512"/>
            <a:ext cx="384048" cy="384048"/>
          </a:xfrm>
          <a:prstGeom prst="ellipse">
            <a:avLst/>
          </a:prstGeom>
          <a:solidFill>
            <a:srgbClr val="0B6E5F"/>
          </a:solidFill>
          <a:ln w="12700">
            <a:solidFill>
              <a:srgbClr val="0B6E5F"/>
            </a:solidFill>
            <a:prstDash val="solid"/>
          </a:ln>
        </p:spPr>
      </p:sp>
      <p:sp>
        <p:nvSpPr>
          <p:cNvPr id="29" name="Text 26"/>
          <p:cNvSpPr txBox="1"/>
          <p:nvPr/>
        </p:nvSpPr>
        <p:spPr>
          <a:xfrm>
            <a:off x="6949440" y="4096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0" name="Text 27"/>
          <p:cNvSpPr txBox="1"/>
          <p:nvPr/>
        </p:nvSpPr>
        <p:spPr>
          <a:xfrm>
            <a:off x="7498080" y="4096512"/>
            <a:ext cx="3840480" cy="384048"/>
          </a:xfrm>
          <a:prstGeom prst="rect">
            <a:avLst/>
          </a:prstGeom>
          <a:noFill/>
          <a:ln/>
        </p:spPr>
        <p:txBody>
          <a:bodyPr wrap="square" lIns="0" tIns="0" rIns="0" bIns="0" rtlCol="0" anchor="ctr"/>
          <a:lstStyle/>
          <a:p>
            <a:pPr indent="0" marL="0">
              <a:buNone/>
            </a:pPr>
            <a:r>
              <a:rPr lang="en-US" sz="1350" dirty="0">
                <a:solidFill>
                  <a:srgbClr val="10201C"/>
                </a:solidFill>
                <a:latin typeface="Calibri" pitchFamily="34" charset="0"/>
                <a:ea typeface="Calibri" pitchFamily="34" charset="-122"/>
                <a:cs typeface="Calibri" pitchFamily="34" charset="-120"/>
              </a:rPr>
              <a:t>Area Coordinator</a:t>
            </a:r>
            <a:endParaRPr lang="en-US" sz="1350" dirty="0"/>
          </a:p>
        </p:txBody>
      </p:sp>
      <p:sp>
        <p:nvSpPr>
          <p:cNvPr id="31" name="Shape 28"/>
          <p:cNvSpPr/>
          <p:nvPr/>
        </p:nvSpPr>
        <p:spPr>
          <a:xfrm>
            <a:off x="6949440" y="4626864"/>
            <a:ext cx="384048" cy="384048"/>
          </a:xfrm>
          <a:prstGeom prst="ellipse">
            <a:avLst/>
          </a:prstGeom>
          <a:solidFill>
            <a:srgbClr val="0B6E5F"/>
          </a:solidFill>
          <a:ln w="12700">
            <a:solidFill>
              <a:srgbClr val="0B6E5F"/>
            </a:solidFill>
            <a:prstDash val="solid"/>
          </a:ln>
        </p:spPr>
      </p:sp>
      <p:sp>
        <p:nvSpPr>
          <p:cNvPr id="32" name="Text 29"/>
          <p:cNvSpPr txBox="1"/>
          <p:nvPr/>
        </p:nvSpPr>
        <p:spPr>
          <a:xfrm>
            <a:off x="6949440" y="4626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3" name="Text 30"/>
          <p:cNvSpPr txBox="1"/>
          <p:nvPr/>
        </p:nvSpPr>
        <p:spPr>
          <a:xfrm>
            <a:off x="7498080" y="4626864"/>
            <a:ext cx="3840480" cy="384048"/>
          </a:xfrm>
          <a:prstGeom prst="rect">
            <a:avLst/>
          </a:prstGeom>
          <a:noFill/>
          <a:ln/>
        </p:spPr>
        <p:txBody>
          <a:bodyPr wrap="square" lIns="0" tIns="0" rIns="0" bIns="0" rtlCol="0" anchor="ctr"/>
          <a:lstStyle/>
          <a:p>
            <a:pPr indent="0" marL="0">
              <a:buNone/>
            </a:pPr>
            <a:r>
              <a:rPr lang="en-US" sz="1350" dirty="0">
                <a:solidFill>
                  <a:srgbClr val="10201C"/>
                </a:solidFill>
                <a:latin typeface="Calibri" pitchFamily="34" charset="0"/>
                <a:ea typeface="Calibri" pitchFamily="34" charset="-122"/>
                <a:cs typeface="Calibri" pitchFamily="34" charset="-120"/>
              </a:rPr>
              <a:t>Junior Supervisor</a:t>
            </a:r>
            <a:endParaRPr lang="en-US" sz="1350" dirty="0"/>
          </a:p>
        </p:txBody>
      </p:sp>
      <p:sp>
        <p:nvSpPr>
          <p:cNvPr id="34" name="Shape 31"/>
          <p:cNvSpPr/>
          <p:nvPr/>
        </p:nvSpPr>
        <p:spPr>
          <a:xfrm>
            <a:off x="6949440" y="5157216"/>
            <a:ext cx="384048" cy="384048"/>
          </a:xfrm>
          <a:prstGeom prst="ellipse">
            <a:avLst/>
          </a:prstGeom>
          <a:solidFill>
            <a:srgbClr val="0B6E5F"/>
          </a:solidFill>
          <a:ln w="12700">
            <a:solidFill>
              <a:srgbClr val="0B6E5F"/>
            </a:solidFill>
            <a:prstDash val="solid"/>
          </a:ln>
        </p:spPr>
      </p:sp>
      <p:sp>
        <p:nvSpPr>
          <p:cNvPr id="35" name="Text 32"/>
          <p:cNvSpPr txBox="1"/>
          <p:nvPr/>
        </p:nvSpPr>
        <p:spPr>
          <a:xfrm>
            <a:off x="69494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6" name="Text 33"/>
          <p:cNvSpPr txBox="1"/>
          <p:nvPr/>
        </p:nvSpPr>
        <p:spPr>
          <a:xfrm>
            <a:off x="7498080" y="5157216"/>
            <a:ext cx="3840480" cy="384048"/>
          </a:xfrm>
          <a:prstGeom prst="rect">
            <a:avLst/>
          </a:prstGeom>
          <a:noFill/>
          <a:ln/>
        </p:spPr>
        <p:txBody>
          <a:bodyPr wrap="square" lIns="0" tIns="0" rIns="0" bIns="0" rtlCol="0" anchor="ctr"/>
          <a:lstStyle/>
          <a:p>
            <a:pPr indent="0" marL="0">
              <a:buNone/>
            </a:pPr>
            <a:r>
              <a:rPr lang="en-US" sz="1350" dirty="0">
                <a:solidFill>
                  <a:srgbClr val="10201C"/>
                </a:solidFill>
                <a:latin typeface="Calibri" pitchFamily="34" charset="0"/>
                <a:ea typeface="Calibri" pitchFamily="34" charset="-122"/>
                <a:cs typeface="Calibri" pitchFamily="34" charset="-120"/>
              </a:rPr>
              <a:t>Team Leader / Associate</a:t>
            </a:r>
            <a:endParaRPr lang="en-US" sz="1350" dirty="0"/>
          </a:p>
        </p:txBody>
      </p:sp>
      <p:sp>
        <p:nvSpPr>
          <p:cNvPr id="37" name="Text 34"/>
          <p:cNvSpPr txBox="1"/>
          <p:nvPr/>
        </p:nvSpPr>
        <p:spPr>
          <a:xfrm>
            <a:off x="6949440" y="5806440"/>
            <a:ext cx="4389120" cy="292608"/>
          </a:xfrm>
          <a:prstGeom prst="rect">
            <a:avLst/>
          </a:prstGeom>
          <a:noFill/>
          <a:ln/>
        </p:spPr>
        <p:txBody>
          <a:bodyPr wrap="square" lIns="0" tIns="0" rIns="0" bIns="0" rtlCol="0" anchor="ctr"/>
          <a:lstStyle/>
          <a:p>
            <a:pPr indent="0" marL="0">
              <a:buNone/>
            </a:pPr>
            <a:r>
              <a:rPr lang="en-US" sz="1150" i="1" dirty="0">
                <a:solidFill>
                  <a:srgbClr val="5C6E68"/>
                </a:solidFill>
                <a:latin typeface="Calibri" pitchFamily="34" charset="0"/>
                <a:ea typeface="Calibri" pitchFamily="34" charset="-122"/>
                <a:cs typeface="Calibri" pitchFamily="34" charset="-120"/>
              </a:rPr>
              <a:t>Peer-review routing reads this ladder directly.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WHAT MAKES THIS DIFFERENT</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Who can see what is not a setting — it is the database</a:t>
            </a:r>
            <a:endParaRPr lang="en-US" sz="3400" dirty="0"/>
          </a:p>
        </p:txBody>
      </p:sp>
      <p:sp>
        <p:nvSpPr>
          <p:cNvPr id="5" name="Shape 2"/>
          <p:cNvSpPr/>
          <p:nvPr/>
        </p:nvSpPr>
        <p:spPr>
          <a:xfrm>
            <a:off x="640080" y="1783080"/>
            <a:ext cx="2606040" cy="2057400"/>
          </a:xfrm>
          <a:prstGeom prst="roundRect">
            <a:avLst>
              <a:gd name="adj" fmla="val 266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868680" y="2011680"/>
            <a:ext cx="329184" cy="329184"/>
          </a:xfrm>
          <a:prstGeom prst="ellipse">
            <a:avLst/>
          </a:prstGeom>
          <a:solidFill>
            <a:srgbClr val="0B6E5F"/>
          </a:solidFill>
          <a:ln w="12700">
            <a:solidFill>
              <a:srgbClr val="0B6E5F"/>
            </a:solidFill>
            <a:prstDash val="solid"/>
          </a:ln>
        </p:spPr>
      </p:sp>
      <p:sp>
        <p:nvSpPr>
          <p:cNvPr id="7" name="Text 4"/>
          <p:cNvSpPr txBox="1"/>
          <p:nvPr/>
        </p:nvSpPr>
        <p:spPr>
          <a:xfrm>
            <a:off x="1298448" y="1993392"/>
            <a:ext cx="1828800" cy="365760"/>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Employee</a:t>
            </a:r>
            <a:endParaRPr lang="en-US" sz="1500" dirty="0"/>
          </a:p>
        </p:txBody>
      </p:sp>
      <p:sp>
        <p:nvSpPr>
          <p:cNvPr id="8" name="Text 5"/>
          <p:cNvSpPr txBox="1"/>
          <p:nvPr/>
        </p:nvSpPr>
        <p:spPr>
          <a:xfrm>
            <a:off x="868680" y="2487168"/>
            <a:ext cx="2194560" cy="118872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Their own record, their own targets and results. Nothing else.</a:t>
            </a:r>
            <a:endParaRPr lang="en-US" sz="1250" dirty="0"/>
          </a:p>
        </p:txBody>
      </p:sp>
      <p:sp>
        <p:nvSpPr>
          <p:cNvPr id="9" name="Shape 6"/>
          <p:cNvSpPr/>
          <p:nvPr/>
        </p:nvSpPr>
        <p:spPr>
          <a:xfrm>
            <a:off x="3493008" y="1783080"/>
            <a:ext cx="2606040" cy="2057400"/>
          </a:xfrm>
          <a:prstGeom prst="roundRect">
            <a:avLst>
              <a:gd name="adj" fmla="val 266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0" name="Shape 7"/>
          <p:cNvSpPr/>
          <p:nvPr/>
        </p:nvSpPr>
        <p:spPr>
          <a:xfrm>
            <a:off x="3721608" y="2011680"/>
            <a:ext cx="329184" cy="329184"/>
          </a:xfrm>
          <a:prstGeom prst="ellipse">
            <a:avLst/>
          </a:prstGeom>
          <a:solidFill>
            <a:srgbClr val="0B6E5F"/>
          </a:solidFill>
          <a:ln w="12700">
            <a:solidFill>
              <a:srgbClr val="0B6E5F"/>
            </a:solidFill>
            <a:prstDash val="solid"/>
          </a:ln>
        </p:spPr>
      </p:sp>
      <p:sp>
        <p:nvSpPr>
          <p:cNvPr id="11" name="Text 8"/>
          <p:cNvSpPr txBox="1"/>
          <p:nvPr/>
        </p:nvSpPr>
        <p:spPr>
          <a:xfrm>
            <a:off x="4151376" y="1993392"/>
            <a:ext cx="1828800" cy="365760"/>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Supervisor</a:t>
            </a:r>
            <a:endParaRPr lang="en-US" sz="1500" dirty="0"/>
          </a:p>
        </p:txBody>
      </p:sp>
      <p:sp>
        <p:nvSpPr>
          <p:cNvPr id="12" name="Text 9"/>
          <p:cNvSpPr txBox="1"/>
          <p:nvPr/>
        </p:nvSpPr>
        <p:spPr>
          <a:xfrm>
            <a:off x="3721608" y="2487168"/>
            <a:ext cx="2194560" cy="118872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Their own, plus everyone reporting to them. Not their peers’ teams.</a:t>
            </a:r>
            <a:endParaRPr lang="en-US" sz="1250" dirty="0"/>
          </a:p>
        </p:txBody>
      </p:sp>
      <p:sp>
        <p:nvSpPr>
          <p:cNvPr id="13" name="Shape 10"/>
          <p:cNvSpPr/>
          <p:nvPr/>
        </p:nvSpPr>
        <p:spPr>
          <a:xfrm>
            <a:off x="6345936" y="1783080"/>
            <a:ext cx="2606040" cy="2057400"/>
          </a:xfrm>
          <a:prstGeom prst="roundRect">
            <a:avLst>
              <a:gd name="adj" fmla="val 266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4" name="Shape 11"/>
          <p:cNvSpPr/>
          <p:nvPr/>
        </p:nvSpPr>
        <p:spPr>
          <a:xfrm>
            <a:off x="6574536" y="2011680"/>
            <a:ext cx="329184" cy="329184"/>
          </a:xfrm>
          <a:prstGeom prst="ellipse">
            <a:avLst/>
          </a:prstGeom>
          <a:solidFill>
            <a:srgbClr val="0B6E5F"/>
          </a:solidFill>
          <a:ln w="12700">
            <a:solidFill>
              <a:srgbClr val="0B6E5F"/>
            </a:solidFill>
            <a:prstDash val="solid"/>
          </a:ln>
        </p:spPr>
      </p:sp>
      <p:sp>
        <p:nvSpPr>
          <p:cNvPr id="15" name="Text 12"/>
          <p:cNvSpPr txBox="1"/>
          <p:nvPr/>
        </p:nvSpPr>
        <p:spPr>
          <a:xfrm>
            <a:off x="7004304" y="1993392"/>
            <a:ext cx="1828800" cy="365760"/>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Dept. Head</a:t>
            </a:r>
            <a:endParaRPr lang="en-US" sz="1500" dirty="0"/>
          </a:p>
        </p:txBody>
      </p:sp>
      <p:sp>
        <p:nvSpPr>
          <p:cNvPr id="16" name="Text 13"/>
          <p:cNvSpPr txBox="1"/>
          <p:nvPr/>
        </p:nvSpPr>
        <p:spPr>
          <a:xfrm>
            <a:off x="6574536" y="2487168"/>
            <a:ext cx="2194560" cy="118872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The whole section, and the approval step before sign-off.</a:t>
            </a:r>
            <a:endParaRPr lang="en-US" sz="1250" dirty="0"/>
          </a:p>
        </p:txBody>
      </p:sp>
      <p:sp>
        <p:nvSpPr>
          <p:cNvPr id="17" name="Shape 14"/>
          <p:cNvSpPr/>
          <p:nvPr/>
        </p:nvSpPr>
        <p:spPr>
          <a:xfrm>
            <a:off x="9198864" y="1783080"/>
            <a:ext cx="2606040" cy="2057400"/>
          </a:xfrm>
          <a:prstGeom prst="roundRect">
            <a:avLst>
              <a:gd name="adj" fmla="val 266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8" name="Shape 15"/>
          <p:cNvSpPr/>
          <p:nvPr/>
        </p:nvSpPr>
        <p:spPr>
          <a:xfrm>
            <a:off x="9427464" y="2011680"/>
            <a:ext cx="329184" cy="329184"/>
          </a:xfrm>
          <a:prstGeom prst="ellipse">
            <a:avLst/>
          </a:prstGeom>
          <a:solidFill>
            <a:srgbClr val="B3761B"/>
          </a:solidFill>
          <a:ln w="12700">
            <a:solidFill>
              <a:srgbClr val="B3761B"/>
            </a:solidFill>
            <a:prstDash val="solid"/>
          </a:ln>
        </p:spPr>
      </p:sp>
      <p:sp>
        <p:nvSpPr>
          <p:cNvPr id="19" name="Text 16"/>
          <p:cNvSpPr txBox="1"/>
          <p:nvPr/>
        </p:nvSpPr>
        <p:spPr>
          <a:xfrm>
            <a:off x="9857232" y="1993392"/>
            <a:ext cx="1828800" cy="365760"/>
          </a:xfrm>
          <a:prstGeom prst="rect">
            <a:avLst/>
          </a:prstGeom>
          <a:noFill/>
          <a:ln/>
        </p:spPr>
        <p:txBody>
          <a:bodyPr wrap="square" lIns="0" tIns="0" rIns="0" bIns="0" rtlCol="0" anchor="ctr"/>
          <a:lstStyle/>
          <a:p>
            <a:pPr indent="0" marL="0">
              <a:buNone/>
            </a:pPr>
            <a:r>
              <a:rPr lang="en-US" sz="1500" b="1" dirty="0">
                <a:solidFill>
                  <a:srgbClr val="10201C"/>
                </a:solidFill>
                <a:latin typeface="Calibri" pitchFamily="34" charset="0"/>
                <a:ea typeface="Calibri" pitchFamily="34" charset="-122"/>
                <a:cs typeface="Calibri" pitchFamily="34" charset="-120"/>
              </a:rPr>
              <a:t>HCM</a:t>
            </a:r>
            <a:endParaRPr lang="en-US" sz="1500" dirty="0"/>
          </a:p>
        </p:txBody>
      </p:sp>
      <p:sp>
        <p:nvSpPr>
          <p:cNvPr id="20" name="Text 17"/>
          <p:cNvSpPr txBox="1"/>
          <p:nvPr/>
        </p:nvSpPr>
        <p:spPr>
          <a:xfrm>
            <a:off x="9427464" y="2487168"/>
            <a:ext cx="2194560" cy="118872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The organisation, plus the setup nobody else may touch.</a:t>
            </a:r>
            <a:endParaRPr lang="en-US" sz="1250" dirty="0"/>
          </a:p>
        </p:txBody>
      </p:sp>
      <p:sp>
        <p:nvSpPr>
          <p:cNvPr id="21" name="Shape 18"/>
          <p:cNvSpPr/>
          <p:nvPr/>
        </p:nvSpPr>
        <p:spPr>
          <a:xfrm>
            <a:off x="640080" y="4114800"/>
            <a:ext cx="10881360" cy="1783080"/>
          </a:xfrm>
          <a:prstGeom prst="roundRect">
            <a:avLst>
              <a:gd name="adj" fmla="val 307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2" name="Text 19"/>
          <p:cNvSpPr txBox="1"/>
          <p:nvPr/>
        </p:nvSpPr>
        <p:spPr>
          <a:xfrm>
            <a:off x="1051560" y="4343400"/>
            <a:ext cx="4572000" cy="320040"/>
          </a:xfrm>
          <a:prstGeom prst="rect">
            <a:avLst/>
          </a:prstGeom>
          <a:noFill/>
          <a:ln/>
        </p:spPr>
        <p:txBody>
          <a:bodyPr wrap="square" lIns="0" tIns="0" rIns="0" bIns="0" rtlCol="0" anchor="ctr"/>
          <a:lstStyle/>
          <a:p>
            <a:pPr indent="0" marL="0">
              <a:buNone/>
            </a:pPr>
            <a:r>
              <a:rPr lang="en-US" sz="1800" b="1" dirty="0">
                <a:solidFill>
                  <a:srgbClr val="10201C"/>
                </a:solidFill>
                <a:latin typeface="Cambria" pitchFamily="34" charset="0"/>
                <a:ea typeface="Cambria" pitchFamily="34" charset="-122"/>
                <a:cs typeface="Cambria" pitchFamily="34" charset="-120"/>
              </a:rPr>
              <a:t>Why it matters to you</a:t>
            </a:r>
            <a:endParaRPr lang="en-US" sz="1800" dirty="0"/>
          </a:p>
        </p:txBody>
      </p:sp>
      <p:sp>
        <p:nvSpPr>
          <p:cNvPr id="23" name="Text 20"/>
          <p:cNvSpPr txBox="1"/>
          <p:nvPr/>
        </p:nvSpPr>
        <p:spPr>
          <a:xfrm>
            <a:off x="1051560" y="4754880"/>
            <a:ext cx="10058400" cy="914400"/>
          </a:xfrm>
          <a:prstGeom prst="rect">
            <a:avLst/>
          </a:prstGeom>
          <a:noFill/>
          <a:ln/>
        </p:spPr>
        <p:txBody>
          <a:bodyPr wrap="square" lIns="0" tIns="0" rIns="0" bIns="0" rtlCol="0" anchor="t"/>
          <a:lstStyle/>
          <a:p>
            <a:pPr indent="0" marL="0">
              <a:lnSpc>
                <a:spcPts val="2000"/>
              </a:lnSpc>
              <a:buNone/>
            </a:pPr>
            <a:r>
              <a:rPr lang="en-US" sz="1400" b="1" dirty="0">
                <a:solidFill>
                  <a:srgbClr val="5C6E68"/>
                </a:solidFill>
                <a:latin typeface="Calibri" pitchFamily="34" charset="0"/>
                <a:ea typeface="Calibri" pitchFamily="34" charset="-122"/>
                <a:cs typeface="Calibri" pitchFamily="34" charset="-120"/>
              </a:rPr>
              <a:t>Appraisal data is the most sensitive thing HR holds. </a:t>
            </a:r>
            <a:pPr indent="0" marL="0">
              <a:lnSpc>
                <a:spcPts val="2000"/>
              </a:lnSpc>
              <a:buNone/>
            </a:pPr>
            <a:r>
              <a:rPr lang="en-US" sz="1400" dirty="0">
                <a:solidFill>
                  <a:srgbClr val="5C6E68"/>
                </a:solidFill>
                <a:latin typeface="Calibri" pitchFamily="34" charset="0"/>
                <a:ea typeface="Calibri" pitchFamily="34" charset="-122"/>
                <a:cs typeface="Calibri" pitchFamily="34" charset="-120"/>
              </a:rPr>
              <a:t>A supervisor who can open a colleague’s ratings — even once, even by accident — is a problem you cannot undo. Here the rule lives underneath every screen, every report and every export, so it holds even where nobody thought to check. We test it by trying to break in, not by trusting the screens.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SETTING UP</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Your 201 files, loaded by your own staff</a:t>
            </a:r>
            <a:endParaRPr lang="en-US" sz="3400" dirty="0"/>
          </a:p>
        </p:txBody>
      </p:sp>
      <p:sp>
        <p:nvSpPr>
          <p:cNvPr id="5" name="Shape 2"/>
          <p:cNvSpPr/>
          <p:nvPr/>
        </p:nvSpPr>
        <p:spPr>
          <a:xfrm>
            <a:off x="640080" y="1783080"/>
            <a:ext cx="3520440" cy="2514600"/>
          </a:xfrm>
          <a:prstGeom prst="roundRect">
            <a:avLst>
              <a:gd name="adj" fmla="val 218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60120" y="2057400"/>
            <a:ext cx="457200" cy="457200"/>
          </a:xfrm>
          <a:prstGeom prst="ellipse">
            <a:avLst/>
          </a:prstGeom>
          <a:solidFill>
            <a:srgbClr val="0B6E5F"/>
          </a:solidFill>
          <a:ln w="12700">
            <a:solidFill>
              <a:srgbClr val="0B6E5F"/>
            </a:solidFill>
            <a:prstDash val="solid"/>
          </a:ln>
        </p:spPr>
      </p:sp>
      <p:sp>
        <p:nvSpPr>
          <p:cNvPr id="7" name="Text 4"/>
          <p:cNvSpPr txBox="1"/>
          <p:nvPr/>
        </p:nvSpPr>
        <p:spPr>
          <a:xfrm>
            <a:off x="960120" y="20574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60120" y="2670048"/>
            <a:ext cx="292608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Download the template</a:t>
            </a:r>
            <a:endParaRPr lang="en-US" sz="1700" dirty="0"/>
          </a:p>
        </p:txBody>
      </p:sp>
      <p:sp>
        <p:nvSpPr>
          <p:cNvPr id="9" name="Text 6"/>
          <p:cNvSpPr txBox="1"/>
          <p:nvPr/>
        </p:nvSpPr>
        <p:spPr>
          <a:xfrm>
            <a:off x="960120" y="3063240"/>
            <a:ext cx="2926080" cy="109728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Carries the exact columns the system reads, with one example row. Extra columns in your own file are ignored and reported back.</a:t>
            </a:r>
            <a:endParaRPr lang="en-US" sz="1250" dirty="0"/>
          </a:p>
        </p:txBody>
      </p:sp>
      <p:sp>
        <p:nvSpPr>
          <p:cNvPr id="10" name="Shape 7"/>
          <p:cNvSpPr/>
          <p:nvPr/>
        </p:nvSpPr>
        <p:spPr>
          <a:xfrm>
            <a:off x="4251960" y="2852928"/>
            <a:ext cx="256032" cy="365760"/>
          </a:xfrm>
          <a:prstGeom prst="chevron">
            <a:avLst/>
          </a:prstGeom>
          <a:solidFill>
            <a:srgbClr val="C5D5D0"/>
          </a:solidFill>
          <a:ln w="12700">
            <a:solidFill>
              <a:srgbClr val="C5D5D0"/>
            </a:solidFill>
            <a:prstDash val="solid"/>
          </a:ln>
        </p:spPr>
      </p:sp>
      <p:sp>
        <p:nvSpPr>
          <p:cNvPr id="11" name="Shape 8"/>
          <p:cNvSpPr/>
          <p:nvPr/>
        </p:nvSpPr>
        <p:spPr>
          <a:xfrm>
            <a:off x="4407408" y="1783080"/>
            <a:ext cx="3520440" cy="2514600"/>
          </a:xfrm>
          <a:prstGeom prst="roundRect">
            <a:avLst>
              <a:gd name="adj" fmla="val 218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2" name="Shape 9"/>
          <p:cNvSpPr/>
          <p:nvPr/>
        </p:nvSpPr>
        <p:spPr>
          <a:xfrm>
            <a:off x="4727448" y="2057400"/>
            <a:ext cx="457200" cy="457200"/>
          </a:xfrm>
          <a:prstGeom prst="ellipse">
            <a:avLst/>
          </a:prstGeom>
          <a:solidFill>
            <a:srgbClr val="0B6E5F"/>
          </a:solidFill>
          <a:ln w="12700">
            <a:solidFill>
              <a:srgbClr val="0B6E5F"/>
            </a:solidFill>
            <a:prstDash val="solid"/>
          </a:ln>
        </p:spPr>
      </p:sp>
      <p:sp>
        <p:nvSpPr>
          <p:cNvPr id="13" name="Text 10"/>
          <p:cNvSpPr txBox="1"/>
          <p:nvPr/>
        </p:nvSpPr>
        <p:spPr>
          <a:xfrm>
            <a:off x="4727448" y="20574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4727448" y="2670048"/>
            <a:ext cx="292608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Upload and check</a:t>
            </a:r>
            <a:endParaRPr lang="en-US" sz="1700" dirty="0"/>
          </a:p>
        </p:txBody>
      </p:sp>
      <p:sp>
        <p:nvSpPr>
          <p:cNvPr id="15" name="Text 12"/>
          <p:cNvSpPr txBox="1"/>
          <p:nvPr/>
        </p:nvSpPr>
        <p:spPr>
          <a:xfrm>
            <a:off x="4727448" y="3063240"/>
            <a:ext cx="2926080" cy="109728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Reports what would happen and writes nothing: people added, units created, reporting lines, the rank ladder. Errors name the line and the reason.</a:t>
            </a:r>
            <a:endParaRPr lang="en-US" sz="1250" dirty="0"/>
          </a:p>
        </p:txBody>
      </p:sp>
      <p:sp>
        <p:nvSpPr>
          <p:cNvPr id="16" name="Shape 13"/>
          <p:cNvSpPr/>
          <p:nvPr/>
        </p:nvSpPr>
        <p:spPr>
          <a:xfrm>
            <a:off x="8019288" y="2852928"/>
            <a:ext cx="256032" cy="365760"/>
          </a:xfrm>
          <a:prstGeom prst="chevron">
            <a:avLst/>
          </a:prstGeom>
          <a:solidFill>
            <a:srgbClr val="C5D5D0"/>
          </a:solidFill>
          <a:ln w="12700">
            <a:solidFill>
              <a:srgbClr val="C5D5D0"/>
            </a:solidFill>
            <a:prstDash val="solid"/>
          </a:ln>
        </p:spPr>
      </p:sp>
      <p:sp>
        <p:nvSpPr>
          <p:cNvPr id="17" name="Shape 14"/>
          <p:cNvSpPr/>
          <p:nvPr/>
        </p:nvSpPr>
        <p:spPr>
          <a:xfrm>
            <a:off x="8174736" y="1783080"/>
            <a:ext cx="3520440" cy="2514600"/>
          </a:xfrm>
          <a:prstGeom prst="roundRect">
            <a:avLst>
              <a:gd name="adj" fmla="val 218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8" name="Shape 15"/>
          <p:cNvSpPr/>
          <p:nvPr/>
        </p:nvSpPr>
        <p:spPr>
          <a:xfrm>
            <a:off x="8494776" y="2057400"/>
            <a:ext cx="457200" cy="457200"/>
          </a:xfrm>
          <a:prstGeom prst="ellipse">
            <a:avLst/>
          </a:prstGeom>
          <a:solidFill>
            <a:srgbClr val="0B6E5F"/>
          </a:solidFill>
          <a:ln w="12700">
            <a:solidFill>
              <a:srgbClr val="0B6E5F"/>
            </a:solidFill>
            <a:prstDash val="solid"/>
          </a:ln>
        </p:spPr>
      </p:sp>
      <p:sp>
        <p:nvSpPr>
          <p:cNvPr id="19" name="Text 16"/>
          <p:cNvSpPr txBox="1"/>
          <p:nvPr/>
        </p:nvSpPr>
        <p:spPr>
          <a:xfrm>
            <a:off x="8494776" y="20574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8494776" y="2670048"/>
            <a:ext cx="292608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Apply</a:t>
            </a:r>
            <a:endParaRPr lang="en-US" sz="1700" dirty="0"/>
          </a:p>
        </p:txBody>
      </p:sp>
      <p:sp>
        <p:nvSpPr>
          <p:cNvPr id="21" name="Text 18"/>
          <p:cNvSpPr txBox="1"/>
          <p:nvPr/>
        </p:nvSpPr>
        <p:spPr>
          <a:xfrm>
            <a:off x="8494776" y="3063240"/>
            <a:ext cx="2926080" cy="109728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People, departments, positions and ranks in one go. Upload a corrected file later and it updates — it never duplicates.</a:t>
            </a:r>
            <a:endParaRPr lang="en-US" sz="1250" dirty="0"/>
          </a:p>
        </p:txBody>
      </p:sp>
      <p:sp>
        <p:nvSpPr>
          <p:cNvPr id="22" name="Shape 19"/>
          <p:cNvSpPr/>
          <p:nvPr/>
        </p:nvSpPr>
        <p:spPr>
          <a:xfrm>
            <a:off x="640080" y="4572000"/>
            <a:ext cx="10881360" cy="1325880"/>
          </a:xfrm>
          <a:prstGeom prst="roundRect">
            <a:avLst>
              <a:gd name="adj" fmla="val 4138"/>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3" name="Text 20"/>
          <p:cNvSpPr txBox="1"/>
          <p:nvPr/>
        </p:nvSpPr>
        <p:spPr>
          <a:xfrm>
            <a:off x="1051560" y="4754880"/>
            <a:ext cx="548640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No spreadsheet round-trips with us</a:t>
            </a:r>
            <a:endParaRPr lang="en-US" sz="1700" dirty="0"/>
          </a:p>
        </p:txBody>
      </p:sp>
      <p:sp>
        <p:nvSpPr>
          <p:cNvPr id="24" name="Text 21"/>
          <p:cNvSpPr txBox="1"/>
          <p:nvPr/>
        </p:nvSpPr>
        <p:spPr>
          <a:xfrm>
            <a:off x="1051560" y="5138928"/>
            <a:ext cx="10058400" cy="548640"/>
          </a:xfrm>
          <a:prstGeom prst="rect">
            <a:avLst/>
          </a:prstGeom>
          <a:noFill/>
          <a:ln/>
        </p:spPr>
        <p:txBody>
          <a:bodyPr wrap="square" lIns="0" tIns="0" rIns="0" bIns="0" rtlCol="0" anchor="t"/>
          <a:lstStyle/>
          <a:p>
            <a:pPr indent="0" marL="0">
              <a:lnSpc>
                <a:spcPts val="1900"/>
              </a:lnSpc>
              <a:buNone/>
            </a:pPr>
            <a:r>
              <a:rPr lang="en-US" sz="1400" dirty="0">
                <a:solidFill>
                  <a:srgbClr val="5C6E68"/>
                </a:solidFill>
                <a:latin typeface="Calibri" pitchFamily="34" charset="0"/>
                <a:ea typeface="Calibri" pitchFamily="34" charset="-122"/>
                <a:cs typeface="Calibri" pitchFamily="34" charset="-120"/>
              </a:rPr>
              <a:t>HCM does this without waiting on anyone technical. The same file shape works for the first load of 28 people and for a branch of 300.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TARGET SETTING</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Targets pass two gates, not one</a:t>
            </a:r>
            <a:endParaRPr lang="en-US" sz="3400" dirty="0"/>
          </a:p>
        </p:txBody>
      </p:sp>
      <p:sp>
        <p:nvSpPr>
          <p:cNvPr id="5" name="Shape 2"/>
          <p:cNvSpPr/>
          <p:nvPr/>
        </p:nvSpPr>
        <p:spPr>
          <a:xfrm>
            <a:off x="640080" y="1828800"/>
            <a:ext cx="2606040" cy="566928"/>
          </a:xfrm>
          <a:prstGeom prst="roundRect">
            <a:avLst>
              <a:gd name="adj" fmla="val 9677"/>
            </a:avLst>
          </a:prstGeom>
          <a:solidFill>
            <a:srgbClr val="E3EDEA"/>
          </a:solidFill>
          <a:ln w="9525">
            <a:solidFill>
              <a:srgbClr val="CBDDD8"/>
            </a:solidFill>
            <a:prstDash val="solid"/>
          </a:ln>
        </p:spPr>
      </p:sp>
      <p:sp>
        <p:nvSpPr>
          <p:cNvPr id="6" name="Text 3"/>
          <p:cNvSpPr txBox="1"/>
          <p:nvPr/>
        </p:nvSpPr>
        <p:spPr>
          <a:xfrm>
            <a:off x="822960" y="1828800"/>
            <a:ext cx="2240280" cy="566928"/>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Draft</a:t>
            </a:r>
            <a:endParaRPr lang="en-US" sz="1400" dirty="0"/>
          </a:p>
        </p:txBody>
      </p:sp>
      <p:sp>
        <p:nvSpPr>
          <p:cNvPr id="7" name="Text 4"/>
          <p:cNvSpPr txBox="1"/>
          <p:nvPr/>
        </p:nvSpPr>
        <p:spPr>
          <a:xfrm>
            <a:off x="658368" y="2542032"/>
            <a:ext cx="2560320" cy="100584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The employee and supervisor agree targets and weights.</a:t>
            </a:r>
            <a:endParaRPr lang="en-US" sz="1250" dirty="0"/>
          </a:p>
        </p:txBody>
      </p:sp>
      <p:sp>
        <p:nvSpPr>
          <p:cNvPr id="8" name="Shape 5"/>
          <p:cNvSpPr/>
          <p:nvPr/>
        </p:nvSpPr>
        <p:spPr>
          <a:xfrm>
            <a:off x="3310128" y="1965960"/>
            <a:ext cx="146304" cy="292608"/>
          </a:xfrm>
          <a:prstGeom prst="chevron">
            <a:avLst/>
          </a:prstGeom>
          <a:solidFill>
            <a:srgbClr val="C5D5D0"/>
          </a:solidFill>
          <a:ln w="12700">
            <a:solidFill>
              <a:srgbClr val="C5D5D0"/>
            </a:solidFill>
            <a:prstDash val="solid"/>
          </a:ln>
        </p:spPr>
      </p:sp>
      <p:sp>
        <p:nvSpPr>
          <p:cNvPr id="9" name="Shape 6"/>
          <p:cNvSpPr/>
          <p:nvPr/>
        </p:nvSpPr>
        <p:spPr>
          <a:xfrm>
            <a:off x="3493008" y="1828800"/>
            <a:ext cx="2606040" cy="566928"/>
          </a:xfrm>
          <a:prstGeom prst="roundRect">
            <a:avLst>
              <a:gd name="adj" fmla="val 9677"/>
            </a:avLst>
          </a:prstGeom>
          <a:solidFill>
            <a:srgbClr val="0B6E5F"/>
          </a:solidFill>
          <a:ln w="9525">
            <a:solidFill>
              <a:srgbClr val="0B6E5F"/>
            </a:solidFill>
            <a:prstDash val="solid"/>
          </a:ln>
        </p:spPr>
      </p:sp>
      <p:sp>
        <p:nvSpPr>
          <p:cNvPr id="10" name="Text 7"/>
          <p:cNvSpPr txBox="1"/>
          <p:nvPr/>
        </p:nvSpPr>
        <p:spPr>
          <a:xfrm>
            <a:off x="3675888" y="1828800"/>
            <a:ext cx="2240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Supervisor approves</a:t>
            </a:r>
            <a:endParaRPr lang="en-US" sz="1400" dirty="0"/>
          </a:p>
        </p:txBody>
      </p:sp>
      <p:sp>
        <p:nvSpPr>
          <p:cNvPr id="11" name="Text 8"/>
          <p:cNvSpPr txBox="1"/>
          <p:nvPr/>
        </p:nvSpPr>
        <p:spPr>
          <a:xfrm>
            <a:off x="3511296" y="2542032"/>
            <a:ext cx="2560320" cy="100584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First gate. The target is now fixed for the period.</a:t>
            </a:r>
            <a:endParaRPr lang="en-US" sz="1250" dirty="0"/>
          </a:p>
        </p:txBody>
      </p:sp>
      <p:sp>
        <p:nvSpPr>
          <p:cNvPr id="12" name="Shape 9"/>
          <p:cNvSpPr/>
          <p:nvPr/>
        </p:nvSpPr>
        <p:spPr>
          <a:xfrm>
            <a:off x="6163056" y="1965960"/>
            <a:ext cx="146304" cy="292608"/>
          </a:xfrm>
          <a:prstGeom prst="chevron">
            <a:avLst/>
          </a:prstGeom>
          <a:solidFill>
            <a:srgbClr val="C5D5D0"/>
          </a:solidFill>
          <a:ln w="12700">
            <a:solidFill>
              <a:srgbClr val="C5D5D0"/>
            </a:solidFill>
            <a:prstDash val="solid"/>
          </a:ln>
        </p:spPr>
      </p:sp>
      <p:sp>
        <p:nvSpPr>
          <p:cNvPr id="13" name="Shape 10"/>
          <p:cNvSpPr/>
          <p:nvPr/>
        </p:nvSpPr>
        <p:spPr>
          <a:xfrm>
            <a:off x="6345936" y="1828800"/>
            <a:ext cx="2606040" cy="566928"/>
          </a:xfrm>
          <a:prstGeom prst="roundRect">
            <a:avLst>
              <a:gd name="adj" fmla="val 9677"/>
            </a:avLst>
          </a:prstGeom>
          <a:solidFill>
            <a:srgbClr val="B3761B"/>
          </a:solidFill>
          <a:ln w="9525">
            <a:solidFill>
              <a:srgbClr val="B3761B"/>
            </a:solidFill>
            <a:prstDash val="solid"/>
          </a:ln>
        </p:spPr>
      </p:sp>
      <p:sp>
        <p:nvSpPr>
          <p:cNvPr id="14" name="Text 11"/>
          <p:cNvSpPr txBox="1"/>
          <p:nvPr/>
        </p:nvSpPr>
        <p:spPr>
          <a:xfrm>
            <a:off x="6528816" y="1828800"/>
            <a:ext cx="2240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HCM approves</a:t>
            </a:r>
            <a:endParaRPr lang="en-US" sz="1400" dirty="0"/>
          </a:p>
        </p:txBody>
      </p:sp>
      <p:sp>
        <p:nvSpPr>
          <p:cNvPr id="15" name="Text 12"/>
          <p:cNvSpPr txBox="1"/>
          <p:nvPr/>
        </p:nvSpPr>
        <p:spPr>
          <a:xfrm>
            <a:off x="6364224" y="2542032"/>
            <a:ext cx="2560320" cy="100584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Second gate, switchable per period. HCM may approve or send back with a note.</a:t>
            </a:r>
            <a:endParaRPr lang="en-US" sz="1250" dirty="0"/>
          </a:p>
        </p:txBody>
      </p:sp>
      <p:sp>
        <p:nvSpPr>
          <p:cNvPr id="16" name="Shape 13"/>
          <p:cNvSpPr/>
          <p:nvPr/>
        </p:nvSpPr>
        <p:spPr>
          <a:xfrm>
            <a:off x="9015984" y="1965960"/>
            <a:ext cx="146304" cy="292608"/>
          </a:xfrm>
          <a:prstGeom prst="chevron">
            <a:avLst/>
          </a:prstGeom>
          <a:solidFill>
            <a:srgbClr val="C5D5D0"/>
          </a:solidFill>
          <a:ln w="12700">
            <a:solidFill>
              <a:srgbClr val="C5D5D0"/>
            </a:solidFill>
            <a:prstDash val="solid"/>
          </a:ln>
        </p:spPr>
      </p:sp>
      <p:sp>
        <p:nvSpPr>
          <p:cNvPr id="17" name="Shape 14"/>
          <p:cNvSpPr/>
          <p:nvPr/>
        </p:nvSpPr>
        <p:spPr>
          <a:xfrm>
            <a:off x="9198864" y="1828800"/>
            <a:ext cx="2606040" cy="566928"/>
          </a:xfrm>
          <a:prstGeom prst="roundRect">
            <a:avLst>
              <a:gd name="adj" fmla="val 9677"/>
            </a:avLst>
          </a:prstGeom>
          <a:solidFill>
            <a:srgbClr val="E3EDEA"/>
          </a:solidFill>
          <a:ln w="9525">
            <a:solidFill>
              <a:srgbClr val="CBDDD8"/>
            </a:solidFill>
            <a:prstDash val="solid"/>
          </a:ln>
        </p:spPr>
      </p:sp>
      <p:sp>
        <p:nvSpPr>
          <p:cNvPr id="18" name="Text 15"/>
          <p:cNvSpPr txBox="1"/>
          <p:nvPr/>
        </p:nvSpPr>
        <p:spPr>
          <a:xfrm>
            <a:off x="9381744" y="1828800"/>
            <a:ext cx="2240280" cy="566928"/>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Active</a:t>
            </a:r>
            <a:endParaRPr lang="en-US" sz="1400" dirty="0"/>
          </a:p>
        </p:txBody>
      </p:sp>
      <p:sp>
        <p:nvSpPr>
          <p:cNvPr id="19" name="Text 16"/>
          <p:cNvSpPr txBox="1"/>
          <p:nvPr/>
        </p:nvSpPr>
        <p:spPr>
          <a:xfrm>
            <a:off x="9217152" y="2542032"/>
            <a:ext cx="2560320" cy="100584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Check-ins run on the cadence you set — weekly through quarterly.</a:t>
            </a:r>
            <a:endParaRPr lang="en-US" sz="1250" dirty="0"/>
          </a:p>
        </p:txBody>
      </p:sp>
      <p:sp>
        <p:nvSpPr>
          <p:cNvPr id="20" name="Shape 17"/>
          <p:cNvSpPr/>
          <p:nvPr/>
        </p:nvSpPr>
        <p:spPr>
          <a:xfrm>
            <a:off x="640080" y="3840480"/>
            <a:ext cx="5486400" cy="2057400"/>
          </a:xfrm>
          <a:prstGeom prst="roundRect">
            <a:avLst>
              <a:gd name="adj" fmla="val 266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1" name="Text 18"/>
          <p:cNvSpPr txBox="1"/>
          <p:nvPr/>
        </p:nvSpPr>
        <p:spPr>
          <a:xfrm>
            <a:off x="1005840" y="4069080"/>
            <a:ext cx="457200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Sent back, not rejected</a:t>
            </a:r>
            <a:endParaRPr lang="en-US" sz="1700" dirty="0"/>
          </a:p>
        </p:txBody>
      </p:sp>
      <p:sp>
        <p:nvSpPr>
          <p:cNvPr id="22" name="Text 19"/>
          <p:cNvSpPr txBox="1"/>
          <p:nvPr/>
        </p:nvSpPr>
        <p:spPr>
          <a:xfrm>
            <a:off x="1005840" y="4462272"/>
            <a:ext cx="4754880" cy="1097280"/>
          </a:xfrm>
          <a:prstGeom prst="rect">
            <a:avLst/>
          </a:prstGeom>
          <a:noFill/>
          <a:ln/>
        </p:spPr>
        <p:txBody>
          <a:bodyPr wrap="square" lIns="0" tIns="0" rIns="0" bIns="0" rtlCol="0" anchor="t"/>
          <a:lstStyle/>
          <a:p>
            <a:pPr indent="0" marL="0">
              <a:lnSpc>
                <a:spcPts val="1900"/>
              </a:lnSpc>
              <a:buNone/>
            </a:pPr>
            <a:r>
              <a:rPr lang="en-US" sz="1350" dirty="0">
                <a:solidFill>
                  <a:srgbClr val="5C6E68"/>
                </a:solidFill>
                <a:latin typeface="Calibri" pitchFamily="34" charset="0"/>
                <a:ea typeface="Calibri" pitchFamily="34" charset="-122"/>
                <a:cs typeface="Calibri" pitchFamily="34" charset="-120"/>
              </a:rPr>
              <a:t>When HCM returns a target it carries a note, both approvals clear, and the target goes back to draft. Nobody has to guess what changed or why.</a:t>
            </a:r>
            <a:endParaRPr lang="en-US" sz="1350" dirty="0"/>
          </a:p>
        </p:txBody>
      </p:sp>
      <p:sp>
        <p:nvSpPr>
          <p:cNvPr id="23" name="Shape 20"/>
          <p:cNvSpPr/>
          <p:nvPr/>
        </p:nvSpPr>
        <p:spPr>
          <a:xfrm>
            <a:off x="6583680" y="3840480"/>
            <a:ext cx="4937760" cy="2057400"/>
          </a:xfrm>
          <a:prstGeom prst="roundRect">
            <a:avLst>
              <a:gd name="adj" fmla="val 266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4" name="Text 21"/>
          <p:cNvSpPr txBox="1"/>
          <p:nvPr/>
        </p:nvSpPr>
        <p:spPr>
          <a:xfrm>
            <a:off x="6949440" y="4069080"/>
            <a:ext cx="457200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Check-ins that chase themselves</a:t>
            </a:r>
            <a:endParaRPr lang="en-US" sz="1700" dirty="0"/>
          </a:p>
        </p:txBody>
      </p:sp>
      <p:sp>
        <p:nvSpPr>
          <p:cNvPr id="25" name="Text 22"/>
          <p:cNvSpPr txBox="1"/>
          <p:nvPr/>
        </p:nvSpPr>
        <p:spPr>
          <a:xfrm>
            <a:off x="6949440" y="4462272"/>
            <a:ext cx="4572000" cy="1188720"/>
          </a:xfrm>
          <a:prstGeom prst="rect">
            <a:avLst/>
          </a:prstGeom>
          <a:noFill/>
          <a:ln/>
        </p:spPr>
        <p:txBody>
          <a:bodyPr wrap="square" lIns="0" tIns="0" rIns="0" bIns="0" rtlCol="0" anchor="t"/>
          <a:lstStyle/>
          <a:p>
            <a:pPr indent="0" marL="0">
              <a:lnSpc>
                <a:spcPts val="1900"/>
              </a:lnSpc>
              <a:buNone/>
            </a:pPr>
            <a:r>
              <a:rPr lang="en-US" sz="1350" dirty="0">
                <a:solidFill>
                  <a:srgbClr val="5C6E68"/>
                </a:solidFill>
                <a:latin typeface="Calibri" pitchFamily="34" charset="0"/>
                <a:ea typeface="Calibri" pitchFamily="34" charset="-122"/>
                <a:cs typeface="Calibri" pitchFamily="34" charset="-120"/>
              </a:rPr>
              <a:t>A goal whose check-in cadence has lapsed raises a reminder to the person holding it — once per missed period, not once per day. Nobody has to run a report to find work that went quiet.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THE EVALUATION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Self, supervisor, Department Head, sign-off</a:t>
            </a:r>
            <a:endParaRPr lang="en-US" sz="3400" dirty="0"/>
          </a:p>
        </p:txBody>
      </p:sp>
      <p:sp>
        <p:nvSpPr>
          <p:cNvPr id="5" name="Shape 2"/>
          <p:cNvSpPr/>
          <p:nvPr/>
        </p:nvSpPr>
        <p:spPr>
          <a:xfrm>
            <a:off x="640080" y="1783080"/>
            <a:ext cx="2084832" cy="2286000"/>
          </a:xfrm>
          <a:prstGeom prst="roundRect">
            <a:avLst>
              <a:gd name="adj" fmla="val 263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896112" y="2011680"/>
            <a:ext cx="402336" cy="402336"/>
          </a:xfrm>
          <a:prstGeom prst="ellipse">
            <a:avLst/>
          </a:prstGeom>
          <a:solidFill>
            <a:srgbClr val="0B6E5F"/>
          </a:solidFill>
          <a:ln w="12700">
            <a:solidFill>
              <a:srgbClr val="0B6E5F"/>
            </a:solidFill>
            <a:prstDash val="solid"/>
          </a:ln>
        </p:spPr>
      </p:sp>
      <p:sp>
        <p:nvSpPr>
          <p:cNvPr id="7" name="Text 4"/>
          <p:cNvSpPr txBox="1"/>
          <p:nvPr/>
        </p:nvSpPr>
        <p:spPr>
          <a:xfrm>
            <a:off x="896112"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896112" y="2578608"/>
            <a:ext cx="1737360" cy="548640"/>
          </a:xfrm>
          <a:prstGeom prst="rect">
            <a:avLst/>
          </a:prstGeom>
          <a:noFill/>
          <a:ln/>
        </p:spPr>
        <p:txBody>
          <a:bodyPr wrap="square" lIns="0" tIns="0" rIns="0" bIns="0" rtlCol="0" anchor="ctr"/>
          <a:lstStyle/>
          <a:p>
            <a:pPr indent="0" marL="0">
              <a:buNone/>
            </a:pPr>
            <a:r>
              <a:rPr lang="en-US" sz="1550" b="1" dirty="0">
                <a:solidFill>
                  <a:srgbClr val="10201C"/>
                </a:solidFill>
                <a:latin typeface="Cambria" pitchFamily="34" charset="0"/>
                <a:ea typeface="Cambria" pitchFamily="34" charset="-122"/>
                <a:cs typeface="Cambria" pitchFamily="34" charset="-120"/>
              </a:rPr>
              <a:t>Self</a:t>
            </a:r>
            <a:endParaRPr lang="en-US" sz="1550" dirty="0"/>
          </a:p>
        </p:txBody>
      </p:sp>
      <p:sp>
        <p:nvSpPr>
          <p:cNvPr id="9" name="Text 6"/>
          <p:cNvSpPr txBox="1"/>
          <p:nvPr/>
        </p:nvSpPr>
        <p:spPr>
          <a:xfrm>
            <a:off x="896112" y="3154680"/>
            <a:ext cx="1627632" cy="822960"/>
          </a:xfrm>
          <a:prstGeom prst="rect">
            <a:avLst/>
          </a:prstGeom>
          <a:noFill/>
          <a:ln/>
        </p:spPr>
        <p:txBody>
          <a:bodyPr wrap="square" lIns="0" tIns="0" rIns="0" bIns="0" rtlCol="0" anchor="t"/>
          <a:lstStyle/>
          <a:p>
            <a:pPr indent="0" marL="0">
              <a:lnSpc>
                <a:spcPts val="1600"/>
              </a:lnSpc>
              <a:buNone/>
            </a:pPr>
            <a:r>
              <a:rPr lang="en-US" sz="1200" dirty="0">
                <a:solidFill>
                  <a:srgbClr val="5C6E68"/>
                </a:solidFill>
                <a:latin typeface="Calibri" pitchFamily="34" charset="0"/>
                <a:ea typeface="Calibri" pitchFamily="34" charset="-122"/>
                <a:cs typeface="Calibri" pitchFamily="34" charset="-120"/>
              </a:rPr>
              <a:t>The employee rates themselves first.</a:t>
            </a:r>
            <a:endParaRPr lang="en-US" sz="1200" dirty="0"/>
          </a:p>
        </p:txBody>
      </p:sp>
      <p:sp>
        <p:nvSpPr>
          <p:cNvPr id="10" name="Shape 7"/>
          <p:cNvSpPr/>
          <p:nvPr/>
        </p:nvSpPr>
        <p:spPr>
          <a:xfrm>
            <a:off x="2907792" y="1783080"/>
            <a:ext cx="2084832" cy="2286000"/>
          </a:xfrm>
          <a:prstGeom prst="roundRect">
            <a:avLst>
              <a:gd name="adj" fmla="val 263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1" name="Shape 8"/>
          <p:cNvSpPr/>
          <p:nvPr/>
        </p:nvSpPr>
        <p:spPr>
          <a:xfrm>
            <a:off x="3163824" y="2011680"/>
            <a:ext cx="402336" cy="402336"/>
          </a:xfrm>
          <a:prstGeom prst="ellipse">
            <a:avLst/>
          </a:prstGeom>
          <a:solidFill>
            <a:srgbClr val="0B6E5F"/>
          </a:solidFill>
          <a:ln w="12700">
            <a:solidFill>
              <a:srgbClr val="0B6E5F"/>
            </a:solidFill>
            <a:prstDash val="solid"/>
          </a:ln>
        </p:spPr>
      </p:sp>
      <p:sp>
        <p:nvSpPr>
          <p:cNvPr id="12" name="Text 9"/>
          <p:cNvSpPr txBox="1"/>
          <p:nvPr/>
        </p:nvSpPr>
        <p:spPr>
          <a:xfrm>
            <a:off x="3163824"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3163824" y="2578608"/>
            <a:ext cx="1737360" cy="548640"/>
          </a:xfrm>
          <a:prstGeom prst="rect">
            <a:avLst/>
          </a:prstGeom>
          <a:noFill/>
          <a:ln/>
        </p:spPr>
        <p:txBody>
          <a:bodyPr wrap="square" lIns="0" tIns="0" rIns="0" bIns="0" rtlCol="0" anchor="ctr"/>
          <a:lstStyle/>
          <a:p>
            <a:pPr indent="0" marL="0">
              <a:buNone/>
            </a:pPr>
            <a:r>
              <a:rPr lang="en-US" sz="1550" b="1" dirty="0">
                <a:solidFill>
                  <a:srgbClr val="10201C"/>
                </a:solidFill>
                <a:latin typeface="Cambria" pitchFamily="34" charset="0"/>
                <a:ea typeface="Cambria" pitchFamily="34" charset="-122"/>
                <a:cs typeface="Cambria" pitchFamily="34" charset="-120"/>
              </a:rPr>
              <a:t>Supervisor</a:t>
            </a:r>
            <a:endParaRPr lang="en-US" sz="1550" dirty="0"/>
          </a:p>
        </p:txBody>
      </p:sp>
      <p:sp>
        <p:nvSpPr>
          <p:cNvPr id="14" name="Text 11"/>
          <p:cNvSpPr txBox="1"/>
          <p:nvPr/>
        </p:nvSpPr>
        <p:spPr>
          <a:xfrm>
            <a:off x="3163824" y="3154680"/>
            <a:ext cx="1627632" cy="822960"/>
          </a:xfrm>
          <a:prstGeom prst="rect">
            <a:avLst/>
          </a:prstGeom>
          <a:noFill/>
          <a:ln/>
        </p:spPr>
        <p:txBody>
          <a:bodyPr wrap="square" lIns="0" tIns="0" rIns="0" bIns="0" rtlCol="0" anchor="t"/>
          <a:lstStyle/>
          <a:p>
            <a:pPr indent="0" marL="0">
              <a:lnSpc>
                <a:spcPts val="1600"/>
              </a:lnSpc>
              <a:buNone/>
            </a:pPr>
            <a:r>
              <a:rPr lang="en-US" sz="1200" dirty="0">
                <a:solidFill>
                  <a:srgbClr val="5C6E68"/>
                </a:solidFill>
                <a:latin typeface="Calibri" pitchFamily="34" charset="0"/>
                <a:ea typeface="Calibri" pitchFamily="34" charset="-122"/>
                <a:cs typeface="Calibri" pitchFamily="34" charset="-120"/>
              </a:rPr>
              <a:t>Ratings plus a written recommendation.</a:t>
            </a:r>
            <a:endParaRPr lang="en-US" sz="1200" dirty="0"/>
          </a:p>
        </p:txBody>
      </p:sp>
      <p:sp>
        <p:nvSpPr>
          <p:cNvPr id="15" name="Shape 12"/>
          <p:cNvSpPr/>
          <p:nvPr/>
        </p:nvSpPr>
        <p:spPr>
          <a:xfrm>
            <a:off x="5175504" y="1783080"/>
            <a:ext cx="2084832" cy="2286000"/>
          </a:xfrm>
          <a:prstGeom prst="roundRect">
            <a:avLst>
              <a:gd name="adj" fmla="val 263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6" name="Shape 13"/>
          <p:cNvSpPr/>
          <p:nvPr/>
        </p:nvSpPr>
        <p:spPr>
          <a:xfrm>
            <a:off x="5431536" y="2011680"/>
            <a:ext cx="402336" cy="402336"/>
          </a:xfrm>
          <a:prstGeom prst="ellipse">
            <a:avLst/>
          </a:prstGeom>
          <a:solidFill>
            <a:srgbClr val="B3761B"/>
          </a:solidFill>
          <a:ln w="12700">
            <a:solidFill>
              <a:srgbClr val="B3761B"/>
            </a:solidFill>
            <a:prstDash val="solid"/>
          </a:ln>
        </p:spPr>
      </p:sp>
      <p:sp>
        <p:nvSpPr>
          <p:cNvPr id="17" name="Text 14"/>
          <p:cNvSpPr txBox="1"/>
          <p:nvPr/>
        </p:nvSpPr>
        <p:spPr>
          <a:xfrm>
            <a:off x="5431536"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5431536" y="2578608"/>
            <a:ext cx="1737360" cy="548640"/>
          </a:xfrm>
          <a:prstGeom prst="rect">
            <a:avLst/>
          </a:prstGeom>
          <a:noFill/>
          <a:ln/>
        </p:spPr>
        <p:txBody>
          <a:bodyPr wrap="square" lIns="0" tIns="0" rIns="0" bIns="0" rtlCol="0" anchor="ctr"/>
          <a:lstStyle/>
          <a:p>
            <a:pPr indent="0" marL="0">
              <a:buNone/>
            </a:pPr>
            <a:r>
              <a:rPr lang="en-US" sz="1550" b="1" dirty="0">
                <a:solidFill>
                  <a:srgbClr val="B3761B"/>
                </a:solidFill>
                <a:latin typeface="Cambria" pitchFamily="34" charset="0"/>
                <a:ea typeface="Cambria" pitchFamily="34" charset="-122"/>
                <a:cs typeface="Cambria" pitchFamily="34" charset="-120"/>
              </a:rPr>
              <a:t>Department Head</a:t>
            </a:r>
            <a:endParaRPr lang="en-US" sz="1550" dirty="0"/>
          </a:p>
        </p:txBody>
      </p:sp>
      <p:sp>
        <p:nvSpPr>
          <p:cNvPr id="19" name="Text 16"/>
          <p:cNvSpPr txBox="1"/>
          <p:nvPr/>
        </p:nvSpPr>
        <p:spPr>
          <a:xfrm>
            <a:off x="5431536" y="3154680"/>
            <a:ext cx="1627632" cy="822960"/>
          </a:xfrm>
          <a:prstGeom prst="rect">
            <a:avLst/>
          </a:prstGeom>
          <a:noFill/>
          <a:ln/>
        </p:spPr>
        <p:txBody>
          <a:bodyPr wrap="square" lIns="0" tIns="0" rIns="0" bIns="0" rtlCol="0" anchor="t"/>
          <a:lstStyle/>
          <a:p>
            <a:pPr indent="0" marL="0">
              <a:lnSpc>
                <a:spcPts val="1600"/>
              </a:lnSpc>
              <a:buNone/>
            </a:pPr>
            <a:r>
              <a:rPr lang="en-US" sz="1200" dirty="0">
                <a:solidFill>
                  <a:srgbClr val="5C6E68"/>
                </a:solidFill>
                <a:latin typeface="Calibri" pitchFamily="34" charset="0"/>
                <a:ea typeface="Calibri" pitchFamily="34" charset="-122"/>
                <a:cs typeface="Calibri" pitchFamily="34" charset="-120"/>
              </a:rPr>
              <a:t>Revises, approves or sends it back.</a:t>
            </a:r>
            <a:endParaRPr lang="en-US" sz="1200" dirty="0"/>
          </a:p>
        </p:txBody>
      </p:sp>
      <p:sp>
        <p:nvSpPr>
          <p:cNvPr id="20" name="Shape 17"/>
          <p:cNvSpPr/>
          <p:nvPr/>
        </p:nvSpPr>
        <p:spPr>
          <a:xfrm>
            <a:off x="7443216" y="1783080"/>
            <a:ext cx="2084832" cy="2286000"/>
          </a:xfrm>
          <a:prstGeom prst="roundRect">
            <a:avLst>
              <a:gd name="adj" fmla="val 263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1" name="Shape 18"/>
          <p:cNvSpPr/>
          <p:nvPr/>
        </p:nvSpPr>
        <p:spPr>
          <a:xfrm>
            <a:off x="7699248" y="2011680"/>
            <a:ext cx="402336" cy="402336"/>
          </a:xfrm>
          <a:prstGeom prst="ellipse">
            <a:avLst/>
          </a:prstGeom>
          <a:solidFill>
            <a:srgbClr val="0B6E5F"/>
          </a:solidFill>
          <a:ln w="12700">
            <a:solidFill>
              <a:srgbClr val="0B6E5F"/>
            </a:solidFill>
            <a:prstDash val="solid"/>
          </a:ln>
        </p:spPr>
      </p:sp>
      <p:sp>
        <p:nvSpPr>
          <p:cNvPr id="22" name="Text 19"/>
          <p:cNvSpPr txBox="1"/>
          <p:nvPr/>
        </p:nvSpPr>
        <p:spPr>
          <a:xfrm>
            <a:off x="7699248"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7699248" y="2578608"/>
            <a:ext cx="1737360" cy="548640"/>
          </a:xfrm>
          <a:prstGeom prst="rect">
            <a:avLst/>
          </a:prstGeom>
          <a:noFill/>
          <a:ln/>
        </p:spPr>
        <p:txBody>
          <a:bodyPr wrap="square" lIns="0" tIns="0" rIns="0" bIns="0" rtlCol="0" anchor="ctr"/>
          <a:lstStyle/>
          <a:p>
            <a:pPr indent="0" marL="0">
              <a:buNone/>
            </a:pPr>
            <a:r>
              <a:rPr lang="en-US" sz="1550" b="1" dirty="0">
                <a:solidFill>
                  <a:srgbClr val="10201C"/>
                </a:solidFill>
                <a:latin typeface="Cambria" pitchFamily="34" charset="0"/>
                <a:ea typeface="Cambria" pitchFamily="34" charset="-122"/>
                <a:cs typeface="Cambria" pitchFamily="34" charset="-120"/>
              </a:rPr>
              <a:t>Calibration</a:t>
            </a:r>
            <a:endParaRPr lang="en-US" sz="1550" dirty="0"/>
          </a:p>
        </p:txBody>
      </p:sp>
      <p:sp>
        <p:nvSpPr>
          <p:cNvPr id="24" name="Text 21"/>
          <p:cNvSpPr txBox="1"/>
          <p:nvPr/>
        </p:nvSpPr>
        <p:spPr>
          <a:xfrm>
            <a:off x="7699248" y="3154680"/>
            <a:ext cx="1627632" cy="822960"/>
          </a:xfrm>
          <a:prstGeom prst="rect">
            <a:avLst/>
          </a:prstGeom>
          <a:noFill/>
          <a:ln/>
        </p:spPr>
        <p:txBody>
          <a:bodyPr wrap="square" lIns="0" tIns="0" rIns="0" bIns="0" rtlCol="0" anchor="t"/>
          <a:lstStyle/>
          <a:p>
            <a:pPr indent="0" marL="0">
              <a:lnSpc>
                <a:spcPts val="1600"/>
              </a:lnSpc>
              <a:buNone/>
            </a:pPr>
            <a:r>
              <a:rPr lang="en-US" sz="1200" dirty="0">
                <a:solidFill>
                  <a:srgbClr val="5C6E68"/>
                </a:solidFill>
                <a:latin typeface="Calibri" pitchFamily="34" charset="0"/>
                <a:ea typeface="Calibri" pitchFamily="34" charset="-122"/>
                <a:cs typeface="Calibri" pitchFamily="34" charset="-120"/>
              </a:rPr>
              <a:t>HCM compares across the section before anything is final.</a:t>
            </a:r>
            <a:endParaRPr lang="en-US" sz="1200" dirty="0"/>
          </a:p>
        </p:txBody>
      </p:sp>
      <p:sp>
        <p:nvSpPr>
          <p:cNvPr id="25" name="Shape 22"/>
          <p:cNvSpPr/>
          <p:nvPr/>
        </p:nvSpPr>
        <p:spPr>
          <a:xfrm>
            <a:off x="9710928" y="1783080"/>
            <a:ext cx="2084832" cy="2286000"/>
          </a:xfrm>
          <a:prstGeom prst="roundRect">
            <a:avLst>
              <a:gd name="adj" fmla="val 2632"/>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6" name="Shape 23"/>
          <p:cNvSpPr/>
          <p:nvPr/>
        </p:nvSpPr>
        <p:spPr>
          <a:xfrm>
            <a:off x="9966960" y="2011680"/>
            <a:ext cx="402336" cy="402336"/>
          </a:xfrm>
          <a:prstGeom prst="ellipse">
            <a:avLst/>
          </a:prstGeom>
          <a:solidFill>
            <a:srgbClr val="0B6E5F"/>
          </a:solidFill>
          <a:ln w="12700">
            <a:solidFill>
              <a:srgbClr val="0B6E5F"/>
            </a:solidFill>
            <a:prstDash val="solid"/>
          </a:ln>
        </p:spPr>
      </p:sp>
      <p:sp>
        <p:nvSpPr>
          <p:cNvPr id="27" name="Text 24"/>
          <p:cNvSpPr txBox="1"/>
          <p:nvPr/>
        </p:nvSpPr>
        <p:spPr>
          <a:xfrm>
            <a:off x="996696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9966960" y="2578608"/>
            <a:ext cx="1737360" cy="548640"/>
          </a:xfrm>
          <a:prstGeom prst="rect">
            <a:avLst/>
          </a:prstGeom>
          <a:noFill/>
          <a:ln/>
        </p:spPr>
        <p:txBody>
          <a:bodyPr wrap="square" lIns="0" tIns="0" rIns="0" bIns="0" rtlCol="0" anchor="ctr"/>
          <a:lstStyle/>
          <a:p>
            <a:pPr indent="0" marL="0">
              <a:buNone/>
            </a:pPr>
            <a:r>
              <a:rPr lang="en-US" sz="1550" b="1" dirty="0">
                <a:solidFill>
                  <a:srgbClr val="10201C"/>
                </a:solidFill>
                <a:latin typeface="Cambria" pitchFamily="34" charset="0"/>
                <a:ea typeface="Cambria" pitchFamily="34" charset="-122"/>
                <a:cs typeface="Cambria" pitchFamily="34" charset="-120"/>
              </a:rPr>
              <a:t>Sign-off</a:t>
            </a:r>
            <a:endParaRPr lang="en-US" sz="1550" dirty="0"/>
          </a:p>
        </p:txBody>
      </p:sp>
      <p:sp>
        <p:nvSpPr>
          <p:cNvPr id="29" name="Text 26"/>
          <p:cNvSpPr txBox="1"/>
          <p:nvPr/>
        </p:nvSpPr>
        <p:spPr>
          <a:xfrm>
            <a:off x="9966960" y="3154680"/>
            <a:ext cx="1627632" cy="822960"/>
          </a:xfrm>
          <a:prstGeom prst="rect">
            <a:avLst/>
          </a:prstGeom>
          <a:noFill/>
          <a:ln/>
        </p:spPr>
        <p:txBody>
          <a:bodyPr wrap="square" lIns="0" tIns="0" rIns="0" bIns="0" rtlCol="0" anchor="t"/>
          <a:lstStyle/>
          <a:p>
            <a:pPr indent="0" marL="0">
              <a:lnSpc>
                <a:spcPts val="1600"/>
              </a:lnSpc>
              <a:buNone/>
            </a:pPr>
            <a:r>
              <a:rPr lang="en-US" sz="1200" dirty="0">
                <a:solidFill>
                  <a:srgbClr val="5C6E68"/>
                </a:solidFill>
                <a:latin typeface="Calibri" pitchFamily="34" charset="0"/>
                <a:ea typeface="Calibri" pitchFamily="34" charset="-122"/>
                <a:cs typeface="Calibri" pitchFamily="34" charset="-120"/>
              </a:rPr>
              <a:t>Released to the employee, who acknowledges it.</a:t>
            </a:r>
            <a:endParaRPr lang="en-US" sz="1200" dirty="0"/>
          </a:p>
        </p:txBody>
      </p:sp>
      <p:sp>
        <p:nvSpPr>
          <p:cNvPr id="30" name="Shape 27"/>
          <p:cNvSpPr/>
          <p:nvPr/>
        </p:nvSpPr>
        <p:spPr>
          <a:xfrm>
            <a:off x="640080" y="4343400"/>
            <a:ext cx="10881360" cy="1554480"/>
          </a:xfrm>
          <a:prstGeom prst="roundRect">
            <a:avLst>
              <a:gd name="adj" fmla="val 3529"/>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31" name="Text 28"/>
          <p:cNvSpPr txBox="1"/>
          <p:nvPr/>
        </p:nvSpPr>
        <p:spPr>
          <a:xfrm>
            <a:off x="1051560" y="4553712"/>
            <a:ext cx="731520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Nothing is released early, and nothing is lost</a:t>
            </a:r>
            <a:endParaRPr lang="en-US" sz="1700" dirty="0"/>
          </a:p>
        </p:txBody>
      </p:sp>
      <p:sp>
        <p:nvSpPr>
          <p:cNvPr id="32" name="Text 29"/>
          <p:cNvSpPr txBox="1"/>
          <p:nvPr/>
        </p:nvSpPr>
        <p:spPr>
          <a:xfrm>
            <a:off x="1051560" y="4937760"/>
            <a:ext cx="10058400" cy="777240"/>
          </a:xfrm>
          <a:prstGeom prst="rect">
            <a:avLst/>
          </a:prstGeom>
          <a:noFill/>
          <a:ln/>
        </p:spPr>
        <p:txBody>
          <a:bodyPr wrap="square" lIns="0" tIns="0" rIns="0" bIns="0" rtlCol="0" anchor="t"/>
          <a:lstStyle/>
          <a:p>
            <a:pPr indent="0" marL="0">
              <a:lnSpc>
                <a:spcPts val="1900"/>
              </a:lnSpc>
              <a:buNone/>
            </a:pPr>
            <a:r>
              <a:rPr lang="en-US" sz="1400" dirty="0">
                <a:solidFill>
                  <a:srgbClr val="5C6E68"/>
                </a:solidFill>
                <a:latin typeface="Calibri" pitchFamily="34" charset="0"/>
                <a:ea typeface="Calibri" pitchFamily="34" charset="-122"/>
                <a:cs typeface="Calibri" pitchFamily="34" charset="-120"/>
              </a:rPr>
              <a:t>A result stays invisible to the employee until sign-off — including to them, on their own record. Forms are versioned, so a review answered last year still shows the questions as they were asked, not as they read today.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PEER REVIEW</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Drawn at random, from rules you set</a:t>
            </a:r>
            <a:endParaRPr lang="en-US" sz="3400" dirty="0"/>
          </a:p>
        </p:txBody>
      </p:sp>
      <p:sp>
        <p:nvSpPr>
          <p:cNvPr id="5" name="Shape 2"/>
          <p:cNvSpPr/>
          <p:nvPr/>
        </p:nvSpPr>
        <p:spPr>
          <a:xfrm>
            <a:off x="640080" y="1783080"/>
            <a:ext cx="5029200" cy="2377440"/>
          </a:xfrm>
          <a:prstGeom prst="roundRect">
            <a:avLst>
              <a:gd name="adj" fmla="val 2308"/>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Text 3"/>
          <p:cNvSpPr txBox="1"/>
          <p:nvPr/>
        </p:nvSpPr>
        <p:spPr>
          <a:xfrm>
            <a:off x="1005840" y="1993392"/>
            <a:ext cx="4206240" cy="320040"/>
          </a:xfrm>
          <a:prstGeom prst="rect">
            <a:avLst/>
          </a:prstGeom>
          <a:noFill/>
          <a:ln/>
        </p:spPr>
        <p:txBody>
          <a:bodyPr wrap="square" lIns="0" tIns="0" rIns="0" bIns="0" rtlCol="0" anchor="ctr"/>
          <a:lstStyle/>
          <a:p>
            <a:pPr indent="0" marL="0">
              <a:buNone/>
            </a:pPr>
            <a:r>
              <a:rPr lang="en-US" sz="1800" b="1" dirty="0">
                <a:solidFill>
                  <a:srgbClr val="10201C"/>
                </a:solidFill>
                <a:latin typeface="Cambria" pitchFamily="34" charset="0"/>
                <a:ea typeface="Cambria" pitchFamily="34" charset="-122"/>
                <a:cs typeface="Cambria" pitchFamily="34" charset="-120"/>
              </a:rPr>
              <a:t>The 30-point instrument</a:t>
            </a:r>
            <a:endParaRPr lang="en-US" sz="1800" dirty="0"/>
          </a:p>
        </p:txBody>
      </p:sp>
      <p:sp>
        <p:nvSpPr>
          <p:cNvPr id="7" name="Text 4"/>
          <p:cNvSpPr txBox="1"/>
          <p:nvPr/>
        </p:nvSpPr>
        <p:spPr>
          <a:xfrm>
            <a:off x="1005840" y="2395728"/>
            <a:ext cx="374904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Mastery</a:t>
            </a:r>
            <a:endParaRPr lang="en-US" sz="1250" dirty="0"/>
          </a:p>
        </p:txBody>
      </p:sp>
      <p:sp>
        <p:nvSpPr>
          <p:cNvPr id="8" name="Text 5"/>
          <p:cNvSpPr txBox="1"/>
          <p:nvPr/>
        </p:nvSpPr>
        <p:spPr>
          <a:xfrm>
            <a:off x="4800600" y="2395728"/>
            <a:ext cx="457200" cy="274320"/>
          </a:xfrm>
          <a:prstGeom prst="rect">
            <a:avLst/>
          </a:prstGeom>
          <a:noFill/>
          <a:ln/>
        </p:spPr>
        <p:txBody>
          <a:bodyPr wrap="square" lIns="0" tIns="0" rIns="0" bIns="0" rtlCol="0" anchor="ctr"/>
          <a:lstStyle/>
          <a:p>
            <a:pPr algn="r" indent="0" marL="0">
              <a:buNone/>
            </a:pPr>
            <a:r>
              <a:rPr lang="en-US" sz="1250" b="1" dirty="0">
                <a:solidFill>
                  <a:srgbClr val="0B6E5F"/>
                </a:solidFill>
                <a:latin typeface="Calibri" pitchFamily="34" charset="0"/>
                <a:ea typeface="Calibri" pitchFamily="34" charset="-122"/>
                <a:cs typeface="Calibri" pitchFamily="34" charset="-120"/>
              </a:rPr>
              <a:t>5</a:t>
            </a:r>
            <a:endParaRPr lang="en-US" sz="1250" dirty="0"/>
          </a:p>
        </p:txBody>
      </p:sp>
      <p:sp>
        <p:nvSpPr>
          <p:cNvPr id="9" name="Text 6"/>
          <p:cNvSpPr txBox="1"/>
          <p:nvPr/>
        </p:nvSpPr>
        <p:spPr>
          <a:xfrm>
            <a:off x="1005840" y="2670048"/>
            <a:ext cx="374904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Demeanour — phone &amp; messaging</a:t>
            </a:r>
            <a:endParaRPr lang="en-US" sz="1250" dirty="0"/>
          </a:p>
        </p:txBody>
      </p:sp>
      <p:sp>
        <p:nvSpPr>
          <p:cNvPr id="10" name="Text 7"/>
          <p:cNvSpPr txBox="1"/>
          <p:nvPr/>
        </p:nvSpPr>
        <p:spPr>
          <a:xfrm>
            <a:off x="4800600" y="2670048"/>
            <a:ext cx="457200" cy="274320"/>
          </a:xfrm>
          <a:prstGeom prst="rect">
            <a:avLst/>
          </a:prstGeom>
          <a:noFill/>
          <a:ln/>
        </p:spPr>
        <p:txBody>
          <a:bodyPr wrap="square" lIns="0" tIns="0" rIns="0" bIns="0" rtlCol="0" anchor="ctr"/>
          <a:lstStyle/>
          <a:p>
            <a:pPr algn="r" indent="0" marL="0">
              <a:buNone/>
            </a:pPr>
            <a:r>
              <a:rPr lang="en-US" sz="1250" b="1" dirty="0">
                <a:solidFill>
                  <a:srgbClr val="0B6E5F"/>
                </a:solidFill>
                <a:latin typeface="Calibri" pitchFamily="34" charset="0"/>
                <a:ea typeface="Calibri" pitchFamily="34" charset="-122"/>
                <a:cs typeface="Calibri" pitchFamily="34" charset="-120"/>
              </a:rPr>
              <a:t>5</a:t>
            </a:r>
            <a:endParaRPr lang="en-US" sz="1250" dirty="0"/>
          </a:p>
        </p:txBody>
      </p:sp>
      <p:sp>
        <p:nvSpPr>
          <p:cNvPr id="11" name="Text 8"/>
          <p:cNvSpPr txBox="1"/>
          <p:nvPr/>
        </p:nvSpPr>
        <p:spPr>
          <a:xfrm>
            <a:off x="1005840" y="2944368"/>
            <a:ext cx="374904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Demeanour — in person</a:t>
            </a:r>
            <a:endParaRPr lang="en-US" sz="1250" dirty="0"/>
          </a:p>
        </p:txBody>
      </p:sp>
      <p:sp>
        <p:nvSpPr>
          <p:cNvPr id="12" name="Text 9"/>
          <p:cNvSpPr txBox="1"/>
          <p:nvPr/>
        </p:nvSpPr>
        <p:spPr>
          <a:xfrm>
            <a:off x="4800600" y="2944368"/>
            <a:ext cx="457200" cy="274320"/>
          </a:xfrm>
          <a:prstGeom prst="rect">
            <a:avLst/>
          </a:prstGeom>
          <a:noFill/>
          <a:ln/>
        </p:spPr>
        <p:txBody>
          <a:bodyPr wrap="square" lIns="0" tIns="0" rIns="0" bIns="0" rtlCol="0" anchor="ctr"/>
          <a:lstStyle/>
          <a:p>
            <a:pPr algn="r" indent="0" marL="0">
              <a:buNone/>
            </a:pPr>
            <a:r>
              <a:rPr lang="en-US" sz="1250" b="1" dirty="0">
                <a:solidFill>
                  <a:srgbClr val="0B6E5F"/>
                </a:solidFill>
                <a:latin typeface="Calibri" pitchFamily="34" charset="0"/>
                <a:ea typeface="Calibri" pitchFamily="34" charset="-122"/>
                <a:cs typeface="Calibri" pitchFamily="34" charset="-120"/>
              </a:rPr>
              <a:t>5</a:t>
            </a:r>
            <a:endParaRPr lang="en-US" sz="1250" dirty="0"/>
          </a:p>
        </p:txBody>
      </p:sp>
      <p:sp>
        <p:nvSpPr>
          <p:cNvPr id="13" name="Text 10"/>
          <p:cNvSpPr txBox="1"/>
          <p:nvPr/>
        </p:nvSpPr>
        <p:spPr>
          <a:xfrm>
            <a:off x="1005840" y="3218688"/>
            <a:ext cx="374904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Customer service</a:t>
            </a:r>
            <a:endParaRPr lang="en-US" sz="1250" dirty="0"/>
          </a:p>
        </p:txBody>
      </p:sp>
      <p:sp>
        <p:nvSpPr>
          <p:cNvPr id="14" name="Text 11"/>
          <p:cNvSpPr txBox="1"/>
          <p:nvPr/>
        </p:nvSpPr>
        <p:spPr>
          <a:xfrm>
            <a:off x="4800600" y="3218688"/>
            <a:ext cx="457200" cy="274320"/>
          </a:xfrm>
          <a:prstGeom prst="rect">
            <a:avLst/>
          </a:prstGeom>
          <a:noFill/>
          <a:ln/>
        </p:spPr>
        <p:txBody>
          <a:bodyPr wrap="square" lIns="0" tIns="0" rIns="0" bIns="0" rtlCol="0" anchor="ctr"/>
          <a:lstStyle/>
          <a:p>
            <a:pPr algn="r" indent="0" marL="0">
              <a:buNone/>
            </a:pPr>
            <a:r>
              <a:rPr lang="en-US" sz="1250" b="1" dirty="0">
                <a:solidFill>
                  <a:srgbClr val="0B6E5F"/>
                </a:solidFill>
                <a:latin typeface="Calibri" pitchFamily="34" charset="0"/>
                <a:ea typeface="Calibri" pitchFamily="34" charset="-122"/>
                <a:cs typeface="Calibri" pitchFamily="34" charset="-120"/>
              </a:rPr>
              <a:t>10</a:t>
            </a:r>
            <a:endParaRPr lang="en-US" sz="1250" dirty="0"/>
          </a:p>
        </p:txBody>
      </p:sp>
      <p:sp>
        <p:nvSpPr>
          <p:cNvPr id="15" name="Text 12"/>
          <p:cNvSpPr txBox="1"/>
          <p:nvPr/>
        </p:nvSpPr>
        <p:spPr>
          <a:xfrm>
            <a:off x="1005840" y="3493008"/>
            <a:ext cx="3749040" cy="27432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Promptness</a:t>
            </a:r>
            <a:endParaRPr lang="en-US" sz="1250" dirty="0"/>
          </a:p>
        </p:txBody>
      </p:sp>
      <p:sp>
        <p:nvSpPr>
          <p:cNvPr id="16" name="Text 13"/>
          <p:cNvSpPr txBox="1"/>
          <p:nvPr/>
        </p:nvSpPr>
        <p:spPr>
          <a:xfrm>
            <a:off x="4800600" y="3493008"/>
            <a:ext cx="457200" cy="274320"/>
          </a:xfrm>
          <a:prstGeom prst="rect">
            <a:avLst/>
          </a:prstGeom>
          <a:noFill/>
          <a:ln/>
        </p:spPr>
        <p:txBody>
          <a:bodyPr wrap="square" lIns="0" tIns="0" rIns="0" bIns="0" rtlCol="0" anchor="ctr"/>
          <a:lstStyle/>
          <a:p>
            <a:pPr algn="r" indent="0" marL="0">
              <a:buNone/>
            </a:pPr>
            <a:r>
              <a:rPr lang="en-US" sz="1250" b="1" dirty="0">
                <a:solidFill>
                  <a:srgbClr val="0B6E5F"/>
                </a:solidFill>
                <a:latin typeface="Calibri" pitchFamily="34" charset="0"/>
                <a:ea typeface="Calibri" pitchFamily="34" charset="-122"/>
                <a:cs typeface="Calibri" pitchFamily="34" charset="-120"/>
              </a:rPr>
              <a:t>5</a:t>
            </a:r>
            <a:endParaRPr lang="en-US" sz="1250" dirty="0"/>
          </a:p>
        </p:txBody>
      </p:sp>
      <p:sp>
        <p:nvSpPr>
          <p:cNvPr id="17" name="Text 14"/>
          <p:cNvSpPr txBox="1"/>
          <p:nvPr/>
        </p:nvSpPr>
        <p:spPr>
          <a:xfrm>
            <a:off x="1005840" y="3794760"/>
            <a:ext cx="3749040" cy="274320"/>
          </a:xfrm>
          <a:prstGeom prst="rect">
            <a:avLst/>
          </a:prstGeom>
          <a:noFill/>
          <a:ln/>
        </p:spPr>
        <p:txBody>
          <a:bodyPr wrap="square" lIns="0" tIns="0" rIns="0" bIns="0" rtlCol="0" anchor="ctr"/>
          <a:lstStyle/>
          <a:p>
            <a:pPr indent="0" marL="0">
              <a:buNone/>
            </a:pPr>
            <a:r>
              <a:rPr lang="en-US" sz="1250" b="1" dirty="0">
                <a:solidFill>
                  <a:srgbClr val="10201C"/>
                </a:solidFill>
                <a:latin typeface="Calibri" pitchFamily="34" charset="0"/>
                <a:ea typeface="Calibri" pitchFamily="34" charset="-122"/>
                <a:cs typeface="Calibri" pitchFamily="34" charset="-120"/>
              </a:rPr>
              <a:t>Total</a:t>
            </a:r>
            <a:endParaRPr lang="en-US" sz="1250" dirty="0"/>
          </a:p>
        </p:txBody>
      </p:sp>
      <p:sp>
        <p:nvSpPr>
          <p:cNvPr id="18" name="Text 15"/>
          <p:cNvSpPr txBox="1"/>
          <p:nvPr/>
        </p:nvSpPr>
        <p:spPr>
          <a:xfrm>
            <a:off x="4800600" y="3794760"/>
            <a:ext cx="457200" cy="274320"/>
          </a:xfrm>
          <a:prstGeom prst="rect">
            <a:avLst/>
          </a:prstGeom>
          <a:noFill/>
          <a:ln/>
        </p:spPr>
        <p:txBody>
          <a:bodyPr wrap="square" lIns="0" tIns="0" rIns="0" bIns="0" rtlCol="0" anchor="ctr"/>
          <a:lstStyle/>
          <a:p>
            <a:pPr algn="r" indent="0" marL="0">
              <a:buNone/>
            </a:pPr>
            <a:r>
              <a:rPr lang="en-US" sz="1250" b="1" dirty="0">
                <a:solidFill>
                  <a:srgbClr val="B3761B"/>
                </a:solidFill>
                <a:latin typeface="Calibri" pitchFamily="34" charset="0"/>
                <a:ea typeface="Calibri" pitchFamily="34" charset="-122"/>
                <a:cs typeface="Calibri" pitchFamily="34" charset="-120"/>
              </a:rPr>
              <a:t>30</a:t>
            </a:r>
            <a:endParaRPr lang="en-US" sz="1250" dirty="0"/>
          </a:p>
        </p:txBody>
      </p:sp>
      <p:sp>
        <p:nvSpPr>
          <p:cNvPr id="19" name="Shape 16"/>
          <p:cNvSpPr/>
          <p:nvPr/>
        </p:nvSpPr>
        <p:spPr>
          <a:xfrm>
            <a:off x="6126480" y="1783080"/>
            <a:ext cx="5394960" cy="2377440"/>
          </a:xfrm>
          <a:prstGeom prst="roundRect">
            <a:avLst>
              <a:gd name="adj" fmla="val 2308"/>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0" name="Text 17"/>
          <p:cNvSpPr txBox="1"/>
          <p:nvPr/>
        </p:nvSpPr>
        <p:spPr>
          <a:xfrm>
            <a:off x="6492240" y="1993392"/>
            <a:ext cx="4572000" cy="320040"/>
          </a:xfrm>
          <a:prstGeom prst="rect">
            <a:avLst/>
          </a:prstGeom>
          <a:noFill/>
          <a:ln/>
        </p:spPr>
        <p:txBody>
          <a:bodyPr wrap="square" lIns="0" tIns="0" rIns="0" bIns="0" rtlCol="0" anchor="ctr"/>
          <a:lstStyle/>
          <a:p>
            <a:pPr indent="0" marL="0">
              <a:buNone/>
            </a:pPr>
            <a:r>
              <a:rPr lang="en-US" sz="1800" b="1" dirty="0">
                <a:solidFill>
                  <a:srgbClr val="10201C"/>
                </a:solidFill>
                <a:latin typeface="Cambria" pitchFamily="34" charset="0"/>
                <a:ea typeface="Cambria" pitchFamily="34" charset="-122"/>
                <a:cs typeface="Cambria" pitchFamily="34" charset="-120"/>
              </a:rPr>
              <a:t>How reviewers are chosen</a:t>
            </a:r>
            <a:endParaRPr lang="en-US" sz="1800" dirty="0"/>
          </a:p>
        </p:txBody>
      </p:sp>
      <p:sp>
        <p:nvSpPr>
          <p:cNvPr id="21" name="Shape 18"/>
          <p:cNvSpPr/>
          <p:nvPr/>
        </p:nvSpPr>
        <p:spPr>
          <a:xfrm>
            <a:off x="6510528" y="2523744"/>
            <a:ext cx="128016" cy="128016"/>
          </a:xfrm>
          <a:prstGeom prst="ellipse">
            <a:avLst/>
          </a:prstGeom>
          <a:solidFill>
            <a:srgbClr val="0B6E5F"/>
          </a:solidFill>
          <a:ln w="12700">
            <a:solidFill>
              <a:srgbClr val="0B6E5F"/>
            </a:solidFill>
            <a:prstDash val="solid"/>
          </a:ln>
        </p:spPr>
      </p:sp>
      <p:sp>
        <p:nvSpPr>
          <p:cNvPr id="22" name="Text 19"/>
          <p:cNvSpPr txBox="1"/>
          <p:nvPr/>
        </p:nvSpPr>
        <p:spPr>
          <a:xfrm>
            <a:off x="6784848" y="2450592"/>
            <a:ext cx="4206240" cy="457200"/>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Rules by job family, unit and rank distance — same rank, one up, two up</a:t>
            </a:r>
            <a:endParaRPr lang="en-US" sz="1250" dirty="0"/>
          </a:p>
        </p:txBody>
      </p:sp>
      <p:sp>
        <p:nvSpPr>
          <p:cNvPr id="23" name="Shape 20"/>
          <p:cNvSpPr/>
          <p:nvPr/>
        </p:nvSpPr>
        <p:spPr>
          <a:xfrm>
            <a:off x="6510528" y="3035808"/>
            <a:ext cx="128016" cy="128016"/>
          </a:xfrm>
          <a:prstGeom prst="ellipse">
            <a:avLst/>
          </a:prstGeom>
          <a:solidFill>
            <a:srgbClr val="0B6E5F"/>
          </a:solidFill>
          <a:ln w="12700">
            <a:solidFill>
              <a:srgbClr val="0B6E5F"/>
            </a:solidFill>
            <a:prstDash val="solid"/>
          </a:ln>
        </p:spPr>
      </p:sp>
      <p:sp>
        <p:nvSpPr>
          <p:cNvPr id="24" name="Text 21"/>
          <p:cNvSpPr txBox="1"/>
          <p:nvPr/>
        </p:nvSpPr>
        <p:spPr>
          <a:xfrm>
            <a:off x="6784848" y="2962656"/>
            <a:ext cx="4206240" cy="457200"/>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Drawn at random from that pool; who drew and when is recorded</a:t>
            </a:r>
            <a:endParaRPr lang="en-US" sz="1250" dirty="0"/>
          </a:p>
        </p:txBody>
      </p:sp>
      <p:sp>
        <p:nvSpPr>
          <p:cNvPr id="25" name="Shape 22"/>
          <p:cNvSpPr/>
          <p:nvPr/>
        </p:nvSpPr>
        <p:spPr>
          <a:xfrm>
            <a:off x="6510528" y="3547872"/>
            <a:ext cx="128016" cy="128016"/>
          </a:xfrm>
          <a:prstGeom prst="ellipse">
            <a:avLst/>
          </a:prstGeom>
          <a:solidFill>
            <a:srgbClr val="0B6E5F"/>
          </a:solidFill>
          <a:ln w="12700">
            <a:solidFill>
              <a:srgbClr val="0B6E5F"/>
            </a:solidFill>
            <a:prstDash val="solid"/>
          </a:ln>
        </p:spPr>
      </p:sp>
      <p:sp>
        <p:nvSpPr>
          <p:cNvPr id="26" name="Text 23"/>
          <p:cNvSpPr txBox="1"/>
          <p:nvPr/>
        </p:nvSpPr>
        <p:spPr>
          <a:xfrm>
            <a:off x="6784848" y="3474720"/>
            <a:ext cx="4206240" cy="457200"/>
          </a:xfrm>
          <a:prstGeom prst="rect">
            <a:avLst/>
          </a:prstGeom>
          <a:noFill/>
          <a:ln/>
        </p:spPr>
        <p:txBody>
          <a:bodyPr wrap="square" lIns="0" tIns="0" rIns="0" bIns="0" rtlCol="0" anchor="t"/>
          <a:lstStyle/>
          <a:p>
            <a:pPr indent="0" marL="0">
              <a:lnSpc>
                <a:spcPts val="1600"/>
              </a:lnSpc>
              <a:buNone/>
            </a:pPr>
            <a:r>
              <a:rPr lang="en-US" sz="1250" dirty="0">
                <a:solidFill>
                  <a:srgbClr val="5C6E68"/>
                </a:solidFill>
                <a:latin typeface="Calibri" pitchFamily="34" charset="0"/>
                <a:ea typeface="Calibri" pitchFamily="34" charset="-122"/>
                <a:cs typeface="Calibri" pitchFamily="34" charset="-120"/>
              </a:rPr>
              <a:t>Between three and five reviewers, averaged</a:t>
            </a:r>
            <a:endParaRPr lang="en-US" sz="1250" dirty="0"/>
          </a:p>
        </p:txBody>
      </p:sp>
      <p:sp>
        <p:nvSpPr>
          <p:cNvPr id="27" name="Shape 24"/>
          <p:cNvSpPr/>
          <p:nvPr/>
        </p:nvSpPr>
        <p:spPr>
          <a:xfrm>
            <a:off x="640080" y="4389120"/>
            <a:ext cx="10881360" cy="1508760"/>
          </a:xfrm>
          <a:prstGeom prst="roundRect">
            <a:avLst>
              <a:gd name="adj" fmla="val 3636"/>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8" name="Shape 25"/>
          <p:cNvSpPr/>
          <p:nvPr/>
        </p:nvSpPr>
        <p:spPr>
          <a:xfrm>
            <a:off x="1051560" y="4617720"/>
            <a:ext cx="384048" cy="384048"/>
          </a:xfrm>
          <a:prstGeom prst="ellipse">
            <a:avLst/>
          </a:prstGeom>
          <a:solidFill>
            <a:srgbClr val="B3761B"/>
          </a:solidFill>
          <a:ln w="12700">
            <a:solidFill>
              <a:srgbClr val="B3761B"/>
            </a:solidFill>
            <a:prstDash val="solid"/>
          </a:ln>
        </p:spPr>
      </p:sp>
      <p:sp>
        <p:nvSpPr>
          <p:cNvPr id="29" name="Text 26"/>
          <p:cNvSpPr txBox="1"/>
          <p:nvPr/>
        </p:nvSpPr>
        <p:spPr>
          <a:xfrm>
            <a:off x="1051560" y="4617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7"/>
          <p:cNvSpPr txBox="1"/>
          <p:nvPr/>
        </p:nvSpPr>
        <p:spPr>
          <a:xfrm>
            <a:off x="1600200" y="4599432"/>
            <a:ext cx="7315200" cy="32004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The eligibility question, asked before anyone rates</a:t>
            </a:r>
            <a:endParaRPr lang="en-US" sz="1700" dirty="0"/>
          </a:p>
        </p:txBody>
      </p:sp>
      <p:sp>
        <p:nvSpPr>
          <p:cNvPr id="31" name="Text 28"/>
          <p:cNvSpPr txBox="1"/>
          <p:nvPr/>
        </p:nvSpPr>
        <p:spPr>
          <a:xfrm>
            <a:off x="1600200" y="4983480"/>
            <a:ext cx="9509760" cy="777240"/>
          </a:xfrm>
          <a:prstGeom prst="rect">
            <a:avLst/>
          </a:prstGeom>
          <a:noFill/>
          <a:ln/>
        </p:spPr>
        <p:txBody>
          <a:bodyPr wrap="square" lIns="0" tIns="0" rIns="0" bIns="0" rtlCol="0" anchor="t"/>
          <a:lstStyle/>
          <a:p>
            <a:pPr indent="0" marL="0">
              <a:lnSpc>
                <a:spcPts val="1900"/>
              </a:lnSpc>
              <a:buNone/>
            </a:pPr>
            <a:r>
              <a:rPr lang="en-US" sz="1400" dirty="0">
                <a:solidFill>
                  <a:srgbClr val="5C6E68"/>
                </a:solidFill>
                <a:latin typeface="Calibri" pitchFamily="34" charset="0"/>
                <a:ea typeface="Calibri" pitchFamily="34" charset="-122"/>
                <a:cs typeface="Calibri" pitchFamily="34" charset="-120"/>
              </a:rPr>
              <a:t>“Have you had any direct or indirect interaction with this person in the last six months?” A no thanks them and draws a replacement, so a panel is never filled by people with nothing to say.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CONFIGURATION</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Your five evaluation types are settings, not code</a:t>
            </a:r>
            <a:endParaRPr lang="en-US" sz="3400" dirty="0"/>
          </a:p>
        </p:txBody>
      </p:sp>
      <p:sp>
        <p:nvSpPr>
          <p:cNvPr id="5" name="Shape 2"/>
          <p:cNvSpPr/>
          <p:nvPr/>
        </p:nvSpPr>
        <p:spPr>
          <a:xfrm>
            <a:off x="640080" y="1783080"/>
            <a:ext cx="6766560" cy="548640"/>
          </a:xfrm>
          <a:prstGeom prst="roundRect">
            <a:avLst>
              <a:gd name="adj" fmla="val 8333"/>
            </a:avLst>
          </a:prstGeom>
          <a:solidFill>
            <a:srgbClr val="FFFFFF"/>
          </a:solidFill>
          <a:ln w="9525">
            <a:solidFill>
              <a:srgbClr val="E1E8E6"/>
            </a:solidFill>
            <a:prstDash val="solid"/>
          </a:ln>
        </p:spPr>
      </p:sp>
      <p:sp>
        <p:nvSpPr>
          <p:cNvPr id="6" name="Shape 3"/>
          <p:cNvSpPr/>
          <p:nvPr/>
        </p:nvSpPr>
        <p:spPr>
          <a:xfrm>
            <a:off x="804672" y="1865376"/>
            <a:ext cx="384048" cy="384048"/>
          </a:xfrm>
          <a:prstGeom prst="ellipse">
            <a:avLst/>
          </a:prstGeom>
          <a:solidFill>
            <a:srgbClr val="0B6E5F"/>
          </a:solidFill>
          <a:ln w="12700">
            <a:solidFill>
              <a:srgbClr val="0B6E5F"/>
            </a:solidFill>
            <a:prstDash val="solid"/>
          </a:ln>
        </p:spPr>
      </p:sp>
      <p:sp>
        <p:nvSpPr>
          <p:cNvPr id="7" name="Text 4"/>
          <p:cNvSpPr txBox="1"/>
          <p:nvPr/>
        </p:nvSpPr>
        <p:spPr>
          <a:xfrm>
            <a:off x="804672" y="1865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353312" y="1783080"/>
            <a:ext cx="2286000" cy="54864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Probationary</a:t>
            </a:r>
            <a:endParaRPr lang="en-US" sz="1450" dirty="0"/>
          </a:p>
        </p:txBody>
      </p:sp>
      <p:sp>
        <p:nvSpPr>
          <p:cNvPr id="9" name="Text 6"/>
          <p:cNvSpPr txBox="1"/>
          <p:nvPr/>
        </p:nvSpPr>
        <p:spPr>
          <a:xfrm>
            <a:off x="3657600" y="1783080"/>
            <a:ext cx="3566160" cy="54864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Month 3 and 4 after hiring, averaged</a:t>
            </a:r>
            <a:endParaRPr lang="en-US" sz="1250" dirty="0"/>
          </a:p>
        </p:txBody>
      </p:sp>
      <p:sp>
        <p:nvSpPr>
          <p:cNvPr id="10" name="Shape 7"/>
          <p:cNvSpPr/>
          <p:nvPr/>
        </p:nvSpPr>
        <p:spPr>
          <a:xfrm>
            <a:off x="640080" y="2441448"/>
            <a:ext cx="6766560" cy="548640"/>
          </a:xfrm>
          <a:prstGeom prst="roundRect">
            <a:avLst>
              <a:gd name="adj" fmla="val 8333"/>
            </a:avLst>
          </a:prstGeom>
          <a:solidFill>
            <a:srgbClr val="FFFFFF"/>
          </a:solidFill>
          <a:ln w="9525">
            <a:solidFill>
              <a:srgbClr val="E1E8E6"/>
            </a:solidFill>
            <a:prstDash val="solid"/>
          </a:ln>
        </p:spPr>
      </p:sp>
      <p:sp>
        <p:nvSpPr>
          <p:cNvPr id="11" name="Shape 8"/>
          <p:cNvSpPr/>
          <p:nvPr/>
        </p:nvSpPr>
        <p:spPr>
          <a:xfrm>
            <a:off x="804672" y="2523744"/>
            <a:ext cx="384048" cy="384048"/>
          </a:xfrm>
          <a:prstGeom prst="ellipse">
            <a:avLst/>
          </a:prstGeom>
          <a:solidFill>
            <a:srgbClr val="0B6E5F"/>
          </a:solidFill>
          <a:ln w="12700">
            <a:solidFill>
              <a:srgbClr val="0B6E5F"/>
            </a:solidFill>
            <a:prstDash val="solid"/>
          </a:ln>
        </p:spPr>
      </p:sp>
      <p:sp>
        <p:nvSpPr>
          <p:cNvPr id="12" name="Text 9"/>
          <p:cNvSpPr txBox="1"/>
          <p:nvPr/>
        </p:nvSpPr>
        <p:spPr>
          <a:xfrm>
            <a:off x="804672"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353312" y="2441448"/>
            <a:ext cx="2286000" cy="54864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Annual</a:t>
            </a:r>
            <a:endParaRPr lang="en-US" sz="1450" dirty="0"/>
          </a:p>
        </p:txBody>
      </p:sp>
      <p:sp>
        <p:nvSpPr>
          <p:cNvPr id="14" name="Text 11"/>
          <p:cNvSpPr txBox="1"/>
          <p:nvPr/>
        </p:nvSpPr>
        <p:spPr>
          <a:xfrm>
            <a:off x="3657600" y="2441448"/>
            <a:ext cx="3566160" cy="54864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Once a year, on the calendar</a:t>
            </a:r>
            <a:endParaRPr lang="en-US" sz="1250" dirty="0"/>
          </a:p>
        </p:txBody>
      </p:sp>
      <p:sp>
        <p:nvSpPr>
          <p:cNvPr id="15" name="Shape 12"/>
          <p:cNvSpPr/>
          <p:nvPr/>
        </p:nvSpPr>
        <p:spPr>
          <a:xfrm>
            <a:off x="640080" y="3099816"/>
            <a:ext cx="6766560" cy="548640"/>
          </a:xfrm>
          <a:prstGeom prst="roundRect">
            <a:avLst>
              <a:gd name="adj" fmla="val 8333"/>
            </a:avLst>
          </a:prstGeom>
          <a:solidFill>
            <a:srgbClr val="FFFFFF"/>
          </a:solidFill>
          <a:ln w="9525">
            <a:solidFill>
              <a:srgbClr val="E1E8E6"/>
            </a:solidFill>
            <a:prstDash val="solid"/>
          </a:ln>
        </p:spPr>
      </p:sp>
      <p:sp>
        <p:nvSpPr>
          <p:cNvPr id="16" name="Shape 13"/>
          <p:cNvSpPr/>
          <p:nvPr/>
        </p:nvSpPr>
        <p:spPr>
          <a:xfrm>
            <a:off x="804672" y="3182112"/>
            <a:ext cx="384048" cy="384048"/>
          </a:xfrm>
          <a:prstGeom prst="ellipse">
            <a:avLst/>
          </a:prstGeom>
          <a:solidFill>
            <a:srgbClr val="0B6E5F"/>
          </a:solidFill>
          <a:ln w="12700">
            <a:solidFill>
              <a:srgbClr val="0B6E5F"/>
            </a:solidFill>
            <a:prstDash val="solid"/>
          </a:ln>
        </p:spPr>
      </p:sp>
      <p:sp>
        <p:nvSpPr>
          <p:cNvPr id="17" name="Text 14"/>
          <p:cNvSpPr txBox="1"/>
          <p:nvPr/>
        </p:nvSpPr>
        <p:spPr>
          <a:xfrm>
            <a:off x="804672" y="3182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353312" y="3099816"/>
            <a:ext cx="2286000" cy="54864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Semi-annual</a:t>
            </a:r>
            <a:endParaRPr lang="en-US" sz="1450" dirty="0"/>
          </a:p>
        </p:txBody>
      </p:sp>
      <p:sp>
        <p:nvSpPr>
          <p:cNvPr id="19" name="Text 16"/>
          <p:cNvSpPr txBox="1"/>
          <p:nvPr/>
        </p:nvSpPr>
        <p:spPr>
          <a:xfrm>
            <a:off x="3657600" y="3099816"/>
            <a:ext cx="3566160" cy="54864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Midyear and year-end, averaged</a:t>
            </a:r>
            <a:endParaRPr lang="en-US" sz="1250" dirty="0"/>
          </a:p>
        </p:txBody>
      </p:sp>
      <p:sp>
        <p:nvSpPr>
          <p:cNvPr id="20" name="Shape 17"/>
          <p:cNvSpPr/>
          <p:nvPr/>
        </p:nvSpPr>
        <p:spPr>
          <a:xfrm>
            <a:off x="640080" y="3758184"/>
            <a:ext cx="6766560" cy="548640"/>
          </a:xfrm>
          <a:prstGeom prst="roundRect">
            <a:avLst>
              <a:gd name="adj" fmla="val 8333"/>
            </a:avLst>
          </a:prstGeom>
          <a:solidFill>
            <a:srgbClr val="FFFFFF"/>
          </a:solidFill>
          <a:ln w="9525">
            <a:solidFill>
              <a:srgbClr val="E1E8E6"/>
            </a:solidFill>
            <a:prstDash val="solid"/>
          </a:ln>
        </p:spPr>
      </p:sp>
      <p:sp>
        <p:nvSpPr>
          <p:cNvPr id="21" name="Shape 18"/>
          <p:cNvSpPr/>
          <p:nvPr/>
        </p:nvSpPr>
        <p:spPr>
          <a:xfrm>
            <a:off x="804672" y="3840480"/>
            <a:ext cx="384048" cy="384048"/>
          </a:xfrm>
          <a:prstGeom prst="ellipse">
            <a:avLst/>
          </a:prstGeom>
          <a:solidFill>
            <a:srgbClr val="0B6E5F"/>
          </a:solidFill>
          <a:ln w="12700">
            <a:solidFill>
              <a:srgbClr val="0B6E5F"/>
            </a:solidFill>
            <a:prstDash val="solid"/>
          </a:ln>
        </p:spPr>
      </p:sp>
      <p:sp>
        <p:nvSpPr>
          <p:cNvPr id="22" name="Text 19"/>
          <p:cNvSpPr txBox="1"/>
          <p:nvPr/>
        </p:nvSpPr>
        <p:spPr>
          <a:xfrm>
            <a:off x="804672" y="3840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1353312" y="3758184"/>
            <a:ext cx="2286000" cy="54864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Project / term</a:t>
            </a:r>
            <a:endParaRPr lang="en-US" sz="1450" dirty="0"/>
          </a:p>
        </p:txBody>
      </p:sp>
      <p:sp>
        <p:nvSpPr>
          <p:cNvPr id="24" name="Text 21"/>
          <p:cNvSpPr txBox="1"/>
          <p:nvPr/>
        </p:nvSpPr>
        <p:spPr>
          <a:xfrm>
            <a:off x="3657600" y="3758184"/>
            <a:ext cx="3566160" cy="54864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A named group, outside the calendar</a:t>
            </a:r>
            <a:endParaRPr lang="en-US" sz="1250" dirty="0"/>
          </a:p>
        </p:txBody>
      </p:sp>
      <p:sp>
        <p:nvSpPr>
          <p:cNvPr id="25" name="Shape 22"/>
          <p:cNvSpPr/>
          <p:nvPr/>
        </p:nvSpPr>
        <p:spPr>
          <a:xfrm>
            <a:off x="640080" y="4416552"/>
            <a:ext cx="6766560" cy="548640"/>
          </a:xfrm>
          <a:prstGeom prst="roundRect">
            <a:avLst>
              <a:gd name="adj" fmla="val 8333"/>
            </a:avLst>
          </a:prstGeom>
          <a:solidFill>
            <a:srgbClr val="FFFFFF"/>
          </a:solidFill>
          <a:ln w="9525">
            <a:solidFill>
              <a:srgbClr val="E1E8E6"/>
            </a:solidFill>
            <a:prstDash val="solid"/>
          </a:ln>
        </p:spPr>
      </p:sp>
      <p:sp>
        <p:nvSpPr>
          <p:cNvPr id="26" name="Shape 23"/>
          <p:cNvSpPr/>
          <p:nvPr/>
        </p:nvSpPr>
        <p:spPr>
          <a:xfrm>
            <a:off x="804672" y="4498848"/>
            <a:ext cx="384048" cy="384048"/>
          </a:xfrm>
          <a:prstGeom prst="ellipse">
            <a:avLst/>
          </a:prstGeom>
          <a:solidFill>
            <a:srgbClr val="0B6E5F"/>
          </a:solidFill>
          <a:ln w="12700">
            <a:solidFill>
              <a:srgbClr val="0B6E5F"/>
            </a:solidFill>
            <a:prstDash val="solid"/>
          </a:ln>
        </p:spPr>
      </p:sp>
      <p:sp>
        <p:nvSpPr>
          <p:cNvPr id="27" name="Text 24"/>
          <p:cNvSpPr txBox="1"/>
          <p:nvPr/>
        </p:nvSpPr>
        <p:spPr>
          <a:xfrm>
            <a:off x="804672"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1353312" y="4416552"/>
            <a:ext cx="2286000" cy="548640"/>
          </a:xfrm>
          <a:prstGeom prst="rect">
            <a:avLst/>
          </a:prstGeom>
          <a:noFill/>
          <a:ln/>
        </p:spPr>
        <p:txBody>
          <a:bodyPr wrap="square" lIns="0" tIns="0" rIns="0" bIns="0" rtlCol="0" anchor="ctr"/>
          <a:lstStyle/>
          <a:p>
            <a:pPr indent="0" marL="0">
              <a:buNone/>
            </a:pPr>
            <a:r>
              <a:rPr lang="en-US" sz="1450" b="1" dirty="0">
                <a:solidFill>
                  <a:srgbClr val="10201C"/>
                </a:solidFill>
                <a:latin typeface="Calibri" pitchFamily="34" charset="0"/>
                <a:ea typeface="Calibri" pitchFamily="34" charset="-122"/>
                <a:cs typeface="Calibri" pitchFamily="34" charset="-120"/>
              </a:rPr>
              <a:t>KPI</a:t>
            </a:r>
            <a:endParaRPr lang="en-US" sz="1450" dirty="0"/>
          </a:p>
        </p:txBody>
      </p:sp>
      <p:sp>
        <p:nvSpPr>
          <p:cNvPr id="29" name="Text 26"/>
          <p:cNvSpPr txBox="1"/>
          <p:nvPr/>
        </p:nvSpPr>
        <p:spPr>
          <a:xfrm>
            <a:off x="3657600" y="4416552"/>
            <a:ext cx="3566160" cy="54864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Quarterly, semi-annual or annual</a:t>
            </a:r>
            <a:endParaRPr lang="en-US" sz="1250" dirty="0"/>
          </a:p>
        </p:txBody>
      </p:sp>
      <p:sp>
        <p:nvSpPr>
          <p:cNvPr id="30" name="Shape 27"/>
          <p:cNvSpPr/>
          <p:nvPr/>
        </p:nvSpPr>
        <p:spPr>
          <a:xfrm>
            <a:off x="7772400" y="1783080"/>
            <a:ext cx="3749040" cy="3291840"/>
          </a:xfrm>
          <a:prstGeom prst="roundRect">
            <a:avLst>
              <a:gd name="adj" fmla="val 1667"/>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31" name="Text 28"/>
          <p:cNvSpPr txBox="1"/>
          <p:nvPr/>
        </p:nvSpPr>
        <p:spPr>
          <a:xfrm>
            <a:off x="8138160" y="2011680"/>
            <a:ext cx="3108960" cy="320040"/>
          </a:xfrm>
          <a:prstGeom prst="rect">
            <a:avLst/>
          </a:prstGeom>
          <a:noFill/>
          <a:ln/>
        </p:spPr>
        <p:txBody>
          <a:bodyPr wrap="square" lIns="0" tIns="0" rIns="0" bIns="0" rtlCol="0" anchor="ctr"/>
          <a:lstStyle/>
          <a:p>
            <a:pPr indent="0" marL="0">
              <a:buNone/>
            </a:pPr>
            <a:r>
              <a:rPr lang="en-US" sz="1800" b="1" dirty="0">
                <a:solidFill>
                  <a:srgbClr val="10201C"/>
                </a:solidFill>
                <a:latin typeface="Cambria" pitchFamily="34" charset="0"/>
                <a:ea typeface="Cambria" pitchFamily="34" charset="-122"/>
                <a:cs typeface="Cambria" pitchFamily="34" charset="-120"/>
              </a:rPr>
              <a:t>Why this matters</a:t>
            </a:r>
            <a:endParaRPr lang="en-US" sz="1800" dirty="0"/>
          </a:p>
        </p:txBody>
      </p:sp>
      <p:sp>
        <p:nvSpPr>
          <p:cNvPr id="32" name="Text 29"/>
          <p:cNvSpPr txBox="1"/>
          <p:nvPr/>
        </p:nvSpPr>
        <p:spPr>
          <a:xfrm>
            <a:off x="8138160" y="2423160"/>
            <a:ext cx="3200400" cy="2377440"/>
          </a:xfrm>
          <a:prstGeom prst="rect">
            <a:avLst/>
          </a:prstGeom>
          <a:noFill/>
          <a:ln/>
        </p:spPr>
        <p:txBody>
          <a:bodyPr wrap="square" lIns="0" tIns="0" rIns="0" bIns="0" rtlCol="0" anchor="t"/>
          <a:lstStyle/>
          <a:p>
            <a:pPr indent="0" marL="0">
              <a:lnSpc>
                <a:spcPts val="1900"/>
              </a:lnSpc>
              <a:buNone/>
            </a:pPr>
            <a:r>
              <a:rPr lang="en-US" sz="1300" dirty="0">
                <a:solidFill>
                  <a:srgbClr val="5C6E68"/>
                </a:solidFill>
                <a:latin typeface="Calibri" pitchFamily="34" charset="0"/>
                <a:ea typeface="Calibri" pitchFamily="34" charset="-122"/>
                <a:cs typeface="Calibri" pitchFamily="34" charset="-120"/>
              </a:rPr>
              <a:t>Every type carries its own timing, how many evaluations make up a result, and whether they are averaged. HCM can read those rules on screen and change them.</a:t>
            </a:r>
            <a:endParaRPr lang="en-US" sz="1300" dirty="0"/>
          </a:p>
          <a:p>
            <a:pPr indent="0" marL="0">
              <a:lnSpc>
                <a:spcPts val="1900"/>
              </a:lnSpc>
              <a:buNone/>
            </a:pPr>
            <a:endParaRPr lang="en-US" sz="1300" dirty="0"/>
          </a:p>
          <a:p>
            <a:pPr indent="0" marL="0">
              <a:lnSpc>
                <a:spcPts val="1900"/>
              </a:lnSpc>
              <a:buNone/>
            </a:pPr>
            <a:r>
              <a:rPr lang="en-US" sz="1300" dirty="0">
                <a:solidFill>
                  <a:srgbClr val="5C6E68"/>
                </a:solidFill>
                <a:latin typeface="Calibri" pitchFamily="34" charset="0"/>
                <a:ea typeface="Calibri" pitchFamily="34" charset="-122"/>
                <a:cs typeface="Calibri" pitchFamily="34" charset="-120"/>
              </a:rPr>
              <a:t>A cycle pins the rules it was issued under, so changing a type next year never rewrites the results of this one.</a:t>
            </a:r>
            <a:endParaRPr lang="en-US" sz="1300" dirty="0"/>
          </a:p>
        </p:txBody>
      </p:sp>
      <p:sp>
        <p:nvSpPr>
          <p:cNvPr id="33" name="Shape 30"/>
          <p:cNvSpPr/>
          <p:nvPr/>
        </p:nvSpPr>
        <p:spPr>
          <a:xfrm>
            <a:off x="640080" y="5257800"/>
            <a:ext cx="10881360" cy="777240"/>
          </a:xfrm>
          <a:prstGeom prst="roundRect">
            <a:avLst>
              <a:gd name="adj" fmla="val 7059"/>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34" name="Text 31"/>
          <p:cNvSpPr txBox="1"/>
          <p:nvPr/>
        </p:nvSpPr>
        <p:spPr>
          <a:xfrm>
            <a:off x="1051560" y="5440680"/>
            <a:ext cx="10058400" cy="457200"/>
          </a:xfrm>
          <a:prstGeom prst="rect">
            <a:avLst/>
          </a:prstGeom>
          <a:noFill/>
          <a:ln/>
        </p:spPr>
        <p:txBody>
          <a:bodyPr wrap="square" lIns="0" tIns="0" rIns="0" bIns="0" rtlCol="0" anchor="ctr"/>
          <a:lstStyle/>
          <a:p>
            <a:pPr indent="0" marL="0">
              <a:buNone/>
            </a:pPr>
            <a:r>
              <a:rPr lang="en-US" sz="1350" b="1" dirty="0">
                <a:solidFill>
                  <a:srgbClr val="B3761B"/>
                </a:solidFill>
                <a:latin typeface="Calibri" pitchFamily="34" charset="0"/>
                <a:ea typeface="Calibri" pitchFamily="34" charset="-122"/>
                <a:cs typeface="Calibri" pitchFamily="34" charset="-120"/>
              </a:rPr>
              <a:t>Still with you: </a:t>
            </a:r>
            <a:pPr indent="0" marL="0">
              <a:buNone/>
            </a:pPr>
            <a:r>
              <a:rPr lang="en-US" sz="1350" dirty="0">
                <a:solidFill>
                  <a:srgbClr val="5C6E68"/>
                </a:solidFill>
                <a:latin typeface="Calibri" pitchFamily="34" charset="0"/>
                <a:ea typeface="Calibri" pitchFamily="34" charset="-122"/>
                <a:cs typeface="Calibri" pitchFamily="34" charset="-120"/>
              </a:rPr>
              <a:t>when the probationary clock starts — hire date or regularisation — is one of the questions we need answered. The answer is a setting here, not a rebuild.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MONITORING</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You can see where a cycle has stalled</a:t>
            </a:r>
            <a:endParaRPr lang="en-US" sz="3400" dirty="0"/>
          </a:p>
        </p:txBody>
      </p:sp>
      <p:graphicFrame>
        <p:nvGraphicFramePr>
          <p:cNvPr id="5" name="Chart 0" descr=""/>
          <p:cNvGraphicFramePr/>
          <p:nvPr/>
        </p:nvGraphicFramePr>
        <p:xfrm>
          <a:off x="640080" y="1737360"/>
          <a:ext cx="6766560" cy="40233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72400" y="1783080"/>
            <a:ext cx="3749040" cy="3977640"/>
          </a:xfrm>
          <a:prstGeom prst="roundRect">
            <a:avLst>
              <a:gd name="adj" fmla="val 1463"/>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7" name="Text 3"/>
          <p:cNvSpPr txBox="1"/>
          <p:nvPr/>
        </p:nvSpPr>
        <p:spPr>
          <a:xfrm>
            <a:off x="8138160" y="2011680"/>
            <a:ext cx="3108960" cy="320040"/>
          </a:xfrm>
          <a:prstGeom prst="rect">
            <a:avLst/>
          </a:prstGeom>
          <a:noFill/>
          <a:ln/>
        </p:spPr>
        <p:txBody>
          <a:bodyPr wrap="square" lIns="0" tIns="0" rIns="0" bIns="0" rtlCol="0" anchor="ctr"/>
          <a:lstStyle/>
          <a:p>
            <a:pPr indent="0" marL="0">
              <a:buNone/>
            </a:pPr>
            <a:r>
              <a:rPr lang="en-US" sz="1800" b="1" dirty="0">
                <a:solidFill>
                  <a:srgbClr val="10201C"/>
                </a:solidFill>
                <a:latin typeface="Cambria" pitchFamily="34" charset="0"/>
                <a:ea typeface="Cambria" pitchFamily="34" charset="-122"/>
                <a:cs typeface="Cambria" pitchFamily="34" charset="-120"/>
              </a:rPr>
              <a:t>What HCM does with it</a:t>
            </a:r>
            <a:endParaRPr lang="en-US" sz="1800" dirty="0"/>
          </a:p>
        </p:txBody>
      </p:sp>
      <p:sp>
        <p:nvSpPr>
          <p:cNvPr id="8" name="Text 4"/>
          <p:cNvSpPr txBox="1"/>
          <p:nvPr/>
        </p:nvSpPr>
        <p:spPr>
          <a:xfrm>
            <a:off x="8138160" y="2514600"/>
            <a:ext cx="32004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Chase the right people</a:t>
            </a:r>
            <a:endParaRPr lang="en-US" sz="1400" dirty="0"/>
          </a:p>
        </p:txBody>
      </p:sp>
      <p:sp>
        <p:nvSpPr>
          <p:cNvPr id="9" name="Text 5"/>
          <p:cNvSpPr txBox="1"/>
          <p:nvPr/>
        </p:nvSpPr>
        <p:spPr>
          <a:xfrm>
            <a:off x="8138160" y="2807208"/>
            <a:ext cx="3200400" cy="77724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Reminders go to whoever is actually holding the work up — not a broadcast to everyone.</a:t>
            </a:r>
            <a:endParaRPr lang="en-US" sz="1250" dirty="0"/>
          </a:p>
        </p:txBody>
      </p:sp>
      <p:sp>
        <p:nvSpPr>
          <p:cNvPr id="10" name="Text 6"/>
          <p:cNvSpPr txBox="1"/>
          <p:nvPr/>
        </p:nvSpPr>
        <p:spPr>
          <a:xfrm>
            <a:off x="8138160" y="3611880"/>
            <a:ext cx="32004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See it by section</a:t>
            </a:r>
            <a:endParaRPr lang="en-US" sz="1400" dirty="0"/>
          </a:p>
        </p:txBody>
      </p:sp>
      <p:sp>
        <p:nvSpPr>
          <p:cNvPr id="11" name="Text 7"/>
          <p:cNvSpPr txBox="1"/>
          <p:nvPr/>
        </p:nvSpPr>
        <p:spPr>
          <a:xfrm>
            <a:off x="8138160" y="3904488"/>
            <a:ext cx="3200400" cy="77724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Distribution, rating spread and movement in calibration, per unit.</a:t>
            </a:r>
            <a:endParaRPr lang="en-US" sz="1250" dirty="0"/>
          </a:p>
        </p:txBody>
      </p:sp>
      <p:sp>
        <p:nvSpPr>
          <p:cNvPr id="12" name="Text 8"/>
          <p:cNvSpPr txBox="1"/>
          <p:nvPr/>
        </p:nvSpPr>
        <p:spPr>
          <a:xfrm>
            <a:off x="8138160" y="4709160"/>
            <a:ext cx="32004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Catch a harsh or soft rater</a:t>
            </a:r>
            <a:endParaRPr lang="en-US" sz="1400" dirty="0"/>
          </a:p>
        </p:txBody>
      </p:sp>
      <p:sp>
        <p:nvSpPr>
          <p:cNvPr id="13" name="Text 9"/>
          <p:cNvSpPr txBox="1"/>
          <p:nvPr/>
        </p:nvSpPr>
        <p:spPr>
          <a:xfrm>
            <a:off x="8138160" y="5001768"/>
            <a:ext cx="3200400" cy="77724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Rater comparison shows who scores consistently away from everyone else.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RECORDS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One employee, one history</a:t>
            </a:r>
            <a:endParaRPr lang="en-US" sz="3400" dirty="0"/>
          </a:p>
        </p:txBody>
      </p:sp>
      <p:sp>
        <p:nvSpPr>
          <p:cNvPr id="5" name="Shape 2"/>
          <p:cNvSpPr/>
          <p:nvPr/>
        </p:nvSpPr>
        <p:spPr>
          <a:xfrm>
            <a:off x="640080" y="1783080"/>
            <a:ext cx="6949440" cy="621792"/>
          </a:xfrm>
          <a:prstGeom prst="roundRect">
            <a:avLst>
              <a:gd name="adj" fmla="val 7353"/>
            </a:avLst>
          </a:prstGeom>
          <a:solidFill>
            <a:srgbClr val="FFFFFF"/>
          </a:solidFill>
          <a:ln w="9525">
            <a:solidFill>
              <a:srgbClr val="E1E8E6"/>
            </a:solidFill>
            <a:prstDash val="solid"/>
          </a:ln>
        </p:spPr>
      </p:sp>
      <p:sp>
        <p:nvSpPr>
          <p:cNvPr id="6" name="Shape 3"/>
          <p:cNvSpPr/>
          <p:nvPr/>
        </p:nvSpPr>
        <p:spPr>
          <a:xfrm>
            <a:off x="896112" y="2029968"/>
            <a:ext cx="137160" cy="137160"/>
          </a:xfrm>
          <a:prstGeom prst="ellipse">
            <a:avLst/>
          </a:prstGeom>
          <a:solidFill>
            <a:srgbClr val="0B6E5F"/>
          </a:solidFill>
          <a:ln w="12700">
            <a:solidFill>
              <a:srgbClr val="0B6E5F"/>
            </a:solidFill>
            <a:prstDash val="solid"/>
          </a:ln>
        </p:spPr>
      </p:sp>
      <p:sp>
        <p:nvSpPr>
          <p:cNvPr id="7" name="Text 4"/>
          <p:cNvSpPr txBox="1"/>
          <p:nvPr/>
        </p:nvSpPr>
        <p:spPr>
          <a:xfrm>
            <a:off x="1234440" y="1828800"/>
            <a:ext cx="27432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Evaluations</a:t>
            </a:r>
            <a:endParaRPr lang="en-US" sz="1400" dirty="0"/>
          </a:p>
        </p:txBody>
      </p:sp>
      <p:sp>
        <p:nvSpPr>
          <p:cNvPr id="8" name="Text 5"/>
          <p:cNvSpPr txBox="1"/>
          <p:nvPr/>
        </p:nvSpPr>
        <p:spPr>
          <a:xfrm>
            <a:off x="1234440" y="2084832"/>
            <a:ext cx="6035040" cy="274320"/>
          </a:xfrm>
          <a:prstGeom prst="rect">
            <a:avLst/>
          </a:prstGeom>
          <a:noFill/>
          <a:ln/>
        </p:spPr>
        <p:txBody>
          <a:bodyPr wrap="square" lIns="0" tIns="0" rIns="0" bIns="0" rtlCol="0" anchor="ctr"/>
          <a:lstStyle/>
          <a:p>
            <a:pPr indent="0" marL="0">
              <a:buNone/>
            </a:pPr>
            <a:r>
              <a:rPr lang="en-US" sz="1200" dirty="0">
                <a:solidFill>
                  <a:srgbClr val="5C6E68"/>
                </a:solidFill>
                <a:latin typeface="Calibri" pitchFamily="34" charset="0"/>
                <a:ea typeface="Calibri" pitchFamily="34" charset="-122"/>
                <a:cs typeface="Calibri" pitchFamily="34" charset="-120"/>
              </a:rPr>
              <a:t>Every review, the type it was, and the result once signed off</a:t>
            </a:r>
            <a:endParaRPr lang="en-US" sz="1200" dirty="0"/>
          </a:p>
        </p:txBody>
      </p:sp>
      <p:sp>
        <p:nvSpPr>
          <p:cNvPr id="9" name="Shape 6"/>
          <p:cNvSpPr/>
          <p:nvPr/>
        </p:nvSpPr>
        <p:spPr>
          <a:xfrm>
            <a:off x="640080" y="2532888"/>
            <a:ext cx="6949440" cy="621792"/>
          </a:xfrm>
          <a:prstGeom prst="roundRect">
            <a:avLst>
              <a:gd name="adj" fmla="val 7353"/>
            </a:avLst>
          </a:prstGeom>
          <a:solidFill>
            <a:srgbClr val="FFFFFF"/>
          </a:solidFill>
          <a:ln w="9525">
            <a:solidFill>
              <a:srgbClr val="E1E8E6"/>
            </a:solidFill>
            <a:prstDash val="solid"/>
          </a:ln>
        </p:spPr>
      </p:sp>
      <p:sp>
        <p:nvSpPr>
          <p:cNvPr id="10" name="Shape 7"/>
          <p:cNvSpPr/>
          <p:nvPr/>
        </p:nvSpPr>
        <p:spPr>
          <a:xfrm>
            <a:off x="896112" y="2779776"/>
            <a:ext cx="137160" cy="137160"/>
          </a:xfrm>
          <a:prstGeom prst="ellipse">
            <a:avLst/>
          </a:prstGeom>
          <a:solidFill>
            <a:srgbClr val="0B6E5F"/>
          </a:solidFill>
          <a:ln w="12700">
            <a:solidFill>
              <a:srgbClr val="0B6E5F"/>
            </a:solidFill>
            <a:prstDash val="solid"/>
          </a:ln>
        </p:spPr>
      </p:sp>
      <p:sp>
        <p:nvSpPr>
          <p:cNvPr id="11" name="Text 8"/>
          <p:cNvSpPr txBox="1"/>
          <p:nvPr/>
        </p:nvSpPr>
        <p:spPr>
          <a:xfrm>
            <a:off x="1234440" y="2578608"/>
            <a:ext cx="27432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Task evaluations</a:t>
            </a:r>
            <a:endParaRPr lang="en-US" sz="1400" dirty="0"/>
          </a:p>
        </p:txBody>
      </p:sp>
      <p:sp>
        <p:nvSpPr>
          <p:cNvPr id="12" name="Text 9"/>
          <p:cNvSpPr txBox="1"/>
          <p:nvPr/>
        </p:nvSpPr>
        <p:spPr>
          <a:xfrm>
            <a:off x="1234440" y="2834640"/>
            <a:ext cx="6035040" cy="274320"/>
          </a:xfrm>
          <a:prstGeom prst="rect">
            <a:avLst/>
          </a:prstGeom>
          <a:noFill/>
          <a:ln/>
        </p:spPr>
        <p:txBody>
          <a:bodyPr wrap="square" lIns="0" tIns="0" rIns="0" bIns="0" rtlCol="0" anchor="ctr"/>
          <a:lstStyle/>
          <a:p>
            <a:pPr indent="0" marL="0">
              <a:buNone/>
            </a:pPr>
            <a:r>
              <a:rPr lang="en-US" sz="1200" dirty="0">
                <a:solidFill>
                  <a:srgbClr val="5C6E68"/>
                </a:solidFill>
                <a:latin typeface="Calibri" pitchFamily="34" charset="0"/>
                <a:ea typeface="Calibri" pitchFamily="34" charset="-122"/>
                <a:cs typeface="Calibri" pitchFamily="34" charset="-120"/>
              </a:rPr>
              <a:t>Scored against the role’s own scorecard, with the lines kept as they were</a:t>
            </a:r>
            <a:endParaRPr lang="en-US" sz="1200" dirty="0"/>
          </a:p>
        </p:txBody>
      </p:sp>
      <p:sp>
        <p:nvSpPr>
          <p:cNvPr id="13" name="Shape 10"/>
          <p:cNvSpPr/>
          <p:nvPr/>
        </p:nvSpPr>
        <p:spPr>
          <a:xfrm>
            <a:off x="640080" y="3282696"/>
            <a:ext cx="6949440" cy="621792"/>
          </a:xfrm>
          <a:prstGeom prst="roundRect">
            <a:avLst>
              <a:gd name="adj" fmla="val 7353"/>
            </a:avLst>
          </a:prstGeom>
          <a:solidFill>
            <a:srgbClr val="FFFFFF"/>
          </a:solidFill>
          <a:ln w="9525">
            <a:solidFill>
              <a:srgbClr val="E1E8E6"/>
            </a:solidFill>
            <a:prstDash val="solid"/>
          </a:ln>
        </p:spPr>
      </p:sp>
      <p:sp>
        <p:nvSpPr>
          <p:cNvPr id="14" name="Shape 11"/>
          <p:cNvSpPr/>
          <p:nvPr/>
        </p:nvSpPr>
        <p:spPr>
          <a:xfrm>
            <a:off x="896112" y="3529584"/>
            <a:ext cx="137160" cy="137160"/>
          </a:xfrm>
          <a:prstGeom prst="ellipse">
            <a:avLst/>
          </a:prstGeom>
          <a:solidFill>
            <a:srgbClr val="0B6E5F"/>
          </a:solidFill>
          <a:ln w="12700">
            <a:solidFill>
              <a:srgbClr val="0B6E5F"/>
            </a:solidFill>
            <a:prstDash val="solid"/>
          </a:ln>
        </p:spPr>
      </p:sp>
      <p:sp>
        <p:nvSpPr>
          <p:cNvPr id="15" name="Text 12"/>
          <p:cNvSpPr txBox="1"/>
          <p:nvPr/>
        </p:nvSpPr>
        <p:spPr>
          <a:xfrm>
            <a:off x="1234440" y="3328416"/>
            <a:ext cx="27432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Competency assessments</a:t>
            </a:r>
            <a:endParaRPr lang="en-US" sz="1400" dirty="0"/>
          </a:p>
        </p:txBody>
      </p:sp>
      <p:sp>
        <p:nvSpPr>
          <p:cNvPr id="16" name="Text 13"/>
          <p:cNvSpPr txBox="1"/>
          <p:nvPr/>
        </p:nvSpPr>
        <p:spPr>
          <a:xfrm>
            <a:off x="1234440" y="3584448"/>
            <a:ext cx="6035040" cy="274320"/>
          </a:xfrm>
          <a:prstGeom prst="rect">
            <a:avLst/>
          </a:prstGeom>
          <a:noFill/>
          <a:ln/>
        </p:spPr>
        <p:txBody>
          <a:bodyPr wrap="square" lIns="0" tIns="0" rIns="0" bIns="0" rtlCol="0" anchor="ctr"/>
          <a:lstStyle/>
          <a:p>
            <a:pPr indent="0" marL="0">
              <a:buNone/>
            </a:pPr>
            <a:r>
              <a:rPr lang="en-US" sz="1200" dirty="0">
                <a:solidFill>
                  <a:srgbClr val="5C6E68"/>
                </a:solidFill>
                <a:latin typeface="Calibri" pitchFamily="34" charset="0"/>
                <a:ea typeface="Calibri" pitchFamily="34" charset="-122"/>
                <a:cs typeface="Calibri" pitchFamily="34" charset="-120"/>
              </a:rPr>
              <a:t>Against the framework version in force at the time</a:t>
            </a:r>
            <a:endParaRPr lang="en-US" sz="1200" dirty="0"/>
          </a:p>
        </p:txBody>
      </p:sp>
      <p:sp>
        <p:nvSpPr>
          <p:cNvPr id="17" name="Shape 14"/>
          <p:cNvSpPr/>
          <p:nvPr/>
        </p:nvSpPr>
        <p:spPr>
          <a:xfrm>
            <a:off x="640080" y="4032504"/>
            <a:ext cx="6949440" cy="621792"/>
          </a:xfrm>
          <a:prstGeom prst="roundRect">
            <a:avLst>
              <a:gd name="adj" fmla="val 7353"/>
            </a:avLst>
          </a:prstGeom>
          <a:solidFill>
            <a:srgbClr val="FFFFFF"/>
          </a:solidFill>
          <a:ln w="9525">
            <a:solidFill>
              <a:srgbClr val="E1E8E6"/>
            </a:solidFill>
            <a:prstDash val="solid"/>
          </a:ln>
        </p:spPr>
      </p:sp>
      <p:sp>
        <p:nvSpPr>
          <p:cNvPr id="18" name="Shape 15"/>
          <p:cNvSpPr/>
          <p:nvPr/>
        </p:nvSpPr>
        <p:spPr>
          <a:xfrm>
            <a:off x="896112" y="4279392"/>
            <a:ext cx="137160" cy="137160"/>
          </a:xfrm>
          <a:prstGeom prst="ellipse">
            <a:avLst/>
          </a:prstGeom>
          <a:solidFill>
            <a:srgbClr val="0B6E5F"/>
          </a:solidFill>
          <a:ln w="12700">
            <a:solidFill>
              <a:srgbClr val="0B6E5F"/>
            </a:solidFill>
            <a:prstDash val="solid"/>
          </a:ln>
        </p:spPr>
      </p:sp>
      <p:sp>
        <p:nvSpPr>
          <p:cNvPr id="19" name="Text 16"/>
          <p:cNvSpPr txBox="1"/>
          <p:nvPr/>
        </p:nvSpPr>
        <p:spPr>
          <a:xfrm>
            <a:off x="1234440" y="4078224"/>
            <a:ext cx="27432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Performance Improvement Plans</a:t>
            </a:r>
            <a:endParaRPr lang="en-US" sz="1400" dirty="0"/>
          </a:p>
        </p:txBody>
      </p:sp>
      <p:sp>
        <p:nvSpPr>
          <p:cNvPr id="20" name="Text 17"/>
          <p:cNvSpPr txBox="1"/>
          <p:nvPr/>
        </p:nvSpPr>
        <p:spPr>
          <a:xfrm>
            <a:off x="1234440" y="4334256"/>
            <a:ext cx="6035040" cy="274320"/>
          </a:xfrm>
          <a:prstGeom prst="rect">
            <a:avLst/>
          </a:prstGeom>
          <a:noFill/>
          <a:ln/>
        </p:spPr>
        <p:txBody>
          <a:bodyPr wrap="square" lIns="0" tIns="0" rIns="0" bIns="0" rtlCol="0" anchor="ctr"/>
          <a:lstStyle/>
          <a:p>
            <a:pPr indent="0" marL="0">
              <a:buNone/>
            </a:pPr>
            <a:r>
              <a:rPr lang="en-US" sz="1200" dirty="0">
                <a:solidFill>
                  <a:srgbClr val="5C6E68"/>
                </a:solidFill>
                <a:latin typeface="Calibri" pitchFamily="34" charset="0"/>
                <a:ea typeface="Calibri" pitchFamily="34" charset="-122"/>
                <a:cs typeface="Calibri" pitchFamily="34" charset="-120"/>
              </a:rPr>
              <a:t>Opened, reviewed, and how they ended</a:t>
            </a:r>
            <a:endParaRPr lang="en-US" sz="1200" dirty="0"/>
          </a:p>
        </p:txBody>
      </p:sp>
      <p:sp>
        <p:nvSpPr>
          <p:cNvPr id="21" name="Shape 18"/>
          <p:cNvSpPr/>
          <p:nvPr/>
        </p:nvSpPr>
        <p:spPr>
          <a:xfrm>
            <a:off x="640080" y="4782312"/>
            <a:ext cx="6949440" cy="621792"/>
          </a:xfrm>
          <a:prstGeom prst="roundRect">
            <a:avLst>
              <a:gd name="adj" fmla="val 7353"/>
            </a:avLst>
          </a:prstGeom>
          <a:solidFill>
            <a:srgbClr val="FFFFFF"/>
          </a:solidFill>
          <a:ln w="9525">
            <a:solidFill>
              <a:srgbClr val="E1E8E6"/>
            </a:solidFill>
            <a:prstDash val="solid"/>
          </a:ln>
        </p:spPr>
      </p:sp>
      <p:sp>
        <p:nvSpPr>
          <p:cNvPr id="22" name="Shape 19"/>
          <p:cNvSpPr/>
          <p:nvPr/>
        </p:nvSpPr>
        <p:spPr>
          <a:xfrm>
            <a:off x="896112" y="5029200"/>
            <a:ext cx="137160" cy="137160"/>
          </a:xfrm>
          <a:prstGeom prst="ellipse">
            <a:avLst/>
          </a:prstGeom>
          <a:solidFill>
            <a:srgbClr val="0B6E5F"/>
          </a:solidFill>
          <a:ln w="12700">
            <a:solidFill>
              <a:srgbClr val="0B6E5F"/>
            </a:solidFill>
            <a:prstDash val="solid"/>
          </a:ln>
        </p:spPr>
      </p:sp>
      <p:sp>
        <p:nvSpPr>
          <p:cNvPr id="23" name="Text 20"/>
          <p:cNvSpPr txBox="1"/>
          <p:nvPr/>
        </p:nvSpPr>
        <p:spPr>
          <a:xfrm>
            <a:off x="1234440" y="4828032"/>
            <a:ext cx="2743200" cy="274320"/>
          </a:xfrm>
          <a:prstGeom prst="rect">
            <a:avLst/>
          </a:prstGeom>
          <a:noFill/>
          <a:ln/>
        </p:spPr>
        <p:txBody>
          <a:bodyPr wrap="square" lIns="0" tIns="0" rIns="0" bIns="0" rtlCol="0" anchor="ctr"/>
          <a:lstStyle/>
          <a:p>
            <a:pPr indent="0" marL="0">
              <a:buNone/>
            </a:pPr>
            <a:r>
              <a:rPr lang="en-US" sz="1400" b="1" dirty="0">
                <a:solidFill>
                  <a:srgbClr val="10201C"/>
                </a:solidFill>
                <a:latin typeface="Calibri" pitchFamily="34" charset="0"/>
                <a:ea typeface="Calibri" pitchFamily="34" charset="-122"/>
                <a:cs typeface="Calibri" pitchFamily="34" charset="-120"/>
              </a:rPr>
              <a:t>Employment events</a:t>
            </a:r>
            <a:endParaRPr lang="en-US" sz="1400" dirty="0"/>
          </a:p>
        </p:txBody>
      </p:sp>
      <p:sp>
        <p:nvSpPr>
          <p:cNvPr id="24" name="Text 21"/>
          <p:cNvSpPr txBox="1"/>
          <p:nvPr/>
        </p:nvSpPr>
        <p:spPr>
          <a:xfrm>
            <a:off x="1234440" y="5084064"/>
            <a:ext cx="6035040" cy="274320"/>
          </a:xfrm>
          <a:prstGeom prst="rect">
            <a:avLst/>
          </a:prstGeom>
          <a:noFill/>
          <a:ln/>
        </p:spPr>
        <p:txBody>
          <a:bodyPr wrap="square" lIns="0" tIns="0" rIns="0" bIns="0" rtlCol="0" anchor="ctr"/>
          <a:lstStyle/>
          <a:p>
            <a:pPr indent="0" marL="0">
              <a:buNone/>
            </a:pPr>
            <a:r>
              <a:rPr lang="en-US" sz="1200" dirty="0">
                <a:solidFill>
                  <a:srgbClr val="5C6E68"/>
                </a:solidFill>
                <a:latin typeface="Calibri" pitchFamily="34" charset="0"/>
                <a:ea typeface="Calibri" pitchFamily="34" charset="-122"/>
                <a:cs typeface="Calibri" pitchFamily="34" charset="-120"/>
              </a:rPr>
              <a:t>Movement, position and section changes, effective-dated</a:t>
            </a:r>
            <a:endParaRPr lang="en-US" sz="1200" dirty="0"/>
          </a:p>
        </p:txBody>
      </p:sp>
      <p:sp>
        <p:nvSpPr>
          <p:cNvPr id="25" name="Shape 22"/>
          <p:cNvSpPr/>
          <p:nvPr/>
        </p:nvSpPr>
        <p:spPr>
          <a:xfrm>
            <a:off x="7955280" y="1783080"/>
            <a:ext cx="3566160" cy="3749040"/>
          </a:xfrm>
          <a:prstGeom prst="roundRect">
            <a:avLst>
              <a:gd name="adj" fmla="val 1538"/>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6" name="Text 23"/>
          <p:cNvSpPr txBox="1"/>
          <p:nvPr/>
        </p:nvSpPr>
        <p:spPr>
          <a:xfrm>
            <a:off x="8321040" y="2011680"/>
            <a:ext cx="2926080" cy="822960"/>
          </a:xfrm>
          <a:prstGeom prst="rect">
            <a:avLst/>
          </a:prstGeom>
          <a:noFill/>
          <a:ln/>
        </p:spPr>
        <p:txBody>
          <a:bodyPr wrap="square" lIns="0" tIns="0" rIns="0" bIns="0" rtlCol="0" anchor="t"/>
          <a:lstStyle/>
          <a:p>
            <a:pPr indent="0" marL="0">
              <a:lnSpc>
                <a:spcPts val="2600"/>
              </a:lnSpc>
              <a:buNone/>
            </a:pPr>
            <a:r>
              <a:rPr lang="en-US" sz="2000" b="1" dirty="0">
                <a:solidFill>
                  <a:srgbClr val="10201C"/>
                </a:solidFill>
                <a:latin typeface="Cambria" pitchFamily="34" charset="0"/>
                <a:ea typeface="Cambria" pitchFamily="34" charset="-122"/>
                <a:cs typeface="Cambria" pitchFamily="34" charset="-120"/>
              </a:rPr>
              <a:t>Built for the</a:t>
            </a:r>
            <a:endParaRPr lang="en-US" sz="2000" dirty="0"/>
          </a:p>
          <a:p>
            <a:pPr indent="0" marL="0">
              <a:lnSpc>
                <a:spcPts val="2600"/>
              </a:lnSpc>
              <a:buNone/>
            </a:pPr>
            <a:r>
              <a:rPr lang="en-US" sz="2000" b="1" dirty="0">
                <a:solidFill>
                  <a:srgbClr val="10201C"/>
                </a:solidFill>
                <a:latin typeface="Cambria" pitchFamily="34" charset="0"/>
                <a:ea typeface="Cambria" pitchFamily="34" charset="-122"/>
                <a:cs typeface="Cambria" pitchFamily="34" charset="-120"/>
              </a:rPr>
              <a:t>conversation</a:t>
            </a:r>
            <a:endParaRPr lang="en-US" sz="2000" dirty="0"/>
          </a:p>
        </p:txBody>
      </p:sp>
      <p:sp>
        <p:nvSpPr>
          <p:cNvPr id="27" name="Text 24"/>
          <p:cNvSpPr txBox="1"/>
          <p:nvPr/>
        </p:nvSpPr>
        <p:spPr>
          <a:xfrm>
            <a:off x="8321040" y="2971800"/>
            <a:ext cx="3017520" cy="2286000"/>
          </a:xfrm>
          <a:prstGeom prst="rect">
            <a:avLst/>
          </a:prstGeom>
          <a:noFill/>
          <a:ln/>
        </p:spPr>
        <p:txBody>
          <a:bodyPr wrap="square" lIns="0" tIns="0" rIns="0" bIns="0" rtlCol="0" anchor="t"/>
          <a:lstStyle/>
          <a:p>
            <a:pPr indent="0" marL="0">
              <a:lnSpc>
                <a:spcPts val="1900"/>
              </a:lnSpc>
              <a:buNone/>
            </a:pPr>
            <a:r>
              <a:rPr lang="en-US" sz="1300" dirty="0">
                <a:solidFill>
                  <a:srgbClr val="5C6E68"/>
                </a:solidFill>
                <a:latin typeface="Calibri" pitchFamily="34" charset="0"/>
                <a:ea typeface="Calibri" pitchFamily="34" charset="-122"/>
                <a:cs typeface="Calibri" pitchFamily="34" charset="-120"/>
              </a:rPr>
              <a:t>When somebody is up for regularisation, promotion or a PIP, the whole picture is on one screen — not reassembled from four folders the night before.</a:t>
            </a:r>
            <a:endParaRPr lang="en-US" sz="1300" dirty="0"/>
          </a:p>
          <a:p>
            <a:pPr indent="0" marL="0">
              <a:lnSpc>
                <a:spcPts val="1900"/>
              </a:lnSpc>
              <a:buNone/>
            </a:pPr>
            <a:endParaRPr lang="en-US" sz="1300" dirty="0"/>
          </a:p>
          <a:p>
            <a:pPr indent="0" marL="0">
              <a:lnSpc>
                <a:spcPts val="1900"/>
              </a:lnSpc>
              <a:buNone/>
            </a:pPr>
            <a:r>
              <a:rPr lang="en-US" sz="1300" dirty="0">
                <a:solidFill>
                  <a:srgbClr val="5C6E68"/>
                </a:solidFill>
                <a:latin typeface="Calibri" pitchFamily="34" charset="0"/>
                <a:ea typeface="Calibri" pitchFamily="34" charset="-122"/>
                <a:cs typeface="Calibri" pitchFamily="34" charset="-120"/>
              </a:rPr>
              <a:t>It is also the answer to “why was this decision made?” a year later.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FOLLOW-THROUGH</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The system chases the work, not your staff</a:t>
            </a:r>
            <a:endParaRPr lang="en-US" sz="3400" dirty="0"/>
          </a:p>
        </p:txBody>
      </p:sp>
      <p:sp>
        <p:nvSpPr>
          <p:cNvPr id="5" name="Shape 2"/>
          <p:cNvSpPr/>
          <p:nvPr/>
        </p:nvSpPr>
        <p:spPr>
          <a:xfrm>
            <a:off x="640080" y="1783080"/>
            <a:ext cx="3520440" cy="2606040"/>
          </a:xfrm>
          <a:prstGeom prst="roundRect">
            <a:avLst>
              <a:gd name="adj" fmla="val 210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60120" y="2011680"/>
            <a:ext cx="402336" cy="402336"/>
          </a:xfrm>
          <a:prstGeom prst="ellipse">
            <a:avLst/>
          </a:prstGeom>
          <a:solidFill>
            <a:srgbClr val="0B6E5F"/>
          </a:solidFill>
          <a:ln w="12700">
            <a:solidFill>
              <a:srgbClr val="0B6E5F"/>
            </a:solidFill>
            <a:prstDash val="solid"/>
          </a:ln>
        </p:spPr>
      </p:sp>
      <p:sp>
        <p:nvSpPr>
          <p:cNvPr id="7" name="Text 4"/>
          <p:cNvSpPr txBox="1"/>
          <p:nvPr/>
        </p:nvSpPr>
        <p:spPr>
          <a:xfrm>
            <a:off x="96012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60120" y="2578608"/>
            <a:ext cx="2926080" cy="320040"/>
          </a:xfrm>
          <a:prstGeom prst="rect">
            <a:avLst/>
          </a:prstGeom>
          <a:noFill/>
          <a:ln/>
        </p:spPr>
        <p:txBody>
          <a:bodyPr wrap="square" lIns="0" tIns="0" rIns="0" bIns="0" rtlCol="0" anchor="ctr"/>
          <a:lstStyle/>
          <a:p>
            <a:pPr indent="0" marL="0">
              <a:buNone/>
            </a:pPr>
            <a:r>
              <a:rPr lang="en-US" sz="1650" b="1" dirty="0">
                <a:solidFill>
                  <a:srgbClr val="10201C"/>
                </a:solidFill>
                <a:latin typeface="Cambria" pitchFamily="34" charset="0"/>
                <a:ea typeface="Cambria" pitchFamily="34" charset="-122"/>
                <a:cs typeface="Cambria" pitchFamily="34" charset="-120"/>
              </a:rPr>
              <a:t>When work arrives</a:t>
            </a:r>
            <a:endParaRPr lang="en-US" sz="1650" dirty="0"/>
          </a:p>
        </p:txBody>
      </p:sp>
      <p:sp>
        <p:nvSpPr>
          <p:cNvPr id="9" name="Text 6"/>
          <p:cNvSpPr txBox="1"/>
          <p:nvPr/>
        </p:nvSpPr>
        <p:spPr>
          <a:xfrm>
            <a:off x="960120" y="3017520"/>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A review is assigned to you</a:t>
            </a:r>
            <a:endParaRPr lang="en-US" sz="1250" dirty="0"/>
          </a:p>
        </p:txBody>
      </p:sp>
      <p:sp>
        <p:nvSpPr>
          <p:cNvPr id="10" name="Text 7"/>
          <p:cNvSpPr txBox="1"/>
          <p:nvPr/>
        </p:nvSpPr>
        <p:spPr>
          <a:xfrm>
            <a:off x="960120" y="3419856"/>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You are invited to a peer panel</a:t>
            </a:r>
            <a:endParaRPr lang="en-US" sz="1250" dirty="0"/>
          </a:p>
        </p:txBody>
      </p:sp>
      <p:sp>
        <p:nvSpPr>
          <p:cNvPr id="11" name="Text 8"/>
          <p:cNvSpPr txBox="1"/>
          <p:nvPr/>
        </p:nvSpPr>
        <p:spPr>
          <a:xfrm>
            <a:off x="960120" y="3822192"/>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A target needs your approval</a:t>
            </a:r>
            <a:endParaRPr lang="en-US" sz="1250" dirty="0"/>
          </a:p>
        </p:txBody>
      </p:sp>
      <p:sp>
        <p:nvSpPr>
          <p:cNvPr id="12" name="Shape 9"/>
          <p:cNvSpPr/>
          <p:nvPr/>
        </p:nvSpPr>
        <p:spPr>
          <a:xfrm>
            <a:off x="4407408" y="1783080"/>
            <a:ext cx="3520440" cy="2606040"/>
          </a:xfrm>
          <a:prstGeom prst="roundRect">
            <a:avLst>
              <a:gd name="adj" fmla="val 210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3" name="Shape 10"/>
          <p:cNvSpPr/>
          <p:nvPr/>
        </p:nvSpPr>
        <p:spPr>
          <a:xfrm>
            <a:off x="4727448" y="2011680"/>
            <a:ext cx="402336" cy="402336"/>
          </a:xfrm>
          <a:prstGeom prst="ellipse">
            <a:avLst/>
          </a:prstGeom>
          <a:solidFill>
            <a:srgbClr val="0B6E5F"/>
          </a:solidFill>
          <a:ln w="12700">
            <a:solidFill>
              <a:srgbClr val="0B6E5F"/>
            </a:solidFill>
            <a:prstDash val="solid"/>
          </a:ln>
        </p:spPr>
      </p:sp>
      <p:sp>
        <p:nvSpPr>
          <p:cNvPr id="14" name="Text 11"/>
          <p:cNvSpPr txBox="1"/>
          <p:nvPr/>
        </p:nvSpPr>
        <p:spPr>
          <a:xfrm>
            <a:off x="4727448"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4727448" y="2578608"/>
            <a:ext cx="2926080" cy="320040"/>
          </a:xfrm>
          <a:prstGeom prst="rect">
            <a:avLst/>
          </a:prstGeom>
          <a:noFill/>
          <a:ln/>
        </p:spPr>
        <p:txBody>
          <a:bodyPr wrap="square" lIns="0" tIns="0" rIns="0" bIns="0" rtlCol="0" anchor="ctr"/>
          <a:lstStyle/>
          <a:p>
            <a:pPr indent="0" marL="0">
              <a:buNone/>
            </a:pPr>
            <a:r>
              <a:rPr lang="en-US" sz="1650" b="1" dirty="0">
                <a:solidFill>
                  <a:srgbClr val="10201C"/>
                </a:solidFill>
                <a:latin typeface="Cambria" pitchFamily="34" charset="0"/>
                <a:ea typeface="Cambria" pitchFamily="34" charset="-122"/>
                <a:cs typeface="Cambria" pitchFamily="34" charset="-120"/>
              </a:rPr>
              <a:t>When a date approaches</a:t>
            </a:r>
            <a:endParaRPr lang="en-US" sz="1650" dirty="0"/>
          </a:p>
        </p:txBody>
      </p:sp>
      <p:sp>
        <p:nvSpPr>
          <p:cNvPr id="16" name="Text 13"/>
          <p:cNvSpPr txBox="1"/>
          <p:nvPr/>
        </p:nvSpPr>
        <p:spPr>
          <a:xfrm>
            <a:off x="4727448" y="3017520"/>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Your review closes in seven days</a:t>
            </a:r>
            <a:endParaRPr lang="en-US" sz="1250" dirty="0"/>
          </a:p>
        </p:txBody>
      </p:sp>
      <p:sp>
        <p:nvSpPr>
          <p:cNvPr id="17" name="Text 14"/>
          <p:cNvSpPr txBox="1"/>
          <p:nvPr/>
        </p:nvSpPr>
        <p:spPr>
          <a:xfrm>
            <a:off x="4727448" y="3419856"/>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A check-in cadence has lapsed</a:t>
            </a:r>
            <a:endParaRPr lang="en-US" sz="1250" dirty="0"/>
          </a:p>
        </p:txBody>
      </p:sp>
      <p:sp>
        <p:nvSpPr>
          <p:cNvPr id="18" name="Text 15"/>
          <p:cNvSpPr txBox="1"/>
          <p:nvPr/>
        </p:nvSpPr>
        <p:spPr>
          <a:xfrm>
            <a:off x="4727448" y="3822192"/>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An evaluation is still a draft</a:t>
            </a:r>
            <a:endParaRPr lang="en-US" sz="1250" dirty="0"/>
          </a:p>
        </p:txBody>
      </p:sp>
      <p:sp>
        <p:nvSpPr>
          <p:cNvPr id="19" name="Shape 16"/>
          <p:cNvSpPr/>
          <p:nvPr/>
        </p:nvSpPr>
        <p:spPr>
          <a:xfrm>
            <a:off x="8174736" y="1783080"/>
            <a:ext cx="3520440" cy="2606040"/>
          </a:xfrm>
          <a:prstGeom prst="roundRect">
            <a:avLst>
              <a:gd name="adj" fmla="val 210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0" name="Shape 17"/>
          <p:cNvSpPr/>
          <p:nvPr/>
        </p:nvSpPr>
        <p:spPr>
          <a:xfrm>
            <a:off x="8494776" y="2011680"/>
            <a:ext cx="402336" cy="402336"/>
          </a:xfrm>
          <a:prstGeom prst="ellipse">
            <a:avLst/>
          </a:prstGeom>
          <a:solidFill>
            <a:srgbClr val="0B6E5F"/>
          </a:solidFill>
          <a:ln w="12700">
            <a:solidFill>
              <a:srgbClr val="0B6E5F"/>
            </a:solidFill>
            <a:prstDash val="solid"/>
          </a:ln>
        </p:spPr>
      </p:sp>
      <p:sp>
        <p:nvSpPr>
          <p:cNvPr id="21" name="Text 18"/>
          <p:cNvSpPr txBox="1"/>
          <p:nvPr/>
        </p:nvSpPr>
        <p:spPr>
          <a:xfrm>
            <a:off x="8494776"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494776" y="2578608"/>
            <a:ext cx="2926080" cy="320040"/>
          </a:xfrm>
          <a:prstGeom prst="rect">
            <a:avLst/>
          </a:prstGeom>
          <a:noFill/>
          <a:ln/>
        </p:spPr>
        <p:txBody>
          <a:bodyPr wrap="square" lIns="0" tIns="0" rIns="0" bIns="0" rtlCol="0" anchor="ctr"/>
          <a:lstStyle/>
          <a:p>
            <a:pPr indent="0" marL="0">
              <a:buNone/>
            </a:pPr>
            <a:r>
              <a:rPr lang="en-US" sz="1650" b="1" dirty="0">
                <a:solidFill>
                  <a:srgbClr val="10201C"/>
                </a:solidFill>
                <a:latin typeface="Cambria" pitchFamily="34" charset="0"/>
                <a:ea typeface="Cambria" pitchFamily="34" charset="-122"/>
                <a:cs typeface="Cambria" pitchFamily="34" charset="-120"/>
              </a:rPr>
              <a:t>When something concludes</a:t>
            </a:r>
            <a:endParaRPr lang="en-US" sz="1650" dirty="0"/>
          </a:p>
        </p:txBody>
      </p:sp>
      <p:sp>
        <p:nvSpPr>
          <p:cNvPr id="23" name="Text 20"/>
          <p:cNvSpPr txBox="1"/>
          <p:nvPr/>
        </p:nvSpPr>
        <p:spPr>
          <a:xfrm>
            <a:off x="8494776" y="3017520"/>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Your result has been released</a:t>
            </a:r>
            <a:endParaRPr lang="en-US" sz="1250" dirty="0"/>
          </a:p>
        </p:txBody>
      </p:sp>
      <p:sp>
        <p:nvSpPr>
          <p:cNvPr id="24" name="Text 21"/>
          <p:cNvSpPr txBox="1"/>
          <p:nvPr/>
        </p:nvSpPr>
        <p:spPr>
          <a:xfrm>
            <a:off x="8494776" y="3419856"/>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An evaluation was acknowledged</a:t>
            </a:r>
            <a:endParaRPr lang="en-US" sz="1250" dirty="0"/>
          </a:p>
        </p:txBody>
      </p:sp>
      <p:sp>
        <p:nvSpPr>
          <p:cNvPr id="25" name="Text 22"/>
          <p:cNvSpPr txBox="1"/>
          <p:nvPr/>
        </p:nvSpPr>
        <p:spPr>
          <a:xfrm>
            <a:off x="8494776" y="3822192"/>
            <a:ext cx="2926080" cy="365760"/>
          </a:xfrm>
          <a:prstGeom prst="rect">
            <a:avLst/>
          </a:prstGeom>
          <a:noFill/>
          <a:ln/>
        </p:spPr>
        <p:txBody>
          <a:bodyPr wrap="square" lIns="0" tIns="0" rIns="0" bIns="0" rtlCol="0" anchor="ctr"/>
          <a:lstStyle/>
          <a:p>
            <a:pPr indent="0" marL="0">
              <a:buNone/>
            </a:pPr>
            <a:r>
              <a:rPr lang="en-US" sz="1250" dirty="0">
                <a:solidFill>
                  <a:srgbClr val="5C6E68"/>
                </a:solidFill>
                <a:latin typeface="Calibri" pitchFamily="34" charset="0"/>
                <a:ea typeface="Calibri" pitchFamily="34" charset="-122"/>
                <a:cs typeface="Calibri" pitchFamily="34" charset="-120"/>
              </a:rPr>
              <a:t>A panel could not be filled</a:t>
            </a:r>
            <a:endParaRPr lang="en-US" sz="1250" dirty="0"/>
          </a:p>
        </p:txBody>
      </p:sp>
      <p:sp>
        <p:nvSpPr>
          <p:cNvPr id="26" name="Shape 23"/>
          <p:cNvSpPr/>
          <p:nvPr/>
        </p:nvSpPr>
        <p:spPr>
          <a:xfrm>
            <a:off x="640080" y="4663440"/>
            <a:ext cx="10881360" cy="1234440"/>
          </a:xfrm>
          <a:prstGeom prst="roundRect">
            <a:avLst>
              <a:gd name="adj" fmla="val 4444"/>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7" name="Text 24"/>
          <p:cNvSpPr txBox="1"/>
          <p:nvPr/>
        </p:nvSpPr>
        <p:spPr>
          <a:xfrm>
            <a:off x="1051560" y="4892040"/>
            <a:ext cx="10058400" cy="822960"/>
          </a:xfrm>
          <a:prstGeom prst="rect">
            <a:avLst/>
          </a:prstGeom>
          <a:noFill/>
          <a:ln/>
        </p:spPr>
        <p:txBody>
          <a:bodyPr wrap="square" lIns="0" tIns="0" rIns="0" bIns="0" rtlCol="0" anchor="t"/>
          <a:lstStyle/>
          <a:p>
            <a:pPr indent="0" marL="0">
              <a:lnSpc>
                <a:spcPts val="2000"/>
              </a:lnSpc>
              <a:buNone/>
            </a:pPr>
            <a:r>
              <a:rPr lang="en-US" sz="1400" b="1" dirty="0">
                <a:solidFill>
                  <a:srgbClr val="10201C"/>
                </a:solidFill>
                <a:latin typeface="Calibri" pitchFamily="34" charset="0"/>
                <a:ea typeface="Calibri" pitchFamily="34" charset="-122"/>
                <a:cs typeface="Calibri" pitchFamily="34" charset="-120"/>
              </a:rPr>
              <a:t>Once per milestone, not once per scan.  </a:t>
            </a:r>
            <a:pPr indent="0" marL="0">
              <a:lnSpc>
                <a:spcPts val="2000"/>
              </a:lnSpc>
              <a:buNone/>
            </a:pPr>
            <a:r>
              <a:rPr lang="en-US" sz="1400" dirty="0">
                <a:solidFill>
                  <a:srgbClr val="5C6E68"/>
                </a:solidFill>
                <a:latin typeface="Calibri" pitchFamily="34" charset="0"/>
                <a:ea typeface="Calibri" pitchFamily="34" charset="-122"/>
                <a:cs typeface="Calibri" pitchFamily="34" charset="-120"/>
              </a:rPr>
              <a:t>A second missed week sends a second nudge; a hundred checks inside that week send none. Messages queue durably and retry, so a mail server being down for an afternoon delays a notice rather than losing it.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5"/>
        </a:solidFill>
      </p:bgPr>
    </p:bg>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100" b="1" spc="200" kern="0" dirty="0">
                <a:solidFill>
                  <a:srgbClr val="0B6E5F"/>
                </a:solidFill>
                <a:latin typeface="Calibri" pitchFamily="34" charset="0"/>
                <a:ea typeface="Calibri" pitchFamily="34" charset="-122"/>
                <a:cs typeface="Calibri" pitchFamily="34" charset="-120"/>
              </a:rPr>
              <a:t>OPERATIONS</a:t>
            </a:r>
            <a:endParaRPr lang="en-US" sz="11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0201C"/>
                </a:solidFill>
                <a:latin typeface="Cambria" pitchFamily="34" charset="0"/>
                <a:ea typeface="Cambria" pitchFamily="34" charset="-122"/>
                <a:cs typeface="Cambria" pitchFamily="34" charset="-120"/>
              </a:rPr>
              <a:t>It runs on your server, under your control</a:t>
            </a:r>
            <a:endParaRPr lang="en-US" sz="3400" dirty="0"/>
          </a:p>
        </p:txBody>
      </p:sp>
      <p:sp>
        <p:nvSpPr>
          <p:cNvPr id="5" name="Shape 2"/>
          <p:cNvSpPr/>
          <p:nvPr/>
        </p:nvSpPr>
        <p:spPr>
          <a:xfrm>
            <a:off x="640080" y="1783080"/>
            <a:ext cx="3520440" cy="2651760"/>
          </a:xfrm>
          <a:prstGeom prst="roundRect">
            <a:avLst>
              <a:gd name="adj" fmla="val 2069"/>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6" name="Shape 3"/>
          <p:cNvSpPr/>
          <p:nvPr/>
        </p:nvSpPr>
        <p:spPr>
          <a:xfrm>
            <a:off x="960120" y="2057400"/>
            <a:ext cx="457200" cy="457200"/>
          </a:xfrm>
          <a:prstGeom prst="ellipse">
            <a:avLst/>
          </a:prstGeom>
          <a:solidFill>
            <a:srgbClr val="B3761B"/>
          </a:solidFill>
          <a:ln w="12700">
            <a:solidFill>
              <a:srgbClr val="B3761B"/>
            </a:solidFill>
            <a:prstDash val="solid"/>
          </a:ln>
        </p:spPr>
      </p:sp>
      <p:sp>
        <p:nvSpPr>
          <p:cNvPr id="7" name="Text 4"/>
          <p:cNvSpPr txBox="1"/>
          <p:nvPr/>
        </p:nvSpPr>
        <p:spPr>
          <a:xfrm>
            <a:off x="960120" y="20574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60120" y="2670048"/>
            <a:ext cx="2926080" cy="36576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On your premises</a:t>
            </a:r>
            <a:endParaRPr lang="en-US" sz="1700" dirty="0"/>
          </a:p>
        </p:txBody>
      </p:sp>
      <p:sp>
        <p:nvSpPr>
          <p:cNvPr id="9" name="Text 6"/>
          <p:cNvSpPr txBox="1"/>
          <p:nvPr/>
        </p:nvSpPr>
        <p:spPr>
          <a:xfrm>
            <a:off x="960120" y="3108960"/>
            <a:ext cx="2926080" cy="118872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Employee data stays on your hardware. No third party holds your appraisals, and no subscription decides whether you can still open them next year.</a:t>
            </a:r>
            <a:endParaRPr lang="en-US" sz="1250" dirty="0"/>
          </a:p>
        </p:txBody>
      </p:sp>
      <p:sp>
        <p:nvSpPr>
          <p:cNvPr id="10" name="Shape 7"/>
          <p:cNvSpPr/>
          <p:nvPr/>
        </p:nvSpPr>
        <p:spPr>
          <a:xfrm>
            <a:off x="4407408" y="1783080"/>
            <a:ext cx="3520440" cy="2651760"/>
          </a:xfrm>
          <a:prstGeom prst="roundRect">
            <a:avLst>
              <a:gd name="adj" fmla="val 2069"/>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1" name="Shape 8"/>
          <p:cNvSpPr/>
          <p:nvPr/>
        </p:nvSpPr>
        <p:spPr>
          <a:xfrm>
            <a:off x="4727448" y="2057400"/>
            <a:ext cx="457200" cy="457200"/>
          </a:xfrm>
          <a:prstGeom prst="ellipse">
            <a:avLst/>
          </a:prstGeom>
          <a:solidFill>
            <a:srgbClr val="0B6E5F"/>
          </a:solidFill>
          <a:ln w="12700">
            <a:solidFill>
              <a:srgbClr val="0B6E5F"/>
            </a:solidFill>
            <a:prstDash val="solid"/>
          </a:ln>
        </p:spPr>
      </p:sp>
      <p:sp>
        <p:nvSpPr>
          <p:cNvPr id="12" name="Text 9"/>
          <p:cNvSpPr txBox="1"/>
          <p:nvPr/>
        </p:nvSpPr>
        <p:spPr>
          <a:xfrm>
            <a:off x="4727448" y="20574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4727448" y="2670048"/>
            <a:ext cx="2926080" cy="36576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The sign-in they already have</a:t>
            </a:r>
            <a:endParaRPr lang="en-US" sz="1700" dirty="0"/>
          </a:p>
        </p:txBody>
      </p:sp>
      <p:sp>
        <p:nvSpPr>
          <p:cNvPr id="14" name="Text 11"/>
          <p:cNvSpPr txBox="1"/>
          <p:nvPr/>
        </p:nvSpPr>
        <p:spPr>
          <a:xfrm>
            <a:off x="4727448" y="3108960"/>
            <a:ext cx="2926080" cy="118872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Staff use their existing company account. No new password to issue, forget or reset — and removing someone from the directory removes their access here.</a:t>
            </a:r>
            <a:endParaRPr lang="en-US" sz="1250" dirty="0"/>
          </a:p>
        </p:txBody>
      </p:sp>
      <p:sp>
        <p:nvSpPr>
          <p:cNvPr id="15" name="Shape 12"/>
          <p:cNvSpPr/>
          <p:nvPr/>
        </p:nvSpPr>
        <p:spPr>
          <a:xfrm>
            <a:off x="8174736" y="1783080"/>
            <a:ext cx="3520440" cy="2651760"/>
          </a:xfrm>
          <a:prstGeom prst="roundRect">
            <a:avLst>
              <a:gd name="adj" fmla="val 2069"/>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16" name="Shape 13"/>
          <p:cNvSpPr/>
          <p:nvPr/>
        </p:nvSpPr>
        <p:spPr>
          <a:xfrm>
            <a:off x="8494776" y="2057400"/>
            <a:ext cx="457200" cy="457200"/>
          </a:xfrm>
          <a:prstGeom prst="ellipse">
            <a:avLst/>
          </a:prstGeom>
          <a:solidFill>
            <a:srgbClr val="0B6E5F"/>
          </a:solidFill>
          <a:ln w="12700">
            <a:solidFill>
              <a:srgbClr val="0B6E5F"/>
            </a:solidFill>
            <a:prstDash val="solid"/>
          </a:ln>
        </p:spPr>
      </p:sp>
      <p:sp>
        <p:nvSpPr>
          <p:cNvPr id="17" name="Text 14"/>
          <p:cNvSpPr txBox="1"/>
          <p:nvPr/>
        </p:nvSpPr>
        <p:spPr>
          <a:xfrm>
            <a:off x="8494776" y="20574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8494776" y="2670048"/>
            <a:ext cx="2926080" cy="365760"/>
          </a:xfrm>
          <a:prstGeom prst="rect">
            <a:avLst/>
          </a:prstGeom>
          <a:noFill/>
          <a:ln/>
        </p:spPr>
        <p:txBody>
          <a:bodyPr wrap="square" lIns="0" tIns="0" rIns="0" bIns="0" rtlCol="0" anchor="ctr"/>
          <a:lstStyle/>
          <a:p>
            <a:pPr indent="0" marL="0">
              <a:buNone/>
            </a:pPr>
            <a:r>
              <a:rPr lang="en-US" sz="1700" b="1" dirty="0">
                <a:solidFill>
                  <a:srgbClr val="10201C"/>
                </a:solidFill>
                <a:latin typeface="Cambria" pitchFamily="34" charset="0"/>
                <a:ea typeface="Cambria" pitchFamily="34" charset="-122"/>
                <a:cs typeface="Cambria" pitchFamily="34" charset="-120"/>
              </a:rPr>
              <a:t>Every change attributable</a:t>
            </a:r>
            <a:endParaRPr lang="en-US" sz="1700" dirty="0"/>
          </a:p>
        </p:txBody>
      </p:sp>
      <p:sp>
        <p:nvSpPr>
          <p:cNvPr id="19" name="Text 16"/>
          <p:cNvSpPr txBox="1"/>
          <p:nvPr/>
        </p:nvSpPr>
        <p:spPr>
          <a:xfrm>
            <a:off x="8494776" y="3108960"/>
            <a:ext cx="2926080" cy="1188720"/>
          </a:xfrm>
          <a:prstGeom prst="rect">
            <a:avLst/>
          </a:prstGeom>
          <a:noFill/>
          <a:ln/>
        </p:spPr>
        <p:txBody>
          <a:bodyPr wrap="square" lIns="0" tIns="0" rIns="0" bIns="0" rtlCol="0" anchor="t"/>
          <a:lstStyle/>
          <a:p>
            <a:pPr indent="0" marL="0">
              <a:lnSpc>
                <a:spcPts val="1700"/>
              </a:lnSpc>
              <a:buNone/>
            </a:pPr>
            <a:r>
              <a:rPr lang="en-US" sz="1250" dirty="0">
                <a:solidFill>
                  <a:srgbClr val="5C6E68"/>
                </a:solidFill>
                <a:latin typeface="Calibri" pitchFamily="34" charset="0"/>
                <a:ea typeface="Calibri" pitchFamily="34" charset="-122"/>
                <a:cs typeface="Calibri" pitchFamily="34" charset="-120"/>
              </a:rPr>
              <a:t>Who changed what, and when. Results, approvals and overrides all leave a trail, which is what makes an appraisal defensible.</a:t>
            </a:r>
            <a:endParaRPr lang="en-US" sz="1250" dirty="0"/>
          </a:p>
        </p:txBody>
      </p:sp>
      <p:sp>
        <p:nvSpPr>
          <p:cNvPr id="20" name="Shape 17"/>
          <p:cNvSpPr/>
          <p:nvPr/>
        </p:nvSpPr>
        <p:spPr>
          <a:xfrm>
            <a:off x="640080" y="4709160"/>
            <a:ext cx="10881360" cy="1188720"/>
          </a:xfrm>
          <a:prstGeom prst="roundRect">
            <a:avLst>
              <a:gd name="adj" fmla="val 4615"/>
            </a:avLst>
          </a:prstGeom>
          <a:solidFill>
            <a:srgbClr val="FFFFFF"/>
          </a:solidFill>
          <a:ln w="9525">
            <a:solidFill>
              <a:srgbClr val="E1E8E6"/>
            </a:solidFill>
            <a:prstDash val="solid"/>
          </a:ln>
          <a:effectLst>
            <a:outerShdw sx="100000" sy="100000" kx="0" ky="0" algn="bl" rotWithShape="0" blurRad="177800" dist="38100" dir="5400000">
              <a:srgbClr val="0A3D36">
                <a:alpha val="10000"/>
              </a:srgbClr>
            </a:outerShdw>
          </a:effectLst>
        </p:spPr>
      </p:sp>
      <p:sp>
        <p:nvSpPr>
          <p:cNvPr id="21" name="Text 18"/>
          <p:cNvSpPr txBox="1"/>
          <p:nvPr/>
        </p:nvSpPr>
        <p:spPr>
          <a:xfrm>
            <a:off x="1051560" y="4956048"/>
            <a:ext cx="10058400" cy="731520"/>
          </a:xfrm>
          <a:prstGeom prst="rect">
            <a:avLst/>
          </a:prstGeom>
          <a:noFill/>
          <a:ln/>
        </p:spPr>
        <p:txBody>
          <a:bodyPr wrap="square" lIns="0" tIns="0" rIns="0" bIns="0" rtlCol="0" anchor="t"/>
          <a:lstStyle/>
          <a:p>
            <a:pPr indent="0" marL="0">
              <a:lnSpc>
                <a:spcPts val="2000"/>
              </a:lnSpc>
              <a:buNone/>
            </a:pPr>
            <a:r>
              <a:rPr lang="en-US" sz="1400" b="1" dirty="0">
                <a:solidFill>
                  <a:srgbClr val="10201C"/>
                </a:solidFill>
                <a:latin typeface="Calibri" pitchFamily="34" charset="0"/>
                <a:ea typeface="Calibri" pitchFamily="34" charset="-122"/>
                <a:cs typeface="Calibri" pitchFamily="34" charset="-120"/>
              </a:rPr>
              <a:t>Installed with one command, </a:t>
            </a:r>
            <a:pPr indent="0" marL="0">
              <a:lnSpc>
                <a:spcPts val="2000"/>
              </a:lnSpc>
              <a:buNone/>
            </a:pPr>
            <a:r>
              <a:rPr lang="en-US" sz="1400" dirty="0">
                <a:solidFill>
                  <a:srgbClr val="5C6E68"/>
                </a:solidFill>
                <a:latin typeface="Calibri" pitchFamily="34" charset="0"/>
                <a:ea typeface="Calibri" pitchFamily="34" charset="-122"/>
                <a:cs typeface="Calibri" pitchFamily="34" charset="-120"/>
              </a:rPr>
              <a:t>and it checks itself afterwards: twenty-two readiness checks covering the org chart, permissions, forms, mail and sign-in — each one naming what to fix rather than simply failing.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3D36"/>
        </a:solidFill>
      </p:bgPr>
    </p:bg>
    <p:spTree>
      <p:nvGrpSpPr>
        <p:cNvPr id="1" name=""/>
        <p:cNvGrpSpPr/>
        <p:nvPr/>
      </p:nvGrpSpPr>
      <p:grpSpPr>
        <a:xfrm>
          <a:off x="0" y="0"/>
          <a:ext cx="0" cy="0"/>
          <a:chOff x="0" y="0"/>
          <a:chExt cx="0" cy="0"/>
        </a:xfrm>
      </p:grpSpPr>
      <p:sp>
        <p:nvSpPr>
          <p:cNvPr id="2" name="Shape 0"/>
          <p:cNvSpPr/>
          <p:nvPr/>
        </p:nvSpPr>
        <p:spPr>
          <a:xfrm>
            <a:off x="9509760" y="-1097280"/>
            <a:ext cx="4754880" cy="4754880"/>
          </a:xfrm>
          <a:prstGeom prst="ellipse">
            <a:avLst/>
          </a:prstGeom>
          <a:solidFill>
            <a:srgbClr val="0E5248"/>
          </a:solidFill>
          <a:ln w="12700">
            <a:solidFill>
              <a:srgbClr val="0E5248"/>
            </a:solidFill>
            <a:prstDash val="solid"/>
          </a:ln>
        </p:spPr>
      </p:sp>
      <p:sp>
        <p:nvSpPr>
          <p:cNvPr id="3" name="Text 1"/>
          <p:cNvSpPr txBox="1"/>
          <p:nvPr/>
        </p:nvSpPr>
        <p:spPr>
          <a:xfrm>
            <a:off x="640080" y="685800"/>
            <a:ext cx="7315200" cy="320040"/>
          </a:xfrm>
          <a:prstGeom prst="rect">
            <a:avLst/>
          </a:prstGeom>
          <a:noFill/>
          <a:ln/>
        </p:spPr>
        <p:txBody>
          <a:bodyPr wrap="square" lIns="0" tIns="0" rIns="0" bIns="0" rtlCol="0" anchor="ctr"/>
          <a:lstStyle/>
          <a:p>
            <a:pPr indent="0" marL="0">
              <a:buNone/>
            </a:pPr>
            <a:r>
              <a:rPr lang="en-US" sz="1200" b="1" spc="300" kern="0" dirty="0">
                <a:solidFill>
                  <a:srgbClr val="8FBDB2"/>
                </a:solidFill>
                <a:latin typeface="Calibri" pitchFamily="34" charset="0"/>
                <a:ea typeface="Calibri" pitchFamily="34" charset="-122"/>
                <a:cs typeface="Calibri" pitchFamily="34" charset="-120"/>
              </a:rPr>
              <a:t>WHAT COMES NEXT</a:t>
            </a:r>
            <a:endParaRPr lang="en-US" sz="1200" dirty="0"/>
          </a:p>
        </p:txBody>
      </p:sp>
      <p:sp>
        <p:nvSpPr>
          <p:cNvPr id="4" name="Text 2"/>
          <p:cNvSpPr txBox="1"/>
          <p:nvPr/>
        </p:nvSpPr>
        <p:spPr>
          <a:xfrm>
            <a:off x="640080" y="1051560"/>
            <a:ext cx="9601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scoring model is the last big piece</a:t>
            </a:r>
            <a:endParaRPr lang="en-US" sz="3200" dirty="0"/>
          </a:p>
        </p:txBody>
      </p:sp>
      <p:sp>
        <p:nvSpPr>
          <p:cNvPr id="5" name="Text 3"/>
          <p:cNvSpPr txBox="1"/>
          <p:nvPr/>
        </p:nvSpPr>
        <p:spPr>
          <a:xfrm>
            <a:off x="640080" y="1965960"/>
            <a:ext cx="7863840" cy="1371600"/>
          </a:xfrm>
          <a:prstGeom prst="rect">
            <a:avLst/>
          </a:prstGeom>
          <a:noFill/>
          <a:ln/>
        </p:spPr>
        <p:txBody>
          <a:bodyPr wrap="square" lIns="0" tIns="0" rIns="0" bIns="0" rtlCol="0" anchor="t"/>
          <a:lstStyle/>
          <a:p>
            <a:pPr indent="0" marL="0">
              <a:lnSpc>
                <a:spcPts val="2200"/>
              </a:lnSpc>
              <a:buNone/>
            </a:pPr>
            <a:r>
              <a:rPr lang="en-US" sz="1500" dirty="0">
                <a:solidFill>
                  <a:srgbClr val="BFD6D0"/>
                </a:solidFill>
                <a:latin typeface="Calibri" pitchFamily="34" charset="0"/>
                <a:ea typeface="Calibri" pitchFamily="34" charset="-122"/>
                <a:cs typeface="Calibri" pitchFamily="34" charset="-120"/>
              </a:rPr>
              <a:t>Everything shown today is built and running. What is not yet built is your KPI composite — the 30 / 40 / 30 split, the task multipliers, and the conversion of task points into a score. That is deliberate: three details in the workbook read two different ways, and guessing would be worse than asking.</a:t>
            </a:r>
            <a:endParaRPr lang="en-US" sz="1500" dirty="0"/>
          </a:p>
        </p:txBody>
      </p:sp>
      <p:sp>
        <p:nvSpPr>
          <p:cNvPr id="6" name="Shape 4"/>
          <p:cNvSpPr/>
          <p:nvPr/>
        </p:nvSpPr>
        <p:spPr>
          <a:xfrm>
            <a:off x="640080" y="3611880"/>
            <a:ext cx="402336" cy="402336"/>
          </a:xfrm>
          <a:prstGeom prst="ellipse">
            <a:avLst/>
          </a:prstGeom>
          <a:solidFill>
            <a:srgbClr val="B3761B"/>
          </a:solidFill>
          <a:ln w="12700">
            <a:solidFill>
              <a:srgbClr val="B3761B"/>
            </a:solidFill>
            <a:prstDash val="solid"/>
          </a:ln>
        </p:spPr>
      </p:sp>
      <p:sp>
        <p:nvSpPr>
          <p:cNvPr id="7" name="Text 5"/>
          <p:cNvSpPr txBox="1"/>
          <p:nvPr/>
        </p:nvSpPr>
        <p:spPr>
          <a:xfrm>
            <a:off x="640080" y="36118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07008" y="3584448"/>
            <a:ext cx="10058400"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Is the quarterly task tally measured against each role’s own target?</a:t>
            </a:r>
            <a:endParaRPr lang="en-US" sz="1450" dirty="0"/>
          </a:p>
        </p:txBody>
      </p:sp>
      <p:sp>
        <p:nvSpPr>
          <p:cNvPr id="9" name="Text 7"/>
          <p:cNvSpPr txBox="1"/>
          <p:nvPr/>
        </p:nvSpPr>
        <p:spPr>
          <a:xfrm>
            <a:off x="1207008" y="3895344"/>
            <a:ext cx="10058400" cy="365760"/>
          </a:xfrm>
          <a:prstGeom prst="rect">
            <a:avLst/>
          </a:prstGeom>
          <a:noFill/>
          <a:ln/>
        </p:spPr>
        <p:txBody>
          <a:bodyPr wrap="square" lIns="0" tIns="0" rIns="0" bIns="0" rtlCol="0" anchor="t"/>
          <a:lstStyle/>
          <a:p>
            <a:pPr indent="0" marL="0">
              <a:lnSpc>
                <a:spcPts val="1600"/>
              </a:lnSpc>
              <a:buNone/>
            </a:pPr>
            <a:r>
              <a:rPr lang="en-US" sz="1250" dirty="0">
                <a:solidFill>
                  <a:srgbClr val="9FC2BA"/>
                </a:solidFill>
                <a:latin typeface="Calibri" pitchFamily="34" charset="0"/>
                <a:ea typeface="Calibri" pitchFamily="34" charset="-122"/>
                <a:cs typeface="Calibri" pitchFamily="34" charset="-120"/>
              </a:rPr>
              <a:t>As the scorecards are drawn, identical performance can score 35, 30 or 10 depending only on how the scorecard was written.</a:t>
            </a:r>
            <a:endParaRPr lang="en-US" sz="1250" dirty="0"/>
          </a:p>
        </p:txBody>
      </p:sp>
      <p:sp>
        <p:nvSpPr>
          <p:cNvPr id="10" name="Shape 8"/>
          <p:cNvSpPr/>
          <p:nvPr/>
        </p:nvSpPr>
        <p:spPr>
          <a:xfrm>
            <a:off x="640080" y="4526280"/>
            <a:ext cx="402336" cy="402336"/>
          </a:xfrm>
          <a:prstGeom prst="ellipse">
            <a:avLst/>
          </a:prstGeom>
          <a:solidFill>
            <a:srgbClr val="B3761B"/>
          </a:solidFill>
          <a:ln w="12700">
            <a:solidFill>
              <a:srgbClr val="B3761B"/>
            </a:solidFill>
            <a:prstDash val="solid"/>
          </a:ln>
        </p:spPr>
      </p:sp>
      <p:sp>
        <p:nvSpPr>
          <p:cNvPr id="11" name="Text 9"/>
          <p:cNvSpPr txBox="1"/>
          <p:nvPr/>
        </p:nvSpPr>
        <p:spPr>
          <a:xfrm>
            <a:off x="640080" y="45262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07008" y="4498848"/>
            <a:ext cx="10058400"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incentive bands need two corrections</a:t>
            </a:r>
            <a:endParaRPr lang="en-US" sz="1450" dirty="0"/>
          </a:p>
        </p:txBody>
      </p:sp>
      <p:sp>
        <p:nvSpPr>
          <p:cNvPr id="13" name="Text 11"/>
          <p:cNvSpPr txBox="1"/>
          <p:nvPr/>
        </p:nvSpPr>
        <p:spPr>
          <a:xfrm>
            <a:off x="1207008" y="4809744"/>
            <a:ext cx="10058400" cy="365760"/>
          </a:xfrm>
          <a:prstGeom prst="rect">
            <a:avLst/>
          </a:prstGeom>
          <a:noFill/>
          <a:ln/>
        </p:spPr>
        <p:txBody>
          <a:bodyPr wrap="square" lIns="0" tIns="0" rIns="0" bIns="0" rtlCol="0" anchor="t"/>
          <a:lstStyle/>
          <a:p>
            <a:pPr indent="0" marL="0">
              <a:lnSpc>
                <a:spcPts val="1600"/>
              </a:lnSpc>
              <a:buNone/>
            </a:pPr>
            <a:r>
              <a:rPr lang="en-US" sz="1250" dirty="0">
                <a:solidFill>
                  <a:srgbClr val="9FC2BA"/>
                </a:solidFill>
                <a:latin typeface="Calibri" pitchFamily="34" charset="0"/>
                <a:ea typeface="Calibri" pitchFamily="34" charset="-122"/>
                <a:cs typeface="Calibri" pitchFamily="34" charset="-120"/>
              </a:rPr>
              <a:t>Nothing covers exactly 70, and one row reads “80% or 30%”.</a:t>
            </a:r>
            <a:endParaRPr lang="en-US" sz="1250" dirty="0"/>
          </a:p>
        </p:txBody>
      </p:sp>
      <p:sp>
        <p:nvSpPr>
          <p:cNvPr id="14" name="Shape 12"/>
          <p:cNvSpPr/>
          <p:nvPr/>
        </p:nvSpPr>
        <p:spPr>
          <a:xfrm>
            <a:off x="640080" y="5440680"/>
            <a:ext cx="402336" cy="402336"/>
          </a:xfrm>
          <a:prstGeom prst="ellipse">
            <a:avLst/>
          </a:prstGeom>
          <a:solidFill>
            <a:srgbClr val="B3761B"/>
          </a:solidFill>
          <a:ln w="12700">
            <a:solidFill>
              <a:srgbClr val="B3761B"/>
            </a:solidFill>
            <a:prstDash val="solid"/>
          </a:ln>
        </p:spPr>
      </p:sp>
      <p:sp>
        <p:nvSpPr>
          <p:cNvPr id="15" name="Text 13"/>
          <p:cNvSpPr txBox="1"/>
          <p:nvPr/>
        </p:nvSpPr>
        <p:spPr>
          <a:xfrm>
            <a:off x="640080" y="5440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07008" y="5413248"/>
            <a:ext cx="10058400"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When does the probationary clock start?</a:t>
            </a:r>
            <a:endParaRPr lang="en-US" sz="1450" dirty="0"/>
          </a:p>
        </p:txBody>
      </p:sp>
      <p:sp>
        <p:nvSpPr>
          <p:cNvPr id="17" name="Text 15"/>
          <p:cNvSpPr txBox="1"/>
          <p:nvPr/>
        </p:nvSpPr>
        <p:spPr>
          <a:xfrm>
            <a:off x="1207008" y="5724144"/>
            <a:ext cx="10058400" cy="365760"/>
          </a:xfrm>
          <a:prstGeom prst="rect">
            <a:avLst/>
          </a:prstGeom>
          <a:noFill/>
          <a:ln/>
        </p:spPr>
        <p:txBody>
          <a:bodyPr wrap="square" lIns="0" tIns="0" rIns="0" bIns="0" rtlCol="0" anchor="t"/>
          <a:lstStyle/>
          <a:p>
            <a:pPr indent="0" marL="0">
              <a:lnSpc>
                <a:spcPts val="1600"/>
              </a:lnSpc>
              <a:buNone/>
            </a:pPr>
            <a:r>
              <a:rPr lang="en-US" sz="1250" dirty="0">
                <a:solidFill>
                  <a:srgbClr val="9FC2BA"/>
                </a:solidFill>
                <a:latin typeface="Calibri" pitchFamily="34" charset="0"/>
                <a:ea typeface="Calibri" pitchFamily="34" charset="-122"/>
                <a:cs typeface="Calibri" pitchFamily="34" charset="-120"/>
              </a:rPr>
              <a:t>Hire date or regularisation — and what happens when regularisation moves.</a:t>
            </a:r>
            <a:endParaRPr lang="en-US" sz="1250" dirty="0"/>
          </a:p>
        </p:txBody>
      </p:sp>
      <p:sp>
        <p:nvSpPr>
          <p:cNvPr id="18" name="Text 16"/>
          <p:cNvSpPr txBox="1"/>
          <p:nvPr/>
        </p:nvSpPr>
        <p:spPr>
          <a:xfrm>
            <a:off x="640080" y="6263640"/>
            <a:ext cx="10515600" cy="365760"/>
          </a:xfrm>
          <a:prstGeom prst="rect">
            <a:avLst/>
          </a:prstGeom>
          <a:noFill/>
          <a:ln/>
        </p:spPr>
        <p:txBody>
          <a:bodyPr wrap="square" lIns="0" tIns="0" rIns="0" bIns="0" rtlCol="0" anchor="ctr"/>
          <a:lstStyle/>
          <a:p>
            <a:pPr indent="0" marL="0">
              <a:buNone/>
            </a:pPr>
            <a:r>
              <a:rPr lang="en-US" sz="1300" i="1" dirty="0">
                <a:solidFill>
                  <a:srgbClr val="8FBDB2"/>
                </a:solidFill>
                <a:latin typeface="Calibri" pitchFamily="34" charset="0"/>
                <a:ea typeface="Calibri" pitchFamily="34" charset="-122"/>
                <a:cs typeface="Calibri" pitchFamily="34" charset="-120"/>
              </a:rPr>
              <a:t>Twenty-one questions in total, written up and ready to send. Answers turn most of them into settings on screens you have already seen.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Summit Logic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Guanzon HCM — Performance Management</dc:title>
  <dc:subject>PptxGenJS Presentation</dc:subject>
  <dc:creator>Summit Logic Solutions</dc:creator>
  <cp:lastModifiedBy>Summit Logic Solutions</cp:lastModifiedBy>
  <cp:revision>1</cp:revision>
  <dcterms:created xsi:type="dcterms:W3CDTF">2026-09-11T07:20:48Z</dcterms:created>
  <dcterms:modified xsi:type="dcterms:W3CDTF">2026-09-11T07:20:48Z</dcterms:modified>
</cp:coreProperties>
</file>